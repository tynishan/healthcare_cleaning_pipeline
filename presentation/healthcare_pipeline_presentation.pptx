
<file path=[Content_Types].xml><?xml version="1.0" encoding="utf-8"?>
<Types xmlns="http://schemas.openxmlformats.org/package/2006/content-types">
  <Default Extension="docx" ContentType="application/vnd.openxmlformats-officedocument.wordprocessingml.documen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1"/>
  </p:notesMasterIdLst>
  <p:sldIdLst>
    <p:sldId id="270" r:id="rId2"/>
    <p:sldId id="273" r:id="rId3"/>
    <p:sldId id="258" r:id="rId4"/>
    <p:sldId id="259" r:id="rId5"/>
    <p:sldId id="272" r:id="rId6"/>
    <p:sldId id="260" r:id="rId7"/>
    <p:sldId id="274" r:id="rId8"/>
    <p:sldId id="262" r:id="rId9"/>
    <p:sldId id="263" r:id="rId10"/>
    <p:sldId id="264" r:id="rId11"/>
    <p:sldId id="276" r:id="rId12"/>
    <p:sldId id="277" r:id="rId13"/>
    <p:sldId id="278" r:id="rId14"/>
    <p:sldId id="279" r:id="rId15"/>
    <p:sldId id="265" r:id="rId16"/>
    <p:sldId id="275" r:id="rId17"/>
    <p:sldId id="267" r:id="rId18"/>
    <p:sldId id="268" r:id="rId19"/>
    <p:sldId id="269"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9531" autoAdjust="0"/>
  </p:normalViewPr>
  <p:slideViewPr>
    <p:cSldViewPr snapToGrid="0" snapToObjects="1">
      <p:cViewPr>
        <p:scale>
          <a:sx n="50" d="100"/>
          <a:sy n="50" d="100"/>
        </p:scale>
        <p:origin x="1956" y="3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00F0641-6FE9-4B06-A486-203C921AF9F6}" type="doc">
      <dgm:prSet loTypeId="urn:microsoft.com/office/officeart/2005/8/layout/chevron2" loCatId="process" qsTypeId="urn:microsoft.com/office/officeart/2005/8/quickstyle/simple1" qsCatId="simple" csTypeId="urn:microsoft.com/office/officeart/2005/8/colors/accent1_2" csCatId="accent1" phldr="1"/>
      <dgm:spPr/>
      <dgm:t>
        <a:bodyPr/>
        <a:lstStyle/>
        <a:p>
          <a:endParaRPr lang="en-GY"/>
        </a:p>
      </dgm:t>
    </dgm:pt>
    <dgm:pt modelId="{D319ED06-36C1-477D-B2C4-14829CE6AED6}">
      <dgm:prSet phldrT="[Text]" phldr="0"/>
      <dgm:spPr/>
      <dgm:t>
        <a:bodyPr/>
        <a:lstStyle/>
        <a:p>
          <a:r>
            <a:rPr lang="en-US" b="1" dirty="0"/>
            <a:t>STEP 1</a:t>
          </a:r>
          <a:endParaRPr lang="en-GY" b="1" dirty="0"/>
        </a:p>
      </dgm:t>
    </dgm:pt>
    <dgm:pt modelId="{2B2997D2-C3E2-49C2-AFB1-3628A410B9E9}" type="parTrans" cxnId="{E0A7C38C-8371-4D9B-B0EF-8E384BE8F288}">
      <dgm:prSet/>
      <dgm:spPr/>
      <dgm:t>
        <a:bodyPr/>
        <a:lstStyle/>
        <a:p>
          <a:endParaRPr lang="en-GY"/>
        </a:p>
      </dgm:t>
    </dgm:pt>
    <dgm:pt modelId="{650DF0D4-1E0B-468C-9D87-63548C9BB44B}" type="sibTrans" cxnId="{E0A7C38C-8371-4D9B-B0EF-8E384BE8F288}">
      <dgm:prSet/>
      <dgm:spPr/>
      <dgm:t>
        <a:bodyPr/>
        <a:lstStyle/>
        <a:p>
          <a:endParaRPr lang="en-GY"/>
        </a:p>
      </dgm:t>
    </dgm:pt>
    <dgm:pt modelId="{2CF8132D-0BBD-4431-A3B3-7DAC277FCC4E}">
      <dgm:prSet phldrT="[Text]" custT="1"/>
      <dgm:spPr/>
      <dgm:t>
        <a:bodyPr/>
        <a:lstStyle/>
        <a:p>
          <a:r>
            <a:rPr lang="en-US" sz="2000" dirty="0"/>
            <a:t>01_ingest.R</a:t>
          </a:r>
          <a:endParaRPr lang="en-GY" sz="2000" dirty="0"/>
        </a:p>
      </dgm:t>
    </dgm:pt>
    <dgm:pt modelId="{F551AA26-A5A1-4ACC-81A3-D7035A0BACC5}" type="parTrans" cxnId="{3567A42F-BDE8-4D63-B500-37A7F608BCD7}">
      <dgm:prSet/>
      <dgm:spPr/>
      <dgm:t>
        <a:bodyPr/>
        <a:lstStyle/>
        <a:p>
          <a:endParaRPr lang="en-GY"/>
        </a:p>
      </dgm:t>
    </dgm:pt>
    <dgm:pt modelId="{4C7D462E-4211-47C3-B191-8732D9106D6B}" type="sibTrans" cxnId="{3567A42F-BDE8-4D63-B500-37A7F608BCD7}">
      <dgm:prSet/>
      <dgm:spPr/>
      <dgm:t>
        <a:bodyPr/>
        <a:lstStyle/>
        <a:p>
          <a:endParaRPr lang="en-GY"/>
        </a:p>
      </dgm:t>
    </dgm:pt>
    <dgm:pt modelId="{FD175BB3-DE6D-4A45-BDA6-9A6682EA910D}">
      <dgm:prSet phldrT="[Text]" phldr="0"/>
      <dgm:spPr/>
      <dgm:t>
        <a:bodyPr/>
        <a:lstStyle/>
        <a:p>
          <a:r>
            <a:rPr lang="en-US" b="1" dirty="0"/>
            <a:t>STEP 2</a:t>
          </a:r>
          <a:endParaRPr lang="en-GY" b="1" dirty="0"/>
        </a:p>
      </dgm:t>
    </dgm:pt>
    <dgm:pt modelId="{70D492BF-6E7C-4E92-A656-BFF5B3D2F916}" type="parTrans" cxnId="{55B7960D-E144-44A2-A0C9-00589393783B}">
      <dgm:prSet/>
      <dgm:spPr/>
      <dgm:t>
        <a:bodyPr/>
        <a:lstStyle/>
        <a:p>
          <a:endParaRPr lang="en-GY"/>
        </a:p>
      </dgm:t>
    </dgm:pt>
    <dgm:pt modelId="{846374F9-8997-4D60-A52E-041B13B70619}" type="sibTrans" cxnId="{55B7960D-E144-44A2-A0C9-00589393783B}">
      <dgm:prSet/>
      <dgm:spPr/>
      <dgm:t>
        <a:bodyPr/>
        <a:lstStyle/>
        <a:p>
          <a:endParaRPr lang="en-GY"/>
        </a:p>
      </dgm:t>
    </dgm:pt>
    <dgm:pt modelId="{6A5213D9-4189-4405-8486-867A94BFBC61}">
      <dgm:prSet phldrT="[Text]" custT="1"/>
      <dgm:spPr/>
      <dgm:t>
        <a:bodyPr/>
        <a:lstStyle/>
        <a:p>
          <a:r>
            <a:rPr lang="en-US" sz="2000" dirty="0"/>
            <a:t>02_diagnose.R </a:t>
          </a:r>
          <a:endParaRPr lang="en-GY" sz="2000" dirty="0"/>
        </a:p>
      </dgm:t>
    </dgm:pt>
    <dgm:pt modelId="{F26735A8-CBF6-4158-AB2E-54F4DEB4F8AB}" type="parTrans" cxnId="{BFFE4519-65D4-4246-A35E-B374922F42C3}">
      <dgm:prSet/>
      <dgm:spPr/>
      <dgm:t>
        <a:bodyPr/>
        <a:lstStyle/>
        <a:p>
          <a:endParaRPr lang="en-GY"/>
        </a:p>
      </dgm:t>
    </dgm:pt>
    <dgm:pt modelId="{26E335D2-8120-4F42-9D49-FECEB251AE86}" type="sibTrans" cxnId="{BFFE4519-65D4-4246-A35E-B374922F42C3}">
      <dgm:prSet/>
      <dgm:spPr/>
      <dgm:t>
        <a:bodyPr/>
        <a:lstStyle/>
        <a:p>
          <a:endParaRPr lang="en-GY"/>
        </a:p>
      </dgm:t>
    </dgm:pt>
    <dgm:pt modelId="{66732301-5E01-4D2E-8D29-5EA430D9DF9D}">
      <dgm:prSet phldrT="[Text]" phldr="0"/>
      <dgm:spPr/>
      <dgm:t>
        <a:bodyPr/>
        <a:lstStyle/>
        <a:p>
          <a:r>
            <a:rPr lang="en-US" b="1" dirty="0"/>
            <a:t>STEP 7</a:t>
          </a:r>
          <a:endParaRPr lang="en-GY" b="1" dirty="0"/>
        </a:p>
      </dgm:t>
    </dgm:pt>
    <dgm:pt modelId="{637D46E8-2F73-4C40-BBC5-B869C63E6A0A}" type="parTrans" cxnId="{6CE3655F-9A42-496F-8B05-C6C99B200777}">
      <dgm:prSet/>
      <dgm:spPr/>
      <dgm:t>
        <a:bodyPr/>
        <a:lstStyle/>
        <a:p>
          <a:endParaRPr lang="en-GY"/>
        </a:p>
      </dgm:t>
    </dgm:pt>
    <dgm:pt modelId="{AB3BC250-5061-40B2-B21C-A3993457BAA0}" type="sibTrans" cxnId="{6CE3655F-9A42-496F-8B05-C6C99B200777}">
      <dgm:prSet/>
      <dgm:spPr/>
      <dgm:t>
        <a:bodyPr/>
        <a:lstStyle/>
        <a:p>
          <a:endParaRPr lang="en-GY"/>
        </a:p>
      </dgm:t>
    </dgm:pt>
    <dgm:pt modelId="{9FE5993A-D9AF-4AEC-B763-794BAA96F210}">
      <dgm:prSet phldrT="[Text]" phldr="0" custT="1"/>
      <dgm:spPr/>
      <dgm:t>
        <a:bodyPr/>
        <a:lstStyle/>
        <a:p>
          <a:r>
            <a:rPr lang="en-US" sz="2000" dirty="0"/>
            <a:t>07_report.Rmd</a:t>
          </a:r>
          <a:endParaRPr lang="en-GY" sz="2000" dirty="0"/>
        </a:p>
      </dgm:t>
    </dgm:pt>
    <dgm:pt modelId="{6B701CC5-C354-4BE9-9B70-5BF4D8693D1F}" type="parTrans" cxnId="{7E5AD77E-FFA0-477B-9B42-9415C97EE1E7}">
      <dgm:prSet/>
      <dgm:spPr/>
      <dgm:t>
        <a:bodyPr/>
        <a:lstStyle/>
        <a:p>
          <a:endParaRPr lang="en-GY"/>
        </a:p>
      </dgm:t>
    </dgm:pt>
    <dgm:pt modelId="{802CE2D0-F916-405C-933D-88E22EE99DBD}" type="sibTrans" cxnId="{7E5AD77E-FFA0-477B-9B42-9415C97EE1E7}">
      <dgm:prSet/>
      <dgm:spPr/>
      <dgm:t>
        <a:bodyPr/>
        <a:lstStyle/>
        <a:p>
          <a:endParaRPr lang="en-GY"/>
        </a:p>
      </dgm:t>
    </dgm:pt>
    <dgm:pt modelId="{3BADAD2D-6184-474B-9930-EFCB1B5C7FE0}">
      <dgm:prSet/>
      <dgm:spPr/>
      <dgm:t>
        <a:bodyPr/>
        <a:lstStyle/>
        <a:p>
          <a:r>
            <a:rPr lang="en-US" b="1" dirty="0"/>
            <a:t>STEP 5</a:t>
          </a:r>
          <a:endParaRPr lang="en-GY" b="1" dirty="0"/>
        </a:p>
      </dgm:t>
    </dgm:pt>
    <dgm:pt modelId="{D6EF3321-937B-4243-82D0-6A598788BFA0}" type="parTrans" cxnId="{AE2FEE64-4D5C-427C-AD84-9496415E4C33}">
      <dgm:prSet/>
      <dgm:spPr/>
      <dgm:t>
        <a:bodyPr/>
        <a:lstStyle/>
        <a:p>
          <a:endParaRPr lang="en-GY"/>
        </a:p>
      </dgm:t>
    </dgm:pt>
    <dgm:pt modelId="{C2BA6549-97A4-4967-B3B4-24F88AFA8C6E}" type="sibTrans" cxnId="{AE2FEE64-4D5C-427C-AD84-9496415E4C33}">
      <dgm:prSet/>
      <dgm:spPr/>
      <dgm:t>
        <a:bodyPr/>
        <a:lstStyle/>
        <a:p>
          <a:endParaRPr lang="en-GY"/>
        </a:p>
      </dgm:t>
    </dgm:pt>
    <dgm:pt modelId="{EF5A87F7-9184-4338-B681-103AE7020E8F}">
      <dgm:prSet/>
      <dgm:spPr/>
      <dgm:t>
        <a:bodyPr/>
        <a:lstStyle/>
        <a:p>
          <a:r>
            <a:rPr lang="en-US" b="1" dirty="0"/>
            <a:t>STEP 4</a:t>
          </a:r>
          <a:endParaRPr lang="en-GY" b="1" dirty="0"/>
        </a:p>
      </dgm:t>
    </dgm:pt>
    <dgm:pt modelId="{E72232AA-E8E0-4F91-95F7-EEAAE9E9898F}" type="parTrans" cxnId="{B8FDAA0F-D190-4376-A119-57FCFDD56D14}">
      <dgm:prSet/>
      <dgm:spPr/>
      <dgm:t>
        <a:bodyPr/>
        <a:lstStyle/>
        <a:p>
          <a:endParaRPr lang="en-GY"/>
        </a:p>
      </dgm:t>
    </dgm:pt>
    <dgm:pt modelId="{017BD5B4-86DF-45D3-B43E-ADA1A1723E2A}" type="sibTrans" cxnId="{B8FDAA0F-D190-4376-A119-57FCFDD56D14}">
      <dgm:prSet/>
      <dgm:spPr/>
      <dgm:t>
        <a:bodyPr/>
        <a:lstStyle/>
        <a:p>
          <a:endParaRPr lang="en-GY"/>
        </a:p>
      </dgm:t>
    </dgm:pt>
    <dgm:pt modelId="{003C26E8-68FD-4340-B203-8836F4FAE147}">
      <dgm:prSet/>
      <dgm:spPr/>
      <dgm:t>
        <a:bodyPr/>
        <a:lstStyle/>
        <a:p>
          <a:r>
            <a:rPr lang="en-US" b="1" dirty="0"/>
            <a:t>STEP 3</a:t>
          </a:r>
          <a:endParaRPr lang="en-GY" b="1" dirty="0"/>
        </a:p>
      </dgm:t>
    </dgm:pt>
    <dgm:pt modelId="{198A8EA5-D80D-4F3C-AF74-4B0A97A589E4}" type="parTrans" cxnId="{92C01AB1-C5D3-472C-A8F1-D9841AF51CAF}">
      <dgm:prSet/>
      <dgm:spPr/>
      <dgm:t>
        <a:bodyPr/>
        <a:lstStyle/>
        <a:p>
          <a:endParaRPr lang="en-GY"/>
        </a:p>
      </dgm:t>
    </dgm:pt>
    <dgm:pt modelId="{0E09E75A-FC67-4B75-AA88-36A7FA5E8FC9}" type="sibTrans" cxnId="{92C01AB1-C5D3-472C-A8F1-D9841AF51CAF}">
      <dgm:prSet/>
      <dgm:spPr/>
      <dgm:t>
        <a:bodyPr/>
        <a:lstStyle/>
        <a:p>
          <a:endParaRPr lang="en-GY"/>
        </a:p>
      </dgm:t>
    </dgm:pt>
    <dgm:pt modelId="{63D7A911-C7BD-4135-B458-BF039ED3972C}">
      <dgm:prSet/>
      <dgm:spPr/>
      <dgm:t>
        <a:bodyPr/>
        <a:lstStyle/>
        <a:p>
          <a:r>
            <a:rPr lang="en-US" b="1" dirty="0"/>
            <a:t>STEP 6</a:t>
          </a:r>
          <a:endParaRPr lang="en-GY" b="1" dirty="0"/>
        </a:p>
      </dgm:t>
    </dgm:pt>
    <dgm:pt modelId="{0DC05151-90C8-4CC0-B3A2-F6A5CC11B753}" type="parTrans" cxnId="{BCCC8F8C-D5B6-4C4E-A4E2-B00156461879}">
      <dgm:prSet/>
      <dgm:spPr/>
      <dgm:t>
        <a:bodyPr/>
        <a:lstStyle/>
        <a:p>
          <a:endParaRPr lang="en-GY"/>
        </a:p>
      </dgm:t>
    </dgm:pt>
    <dgm:pt modelId="{90728051-1B3B-477D-AD1E-63766DCA1D86}" type="sibTrans" cxnId="{BCCC8F8C-D5B6-4C4E-A4E2-B00156461879}">
      <dgm:prSet/>
      <dgm:spPr/>
      <dgm:t>
        <a:bodyPr/>
        <a:lstStyle/>
        <a:p>
          <a:endParaRPr lang="en-GY"/>
        </a:p>
      </dgm:t>
    </dgm:pt>
    <dgm:pt modelId="{7C88B815-0664-4BBE-B655-01EC3A0B432E}">
      <dgm:prSet custT="1"/>
      <dgm:spPr/>
      <dgm:t>
        <a:bodyPr/>
        <a:lstStyle/>
        <a:p>
          <a:r>
            <a:rPr lang="en-US" sz="2000" dirty="0"/>
            <a:t>03_clean.R</a:t>
          </a:r>
          <a:endParaRPr lang="en-GY" sz="2000" dirty="0"/>
        </a:p>
      </dgm:t>
    </dgm:pt>
    <dgm:pt modelId="{8CE89CC4-6CCA-4E0C-9112-CF4D19E7071A}" type="parTrans" cxnId="{68AAC3C9-981D-44C6-A21D-7A549EC897DD}">
      <dgm:prSet/>
      <dgm:spPr/>
      <dgm:t>
        <a:bodyPr/>
        <a:lstStyle/>
        <a:p>
          <a:endParaRPr lang="en-GY"/>
        </a:p>
      </dgm:t>
    </dgm:pt>
    <dgm:pt modelId="{EF9B6500-142F-47F1-9096-4E269271988A}" type="sibTrans" cxnId="{68AAC3C9-981D-44C6-A21D-7A549EC897DD}">
      <dgm:prSet/>
      <dgm:spPr/>
      <dgm:t>
        <a:bodyPr/>
        <a:lstStyle/>
        <a:p>
          <a:endParaRPr lang="en-GY"/>
        </a:p>
      </dgm:t>
    </dgm:pt>
    <dgm:pt modelId="{EA1D8C68-6BDF-434D-9436-952ACA7F23BF}">
      <dgm:prSet custT="1"/>
      <dgm:spPr/>
      <dgm:t>
        <a:bodyPr/>
        <a:lstStyle/>
        <a:p>
          <a:r>
            <a:rPr lang="en-US" sz="2000" dirty="0"/>
            <a:t>04_impute.R</a:t>
          </a:r>
          <a:endParaRPr lang="en-GY" sz="2000" dirty="0"/>
        </a:p>
      </dgm:t>
    </dgm:pt>
    <dgm:pt modelId="{2337C6F9-F175-44BD-B2A2-13491EE2478B}" type="parTrans" cxnId="{0111AD90-5E23-46AF-BFEF-0C617D72709A}">
      <dgm:prSet/>
      <dgm:spPr/>
      <dgm:t>
        <a:bodyPr/>
        <a:lstStyle/>
        <a:p>
          <a:endParaRPr lang="en-GY"/>
        </a:p>
      </dgm:t>
    </dgm:pt>
    <dgm:pt modelId="{D896291E-03EE-41D3-AE3C-C28B77DCA8A2}" type="sibTrans" cxnId="{0111AD90-5E23-46AF-BFEF-0C617D72709A}">
      <dgm:prSet/>
      <dgm:spPr/>
      <dgm:t>
        <a:bodyPr/>
        <a:lstStyle/>
        <a:p>
          <a:endParaRPr lang="en-GY"/>
        </a:p>
      </dgm:t>
    </dgm:pt>
    <dgm:pt modelId="{0586F6F3-F6BC-42C3-A360-AC09FFF4B164}">
      <dgm:prSet custT="1"/>
      <dgm:spPr/>
      <dgm:t>
        <a:bodyPr/>
        <a:lstStyle/>
        <a:p>
          <a:r>
            <a:rPr lang="en-US" sz="2000" dirty="0"/>
            <a:t>05_dictionary.R</a:t>
          </a:r>
          <a:endParaRPr lang="en-GY" sz="2000" dirty="0"/>
        </a:p>
      </dgm:t>
    </dgm:pt>
    <dgm:pt modelId="{53715672-8D56-419C-81FB-4CFC02B78AF9}" type="parTrans" cxnId="{E89E6177-7CE3-47B2-8484-8B6732BDEECC}">
      <dgm:prSet/>
      <dgm:spPr/>
      <dgm:t>
        <a:bodyPr/>
        <a:lstStyle/>
        <a:p>
          <a:endParaRPr lang="en-GY"/>
        </a:p>
      </dgm:t>
    </dgm:pt>
    <dgm:pt modelId="{9C11CA2E-7C3F-4DFD-9E96-9D8CB2E57155}" type="sibTrans" cxnId="{E89E6177-7CE3-47B2-8484-8B6732BDEECC}">
      <dgm:prSet/>
      <dgm:spPr/>
      <dgm:t>
        <a:bodyPr/>
        <a:lstStyle/>
        <a:p>
          <a:endParaRPr lang="en-GY"/>
        </a:p>
      </dgm:t>
    </dgm:pt>
    <dgm:pt modelId="{67B851F8-3514-4395-8791-E780F081A898}">
      <dgm:prSet custT="1"/>
      <dgm:spPr/>
      <dgm:t>
        <a:bodyPr/>
        <a:lstStyle/>
        <a:p>
          <a:r>
            <a:rPr lang="en-US" sz="2000" dirty="0"/>
            <a:t>06_export.R</a:t>
          </a:r>
          <a:endParaRPr lang="en-GY" sz="2000" dirty="0"/>
        </a:p>
      </dgm:t>
    </dgm:pt>
    <dgm:pt modelId="{9598DBF8-D8FC-41FD-A804-6F94BEBC7340}" type="parTrans" cxnId="{50F1EE99-FADD-4D08-8FCF-B8629C5B6877}">
      <dgm:prSet/>
      <dgm:spPr/>
      <dgm:t>
        <a:bodyPr/>
        <a:lstStyle/>
        <a:p>
          <a:endParaRPr lang="en-GY"/>
        </a:p>
      </dgm:t>
    </dgm:pt>
    <dgm:pt modelId="{7E482457-FE29-490C-86B8-91FF5D25ADB4}" type="sibTrans" cxnId="{50F1EE99-FADD-4D08-8FCF-B8629C5B6877}">
      <dgm:prSet/>
      <dgm:spPr/>
      <dgm:t>
        <a:bodyPr/>
        <a:lstStyle/>
        <a:p>
          <a:endParaRPr lang="en-GY"/>
        </a:p>
      </dgm:t>
    </dgm:pt>
    <dgm:pt modelId="{B28987B3-919C-45F4-95A1-F0E90EE1BE74}" type="pres">
      <dgm:prSet presAssocID="{E00F0641-6FE9-4B06-A486-203C921AF9F6}" presName="linearFlow" presStyleCnt="0">
        <dgm:presLayoutVars>
          <dgm:dir/>
          <dgm:animLvl val="lvl"/>
          <dgm:resizeHandles val="exact"/>
        </dgm:presLayoutVars>
      </dgm:prSet>
      <dgm:spPr/>
    </dgm:pt>
    <dgm:pt modelId="{7DAF7208-6CFC-499C-B241-6F6850B44715}" type="pres">
      <dgm:prSet presAssocID="{D319ED06-36C1-477D-B2C4-14829CE6AED6}" presName="composite" presStyleCnt="0"/>
      <dgm:spPr/>
    </dgm:pt>
    <dgm:pt modelId="{B95750CF-B3B9-4E5B-9E01-CAE67414321B}" type="pres">
      <dgm:prSet presAssocID="{D319ED06-36C1-477D-B2C4-14829CE6AED6}" presName="parentText" presStyleLbl="alignNode1" presStyleIdx="0" presStyleCnt="7">
        <dgm:presLayoutVars>
          <dgm:chMax val="1"/>
          <dgm:bulletEnabled val="1"/>
        </dgm:presLayoutVars>
      </dgm:prSet>
      <dgm:spPr/>
    </dgm:pt>
    <dgm:pt modelId="{2749BC35-B99E-4AF8-B81F-FC9C89E9AB83}" type="pres">
      <dgm:prSet presAssocID="{D319ED06-36C1-477D-B2C4-14829CE6AED6}" presName="descendantText" presStyleLbl="alignAcc1" presStyleIdx="0" presStyleCnt="7">
        <dgm:presLayoutVars>
          <dgm:bulletEnabled val="1"/>
        </dgm:presLayoutVars>
      </dgm:prSet>
      <dgm:spPr/>
    </dgm:pt>
    <dgm:pt modelId="{8838469F-8A58-400D-96A0-206970F57BFE}" type="pres">
      <dgm:prSet presAssocID="{650DF0D4-1E0B-468C-9D87-63548C9BB44B}" presName="sp" presStyleCnt="0"/>
      <dgm:spPr/>
    </dgm:pt>
    <dgm:pt modelId="{B5B048BA-DB10-452F-B74A-13944E75C1EF}" type="pres">
      <dgm:prSet presAssocID="{FD175BB3-DE6D-4A45-BDA6-9A6682EA910D}" presName="composite" presStyleCnt="0"/>
      <dgm:spPr/>
    </dgm:pt>
    <dgm:pt modelId="{89BAFE56-39DE-40A4-B59E-AF9C5C343566}" type="pres">
      <dgm:prSet presAssocID="{FD175BB3-DE6D-4A45-BDA6-9A6682EA910D}" presName="parentText" presStyleLbl="alignNode1" presStyleIdx="1" presStyleCnt="7">
        <dgm:presLayoutVars>
          <dgm:chMax val="1"/>
          <dgm:bulletEnabled val="1"/>
        </dgm:presLayoutVars>
      </dgm:prSet>
      <dgm:spPr/>
    </dgm:pt>
    <dgm:pt modelId="{D279EA2D-C7D4-4A2D-B832-CE671E9A5420}" type="pres">
      <dgm:prSet presAssocID="{FD175BB3-DE6D-4A45-BDA6-9A6682EA910D}" presName="descendantText" presStyleLbl="alignAcc1" presStyleIdx="1" presStyleCnt="7">
        <dgm:presLayoutVars>
          <dgm:bulletEnabled val="1"/>
        </dgm:presLayoutVars>
      </dgm:prSet>
      <dgm:spPr/>
    </dgm:pt>
    <dgm:pt modelId="{8D133DEE-951D-4B48-AAEE-B3D5B58CA56E}" type="pres">
      <dgm:prSet presAssocID="{846374F9-8997-4D60-A52E-041B13B70619}" presName="sp" presStyleCnt="0"/>
      <dgm:spPr/>
    </dgm:pt>
    <dgm:pt modelId="{81A5B30C-8061-4A02-A985-249375B9855D}" type="pres">
      <dgm:prSet presAssocID="{003C26E8-68FD-4340-B203-8836F4FAE147}" presName="composite" presStyleCnt="0"/>
      <dgm:spPr/>
    </dgm:pt>
    <dgm:pt modelId="{E1632E70-2FF3-409A-B038-7AEB0326704A}" type="pres">
      <dgm:prSet presAssocID="{003C26E8-68FD-4340-B203-8836F4FAE147}" presName="parentText" presStyleLbl="alignNode1" presStyleIdx="2" presStyleCnt="7">
        <dgm:presLayoutVars>
          <dgm:chMax val="1"/>
          <dgm:bulletEnabled val="1"/>
        </dgm:presLayoutVars>
      </dgm:prSet>
      <dgm:spPr/>
    </dgm:pt>
    <dgm:pt modelId="{EAE7CF5D-BE4F-4BB2-821E-27277B2EEBFB}" type="pres">
      <dgm:prSet presAssocID="{003C26E8-68FD-4340-B203-8836F4FAE147}" presName="descendantText" presStyleLbl="alignAcc1" presStyleIdx="2" presStyleCnt="7">
        <dgm:presLayoutVars>
          <dgm:bulletEnabled val="1"/>
        </dgm:presLayoutVars>
      </dgm:prSet>
      <dgm:spPr/>
    </dgm:pt>
    <dgm:pt modelId="{3CBF3577-2569-47F4-B3D8-7CD558CA837D}" type="pres">
      <dgm:prSet presAssocID="{0E09E75A-FC67-4B75-AA88-36A7FA5E8FC9}" presName="sp" presStyleCnt="0"/>
      <dgm:spPr/>
    </dgm:pt>
    <dgm:pt modelId="{7A193688-B83E-46A4-9E22-2906D5695288}" type="pres">
      <dgm:prSet presAssocID="{EF5A87F7-9184-4338-B681-103AE7020E8F}" presName="composite" presStyleCnt="0"/>
      <dgm:spPr/>
    </dgm:pt>
    <dgm:pt modelId="{600F4A9E-2A62-476E-9727-BFFBBFC2BF53}" type="pres">
      <dgm:prSet presAssocID="{EF5A87F7-9184-4338-B681-103AE7020E8F}" presName="parentText" presStyleLbl="alignNode1" presStyleIdx="3" presStyleCnt="7">
        <dgm:presLayoutVars>
          <dgm:chMax val="1"/>
          <dgm:bulletEnabled val="1"/>
        </dgm:presLayoutVars>
      </dgm:prSet>
      <dgm:spPr/>
    </dgm:pt>
    <dgm:pt modelId="{DAE9D0B7-60EC-4A80-BFC1-C54B7FDE7B39}" type="pres">
      <dgm:prSet presAssocID="{EF5A87F7-9184-4338-B681-103AE7020E8F}" presName="descendantText" presStyleLbl="alignAcc1" presStyleIdx="3" presStyleCnt="7">
        <dgm:presLayoutVars>
          <dgm:bulletEnabled val="1"/>
        </dgm:presLayoutVars>
      </dgm:prSet>
      <dgm:spPr/>
    </dgm:pt>
    <dgm:pt modelId="{CEAF9465-59E2-4ACF-85C6-7947AF0A899C}" type="pres">
      <dgm:prSet presAssocID="{017BD5B4-86DF-45D3-B43E-ADA1A1723E2A}" presName="sp" presStyleCnt="0"/>
      <dgm:spPr/>
    </dgm:pt>
    <dgm:pt modelId="{E3A258C4-B3A6-4DA3-82BE-2E707DA5BE27}" type="pres">
      <dgm:prSet presAssocID="{3BADAD2D-6184-474B-9930-EFCB1B5C7FE0}" presName="composite" presStyleCnt="0"/>
      <dgm:spPr/>
    </dgm:pt>
    <dgm:pt modelId="{87BEBA03-C076-4656-9A59-6931769357D3}" type="pres">
      <dgm:prSet presAssocID="{3BADAD2D-6184-474B-9930-EFCB1B5C7FE0}" presName="parentText" presStyleLbl="alignNode1" presStyleIdx="4" presStyleCnt="7">
        <dgm:presLayoutVars>
          <dgm:chMax val="1"/>
          <dgm:bulletEnabled val="1"/>
        </dgm:presLayoutVars>
      </dgm:prSet>
      <dgm:spPr/>
    </dgm:pt>
    <dgm:pt modelId="{E914C9C4-1E45-4BE2-B20B-6FFE9FEF7EBC}" type="pres">
      <dgm:prSet presAssocID="{3BADAD2D-6184-474B-9930-EFCB1B5C7FE0}" presName="descendantText" presStyleLbl="alignAcc1" presStyleIdx="4" presStyleCnt="7">
        <dgm:presLayoutVars>
          <dgm:bulletEnabled val="1"/>
        </dgm:presLayoutVars>
      </dgm:prSet>
      <dgm:spPr/>
    </dgm:pt>
    <dgm:pt modelId="{F6DC4926-054B-416A-8733-0F533C144A55}" type="pres">
      <dgm:prSet presAssocID="{C2BA6549-97A4-4967-B3B4-24F88AFA8C6E}" presName="sp" presStyleCnt="0"/>
      <dgm:spPr/>
    </dgm:pt>
    <dgm:pt modelId="{19A10A6E-31B9-4435-95B0-6831F76FB26E}" type="pres">
      <dgm:prSet presAssocID="{63D7A911-C7BD-4135-B458-BF039ED3972C}" presName="composite" presStyleCnt="0"/>
      <dgm:spPr/>
    </dgm:pt>
    <dgm:pt modelId="{71A5F4AA-3510-4A80-95AA-B3CAE0BDA320}" type="pres">
      <dgm:prSet presAssocID="{63D7A911-C7BD-4135-B458-BF039ED3972C}" presName="parentText" presStyleLbl="alignNode1" presStyleIdx="5" presStyleCnt="7">
        <dgm:presLayoutVars>
          <dgm:chMax val="1"/>
          <dgm:bulletEnabled val="1"/>
        </dgm:presLayoutVars>
      </dgm:prSet>
      <dgm:spPr/>
    </dgm:pt>
    <dgm:pt modelId="{CEEDEFDD-B88A-41A5-BB1B-D61F5FEED36F}" type="pres">
      <dgm:prSet presAssocID="{63D7A911-C7BD-4135-B458-BF039ED3972C}" presName="descendantText" presStyleLbl="alignAcc1" presStyleIdx="5" presStyleCnt="7">
        <dgm:presLayoutVars>
          <dgm:bulletEnabled val="1"/>
        </dgm:presLayoutVars>
      </dgm:prSet>
      <dgm:spPr/>
    </dgm:pt>
    <dgm:pt modelId="{3CCF01AA-A07D-41DA-AEC4-99C040515B4D}" type="pres">
      <dgm:prSet presAssocID="{90728051-1B3B-477D-AD1E-63766DCA1D86}" presName="sp" presStyleCnt="0"/>
      <dgm:spPr/>
    </dgm:pt>
    <dgm:pt modelId="{4C5AABE1-14B5-4E00-8A09-2622A5AF9465}" type="pres">
      <dgm:prSet presAssocID="{66732301-5E01-4D2E-8D29-5EA430D9DF9D}" presName="composite" presStyleCnt="0"/>
      <dgm:spPr/>
    </dgm:pt>
    <dgm:pt modelId="{7086D58B-66BB-48EF-9B71-F024F3911F29}" type="pres">
      <dgm:prSet presAssocID="{66732301-5E01-4D2E-8D29-5EA430D9DF9D}" presName="parentText" presStyleLbl="alignNode1" presStyleIdx="6" presStyleCnt="7">
        <dgm:presLayoutVars>
          <dgm:chMax val="1"/>
          <dgm:bulletEnabled val="1"/>
        </dgm:presLayoutVars>
      </dgm:prSet>
      <dgm:spPr/>
    </dgm:pt>
    <dgm:pt modelId="{9831EBFE-52E3-4421-8DB6-43CE44ABBB9E}" type="pres">
      <dgm:prSet presAssocID="{66732301-5E01-4D2E-8D29-5EA430D9DF9D}" presName="descendantText" presStyleLbl="alignAcc1" presStyleIdx="6" presStyleCnt="7">
        <dgm:presLayoutVars>
          <dgm:bulletEnabled val="1"/>
        </dgm:presLayoutVars>
      </dgm:prSet>
      <dgm:spPr/>
    </dgm:pt>
  </dgm:ptLst>
  <dgm:cxnLst>
    <dgm:cxn modelId="{84FDFC02-4C97-4AE2-89AE-98A50449226D}" type="presOf" srcId="{7C88B815-0664-4BBE-B655-01EC3A0B432E}" destId="{EAE7CF5D-BE4F-4BB2-821E-27277B2EEBFB}" srcOrd="0" destOrd="0" presId="urn:microsoft.com/office/officeart/2005/8/layout/chevron2"/>
    <dgm:cxn modelId="{D7F64303-D913-4C58-AA04-4C04AA1802EE}" type="presOf" srcId="{63D7A911-C7BD-4135-B458-BF039ED3972C}" destId="{71A5F4AA-3510-4A80-95AA-B3CAE0BDA320}" srcOrd="0" destOrd="0" presId="urn:microsoft.com/office/officeart/2005/8/layout/chevron2"/>
    <dgm:cxn modelId="{5B20010B-159D-49B4-88F6-51032C96481B}" type="presOf" srcId="{FD175BB3-DE6D-4A45-BDA6-9A6682EA910D}" destId="{89BAFE56-39DE-40A4-B59E-AF9C5C343566}" srcOrd="0" destOrd="0" presId="urn:microsoft.com/office/officeart/2005/8/layout/chevron2"/>
    <dgm:cxn modelId="{B869A20B-CCE1-454C-98C1-D8200D412253}" type="presOf" srcId="{D319ED06-36C1-477D-B2C4-14829CE6AED6}" destId="{B95750CF-B3B9-4E5B-9E01-CAE67414321B}" srcOrd="0" destOrd="0" presId="urn:microsoft.com/office/officeart/2005/8/layout/chevron2"/>
    <dgm:cxn modelId="{55B7960D-E144-44A2-A0C9-00589393783B}" srcId="{E00F0641-6FE9-4B06-A486-203C921AF9F6}" destId="{FD175BB3-DE6D-4A45-BDA6-9A6682EA910D}" srcOrd="1" destOrd="0" parTransId="{70D492BF-6E7C-4E92-A656-BFF5B3D2F916}" sibTransId="{846374F9-8997-4D60-A52E-041B13B70619}"/>
    <dgm:cxn modelId="{B8FDAA0F-D190-4376-A119-57FCFDD56D14}" srcId="{E00F0641-6FE9-4B06-A486-203C921AF9F6}" destId="{EF5A87F7-9184-4338-B681-103AE7020E8F}" srcOrd="3" destOrd="0" parTransId="{E72232AA-E8E0-4F91-95F7-EEAAE9E9898F}" sibTransId="{017BD5B4-86DF-45D3-B43E-ADA1A1723E2A}"/>
    <dgm:cxn modelId="{BFFE4519-65D4-4246-A35E-B374922F42C3}" srcId="{FD175BB3-DE6D-4A45-BDA6-9A6682EA910D}" destId="{6A5213D9-4189-4405-8486-867A94BFBC61}" srcOrd="0" destOrd="0" parTransId="{F26735A8-CBF6-4158-AB2E-54F4DEB4F8AB}" sibTransId="{26E335D2-8120-4F42-9D49-FECEB251AE86}"/>
    <dgm:cxn modelId="{F9287E19-1F64-41F7-AF10-4002F0213D45}" type="presOf" srcId="{0586F6F3-F6BC-42C3-A360-AC09FFF4B164}" destId="{E914C9C4-1E45-4BE2-B20B-6FFE9FEF7EBC}" srcOrd="0" destOrd="0" presId="urn:microsoft.com/office/officeart/2005/8/layout/chevron2"/>
    <dgm:cxn modelId="{0680471A-3B01-42E6-9772-44EE7995B8C8}" type="presOf" srcId="{9FE5993A-D9AF-4AEC-B763-794BAA96F210}" destId="{9831EBFE-52E3-4421-8DB6-43CE44ABBB9E}" srcOrd="0" destOrd="0" presId="urn:microsoft.com/office/officeart/2005/8/layout/chevron2"/>
    <dgm:cxn modelId="{7D3E1D1B-30E7-43A4-945D-EC9EAE3B6794}" type="presOf" srcId="{EF5A87F7-9184-4338-B681-103AE7020E8F}" destId="{600F4A9E-2A62-476E-9727-BFFBBFC2BF53}" srcOrd="0" destOrd="0" presId="urn:microsoft.com/office/officeart/2005/8/layout/chevron2"/>
    <dgm:cxn modelId="{3567A42F-BDE8-4D63-B500-37A7F608BCD7}" srcId="{D319ED06-36C1-477D-B2C4-14829CE6AED6}" destId="{2CF8132D-0BBD-4431-A3B3-7DAC277FCC4E}" srcOrd="0" destOrd="0" parTransId="{F551AA26-A5A1-4ACC-81A3-D7035A0BACC5}" sibTransId="{4C7D462E-4211-47C3-B191-8732D9106D6B}"/>
    <dgm:cxn modelId="{0C398632-6866-4203-881D-66421D9CA10D}" type="presOf" srcId="{66732301-5E01-4D2E-8D29-5EA430D9DF9D}" destId="{7086D58B-66BB-48EF-9B71-F024F3911F29}" srcOrd="0" destOrd="0" presId="urn:microsoft.com/office/officeart/2005/8/layout/chevron2"/>
    <dgm:cxn modelId="{AEAD4633-627F-4087-B0C6-7F38A7B157A1}" type="presOf" srcId="{6A5213D9-4189-4405-8486-867A94BFBC61}" destId="{D279EA2D-C7D4-4A2D-B832-CE671E9A5420}" srcOrd="0" destOrd="0" presId="urn:microsoft.com/office/officeart/2005/8/layout/chevron2"/>
    <dgm:cxn modelId="{6CE3655F-9A42-496F-8B05-C6C99B200777}" srcId="{E00F0641-6FE9-4B06-A486-203C921AF9F6}" destId="{66732301-5E01-4D2E-8D29-5EA430D9DF9D}" srcOrd="6" destOrd="0" parTransId="{637D46E8-2F73-4C40-BBC5-B869C63E6A0A}" sibTransId="{AB3BC250-5061-40B2-B21C-A3993457BAA0}"/>
    <dgm:cxn modelId="{AE2FEE64-4D5C-427C-AD84-9496415E4C33}" srcId="{E00F0641-6FE9-4B06-A486-203C921AF9F6}" destId="{3BADAD2D-6184-474B-9930-EFCB1B5C7FE0}" srcOrd="4" destOrd="0" parTransId="{D6EF3321-937B-4243-82D0-6A598788BFA0}" sibTransId="{C2BA6549-97A4-4967-B3B4-24F88AFA8C6E}"/>
    <dgm:cxn modelId="{E89E6177-7CE3-47B2-8484-8B6732BDEECC}" srcId="{3BADAD2D-6184-474B-9930-EFCB1B5C7FE0}" destId="{0586F6F3-F6BC-42C3-A360-AC09FFF4B164}" srcOrd="0" destOrd="0" parTransId="{53715672-8D56-419C-81FB-4CFC02B78AF9}" sibTransId="{9C11CA2E-7C3F-4DFD-9E96-9D8CB2E57155}"/>
    <dgm:cxn modelId="{DE95B757-F4E6-4765-A3B2-B9AA5C177B36}" type="presOf" srcId="{E00F0641-6FE9-4B06-A486-203C921AF9F6}" destId="{B28987B3-919C-45F4-95A1-F0E90EE1BE74}" srcOrd="0" destOrd="0" presId="urn:microsoft.com/office/officeart/2005/8/layout/chevron2"/>
    <dgm:cxn modelId="{7E5AD77E-FFA0-477B-9B42-9415C97EE1E7}" srcId="{66732301-5E01-4D2E-8D29-5EA430D9DF9D}" destId="{9FE5993A-D9AF-4AEC-B763-794BAA96F210}" srcOrd="0" destOrd="0" parTransId="{6B701CC5-C354-4BE9-9B70-5BF4D8693D1F}" sibTransId="{802CE2D0-F916-405C-933D-88E22EE99DBD}"/>
    <dgm:cxn modelId="{BCCC8F8C-D5B6-4C4E-A4E2-B00156461879}" srcId="{E00F0641-6FE9-4B06-A486-203C921AF9F6}" destId="{63D7A911-C7BD-4135-B458-BF039ED3972C}" srcOrd="5" destOrd="0" parTransId="{0DC05151-90C8-4CC0-B3A2-F6A5CC11B753}" sibTransId="{90728051-1B3B-477D-AD1E-63766DCA1D86}"/>
    <dgm:cxn modelId="{E0A7C38C-8371-4D9B-B0EF-8E384BE8F288}" srcId="{E00F0641-6FE9-4B06-A486-203C921AF9F6}" destId="{D319ED06-36C1-477D-B2C4-14829CE6AED6}" srcOrd="0" destOrd="0" parTransId="{2B2997D2-C3E2-49C2-AFB1-3628A410B9E9}" sibTransId="{650DF0D4-1E0B-468C-9D87-63548C9BB44B}"/>
    <dgm:cxn modelId="{C828258D-1B94-420E-B849-A6A6349747B0}" type="presOf" srcId="{EA1D8C68-6BDF-434D-9436-952ACA7F23BF}" destId="{DAE9D0B7-60EC-4A80-BFC1-C54B7FDE7B39}" srcOrd="0" destOrd="0" presId="urn:microsoft.com/office/officeart/2005/8/layout/chevron2"/>
    <dgm:cxn modelId="{0111AD90-5E23-46AF-BFEF-0C617D72709A}" srcId="{EF5A87F7-9184-4338-B681-103AE7020E8F}" destId="{EA1D8C68-6BDF-434D-9436-952ACA7F23BF}" srcOrd="0" destOrd="0" parTransId="{2337C6F9-F175-44BD-B2A2-13491EE2478B}" sibTransId="{D896291E-03EE-41D3-AE3C-C28B77DCA8A2}"/>
    <dgm:cxn modelId="{02E95694-258D-4381-8899-EB0828B67DA4}" type="presOf" srcId="{67B851F8-3514-4395-8791-E780F081A898}" destId="{CEEDEFDD-B88A-41A5-BB1B-D61F5FEED36F}" srcOrd="0" destOrd="0" presId="urn:microsoft.com/office/officeart/2005/8/layout/chevron2"/>
    <dgm:cxn modelId="{50F1EE99-FADD-4D08-8FCF-B8629C5B6877}" srcId="{63D7A911-C7BD-4135-B458-BF039ED3972C}" destId="{67B851F8-3514-4395-8791-E780F081A898}" srcOrd="0" destOrd="0" parTransId="{9598DBF8-D8FC-41FD-A804-6F94BEBC7340}" sibTransId="{7E482457-FE29-490C-86B8-91FF5D25ADB4}"/>
    <dgm:cxn modelId="{92C01AB1-C5D3-472C-A8F1-D9841AF51CAF}" srcId="{E00F0641-6FE9-4B06-A486-203C921AF9F6}" destId="{003C26E8-68FD-4340-B203-8836F4FAE147}" srcOrd="2" destOrd="0" parTransId="{198A8EA5-D80D-4F3C-AF74-4B0A97A589E4}" sibTransId="{0E09E75A-FC67-4B75-AA88-36A7FA5E8FC9}"/>
    <dgm:cxn modelId="{B401D1B9-4C70-40F1-A467-32054DB38F22}" type="presOf" srcId="{2CF8132D-0BBD-4431-A3B3-7DAC277FCC4E}" destId="{2749BC35-B99E-4AF8-B81F-FC9C89E9AB83}" srcOrd="0" destOrd="0" presId="urn:microsoft.com/office/officeart/2005/8/layout/chevron2"/>
    <dgm:cxn modelId="{68AAC3C9-981D-44C6-A21D-7A549EC897DD}" srcId="{003C26E8-68FD-4340-B203-8836F4FAE147}" destId="{7C88B815-0664-4BBE-B655-01EC3A0B432E}" srcOrd="0" destOrd="0" parTransId="{8CE89CC4-6CCA-4E0C-9112-CF4D19E7071A}" sibTransId="{EF9B6500-142F-47F1-9096-4E269271988A}"/>
    <dgm:cxn modelId="{E7FC8FE0-9272-4B6F-BBE1-856CD4BEBD55}" type="presOf" srcId="{3BADAD2D-6184-474B-9930-EFCB1B5C7FE0}" destId="{87BEBA03-C076-4656-9A59-6931769357D3}" srcOrd="0" destOrd="0" presId="urn:microsoft.com/office/officeart/2005/8/layout/chevron2"/>
    <dgm:cxn modelId="{4DBC5DE9-BB63-47BA-AE01-55125D27D921}" type="presOf" srcId="{003C26E8-68FD-4340-B203-8836F4FAE147}" destId="{E1632E70-2FF3-409A-B038-7AEB0326704A}" srcOrd="0" destOrd="0" presId="urn:microsoft.com/office/officeart/2005/8/layout/chevron2"/>
    <dgm:cxn modelId="{15DA93E8-9262-49BB-917F-7B5E2ECB0D09}" type="presParOf" srcId="{B28987B3-919C-45F4-95A1-F0E90EE1BE74}" destId="{7DAF7208-6CFC-499C-B241-6F6850B44715}" srcOrd="0" destOrd="0" presId="urn:microsoft.com/office/officeart/2005/8/layout/chevron2"/>
    <dgm:cxn modelId="{8125402D-296D-47E4-B354-D8F1E576A4C9}" type="presParOf" srcId="{7DAF7208-6CFC-499C-B241-6F6850B44715}" destId="{B95750CF-B3B9-4E5B-9E01-CAE67414321B}" srcOrd="0" destOrd="0" presId="urn:microsoft.com/office/officeart/2005/8/layout/chevron2"/>
    <dgm:cxn modelId="{D6CA74E8-BC2D-4793-8AF8-21431AE8AEB1}" type="presParOf" srcId="{7DAF7208-6CFC-499C-B241-6F6850B44715}" destId="{2749BC35-B99E-4AF8-B81F-FC9C89E9AB83}" srcOrd="1" destOrd="0" presId="urn:microsoft.com/office/officeart/2005/8/layout/chevron2"/>
    <dgm:cxn modelId="{A1DA065B-E1B5-4592-8501-4A1F80B789D4}" type="presParOf" srcId="{B28987B3-919C-45F4-95A1-F0E90EE1BE74}" destId="{8838469F-8A58-400D-96A0-206970F57BFE}" srcOrd="1" destOrd="0" presId="urn:microsoft.com/office/officeart/2005/8/layout/chevron2"/>
    <dgm:cxn modelId="{4911F63E-F9EF-4AEE-B469-8BCA580EFB17}" type="presParOf" srcId="{B28987B3-919C-45F4-95A1-F0E90EE1BE74}" destId="{B5B048BA-DB10-452F-B74A-13944E75C1EF}" srcOrd="2" destOrd="0" presId="urn:microsoft.com/office/officeart/2005/8/layout/chevron2"/>
    <dgm:cxn modelId="{C4CAD166-3888-4D28-845B-BDA317AA6215}" type="presParOf" srcId="{B5B048BA-DB10-452F-B74A-13944E75C1EF}" destId="{89BAFE56-39DE-40A4-B59E-AF9C5C343566}" srcOrd="0" destOrd="0" presId="urn:microsoft.com/office/officeart/2005/8/layout/chevron2"/>
    <dgm:cxn modelId="{47E3289B-9BF2-44A6-B9E4-A8A33706F540}" type="presParOf" srcId="{B5B048BA-DB10-452F-B74A-13944E75C1EF}" destId="{D279EA2D-C7D4-4A2D-B832-CE671E9A5420}" srcOrd="1" destOrd="0" presId="urn:microsoft.com/office/officeart/2005/8/layout/chevron2"/>
    <dgm:cxn modelId="{34A8D6D4-5834-4F5D-8865-F435330FA4FC}" type="presParOf" srcId="{B28987B3-919C-45F4-95A1-F0E90EE1BE74}" destId="{8D133DEE-951D-4B48-AAEE-B3D5B58CA56E}" srcOrd="3" destOrd="0" presId="urn:microsoft.com/office/officeart/2005/8/layout/chevron2"/>
    <dgm:cxn modelId="{332DF84A-784B-4A53-A563-6FED19018E31}" type="presParOf" srcId="{B28987B3-919C-45F4-95A1-F0E90EE1BE74}" destId="{81A5B30C-8061-4A02-A985-249375B9855D}" srcOrd="4" destOrd="0" presId="urn:microsoft.com/office/officeart/2005/8/layout/chevron2"/>
    <dgm:cxn modelId="{48952167-B5A6-44E5-9550-47F6F0B399C9}" type="presParOf" srcId="{81A5B30C-8061-4A02-A985-249375B9855D}" destId="{E1632E70-2FF3-409A-B038-7AEB0326704A}" srcOrd="0" destOrd="0" presId="urn:microsoft.com/office/officeart/2005/8/layout/chevron2"/>
    <dgm:cxn modelId="{494282AA-1169-44AB-AB6E-55F47EC6F38C}" type="presParOf" srcId="{81A5B30C-8061-4A02-A985-249375B9855D}" destId="{EAE7CF5D-BE4F-4BB2-821E-27277B2EEBFB}" srcOrd="1" destOrd="0" presId="urn:microsoft.com/office/officeart/2005/8/layout/chevron2"/>
    <dgm:cxn modelId="{B3B2773C-530F-4530-BF1F-6646A9E2EC55}" type="presParOf" srcId="{B28987B3-919C-45F4-95A1-F0E90EE1BE74}" destId="{3CBF3577-2569-47F4-B3D8-7CD558CA837D}" srcOrd="5" destOrd="0" presId="urn:microsoft.com/office/officeart/2005/8/layout/chevron2"/>
    <dgm:cxn modelId="{35C2FAE8-86C2-4E7E-95D9-FA3DF92E4472}" type="presParOf" srcId="{B28987B3-919C-45F4-95A1-F0E90EE1BE74}" destId="{7A193688-B83E-46A4-9E22-2906D5695288}" srcOrd="6" destOrd="0" presId="urn:microsoft.com/office/officeart/2005/8/layout/chevron2"/>
    <dgm:cxn modelId="{D1BB6D89-9073-4FE0-A192-EA59B7EB76B7}" type="presParOf" srcId="{7A193688-B83E-46A4-9E22-2906D5695288}" destId="{600F4A9E-2A62-476E-9727-BFFBBFC2BF53}" srcOrd="0" destOrd="0" presId="urn:microsoft.com/office/officeart/2005/8/layout/chevron2"/>
    <dgm:cxn modelId="{93B6F31A-B4DD-4A8B-AB5E-E4D6CB487331}" type="presParOf" srcId="{7A193688-B83E-46A4-9E22-2906D5695288}" destId="{DAE9D0B7-60EC-4A80-BFC1-C54B7FDE7B39}" srcOrd="1" destOrd="0" presId="urn:microsoft.com/office/officeart/2005/8/layout/chevron2"/>
    <dgm:cxn modelId="{631D7BD3-5C47-4A35-BC1C-36C802E8A561}" type="presParOf" srcId="{B28987B3-919C-45F4-95A1-F0E90EE1BE74}" destId="{CEAF9465-59E2-4ACF-85C6-7947AF0A899C}" srcOrd="7" destOrd="0" presId="urn:microsoft.com/office/officeart/2005/8/layout/chevron2"/>
    <dgm:cxn modelId="{99D41F48-B4E2-4787-A4E3-1694B9792607}" type="presParOf" srcId="{B28987B3-919C-45F4-95A1-F0E90EE1BE74}" destId="{E3A258C4-B3A6-4DA3-82BE-2E707DA5BE27}" srcOrd="8" destOrd="0" presId="urn:microsoft.com/office/officeart/2005/8/layout/chevron2"/>
    <dgm:cxn modelId="{93A266C9-5DDB-4091-89D0-9027943AE24D}" type="presParOf" srcId="{E3A258C4-B3A6-4DA3-82BE-2E707DA5BE27}" destId="{87BEBA03-C076-4656-9A59-6931769357D3}" srcOrd="0" destOrd="0" presId="urn:microsoft.com/office/officeart/2005/8/layout/chevron2"/>
    <dgm:cxn modelId="{BC098177-74A9-484C-9C22-B1C539F1AE8F}" type="presParOf" srcId="{E3A258C4-B3A6-4DA3-82BE-2E707DA5BE27}" destId="{E914C9C4-1E45-4BE2-B20B-6FFE9FEF7EBC}" srcOrd="1" destOrd="0" presId="urn:microsoft.com/office/officeart/2005/8/layout/chevron2"/>
    <dgm:cxn modelId="{E5D5B48A-9168-4BBE-9062-9A23D93C9CE4}" type="presParOf" srcId="{B28987B3-919C-45F4-95A1-F0E90EE1BE74}" destId="{F6DC4926-054B-416A-8733-0F533C144A55}" srcOrd="9" destOrd="0" presId="urn:microsoft.com/office/officeart/2005/8/layout/chevron2"/>
    <dgm:cxn modelId="{B9AB4E5E-91A9-4930-9308-950347C71CE2}" type="presParOf" srcId="{B28987B3-919C-45F4-95A1-F0E90EE1BE74}" destId="{19A10A6E-31B9-4435-95B0-6831F76FB26E}" srcOrd="10" destOrd="0" presId="urn:microsoft.com/office/officeart/2005/8/layout/chevron2"/>
    <dgm:cxn modelId="{6825A401-18BB-4BFC-A9B9-23277F23734D}" type="presParOf" srcId="{19A10A6E-31B9-4435-95B0-6831F76FB26E}" destId="{71A5F4AA-3510-4A80-95AA-B3CAE0BDA320}" srcOrd="0" destOrd="0" presId="urn:microsoft.com/office/officeart/2005/8/layout/chevron2"/>
    <dgm:cxn modelId="{779B4FE5-B2CB-41C7-BA76-F61E3B4B3B71}" type="presParOf" srcId="{19A10A6E-31B9-4435-95B0-6831F76FB26E}" destId="{CEEDEFDD-B88A-41A5-BB1B-D61F5FEED36F}" srcOrd="1" destOrd="0" presId="urn:microsoft.com/office/officeart/2005/8/layout/chevron2"/>
    <dgm:cxn modelId="{D4D9A970-1828-4835-9353-5824B3253BC6}" type="presParOf" srcId="{B28987B3-919C-45F4-95A1-F0E90EE1BE74}" destId="{3CCF01AA-A07D-41DA-AEC4-99C040515B4D}" srcOrd="11" destOrd="0" presId="urn:microsoft.com/office/officeart/2005/8/layout/chevron2"/>
    <dgm:cxn modelId="{00F229D9-40C5-42E1-970E-A12F65189405}" type="presParOf" srcId="{B28987B3-919C-45F4-95A1-F0E90EE1BE74}" destId="{4C5AABE1-14B5-4E00-8A09-2622A5AF9465}" srcOrd="12" destOrd="0" presId="urn:microsoft.com/office/officeart/2005/8/layout/chevron2"/>
    <dgm:cxn modelId="{7027B1E7-9458-442E-8E79-6DE0316F27D4}" type="presParOf" srcId="{4C5AABE1-14B5-4E00-8A09-2622A5AF9465}" destId="{7086D58B-66BB-48EF-9B71-F024F3911F29}" srcOrd="0" destOrd="0" presId="urn:microsoft.com/office/officeart/2005/8/layout/chevron2"/>
    <dgm:cxn modelId="{D1195186-22DE-462C-9253-D3A71EAEAEDF}" type="presParOf" srcId="{4C5AABE1-14B5-4E00-8A09-2622A5AF9465}" destId="{9831EBFE-52E3-4421-8DB6-43CE44ABBB9E}"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95750CF-B3B9-4E5B-9E01-CAE67414321B}">
      <dsp:nvSpPr>
        <dsp:cNvPr id="0" name=""/>
        <dsp:cNvSpPr/>
      </dsp:nvSpPr>
      <dsp:spPr>
        <a:xfrm rot="5400000">
          <a:off x="-73291" y="75039"/>
          <a:ext cx="488609" cy="342026"/>
        </a:xfrm>
        <a:prstGeom prst="chevron">
          <a:avLst/>
        </a:prstGeom>
        <a:solidFill>
          <a:schemeClr val="accen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ctr" defTabSz="400050">
            <a:lnSpc>
              <a:spcPct val="90000"/>
            </a:lnSpc>
            <a:spcBef>
              <a:spcPct val="0"/>
            </a:spcBef>
            <a:spcAft>
              <a:spcPct val="35000"/>
            </a:spcAft>
            <a:buNone/>
          </a:pPr>
          <a:r>
            <a:rPr lang="en-US" sz="900" b="1" kern="1200" dirty="0"/>
            <a:t>STEP 1</a:t>
          </a:r>
          <a:endParaRPr lang="en-GY" sz="900" b="1" kern="1200" dirty="0"/>
        </a:p>
      </dsp:txBody>
      <dsp:txXfrm rot="-5400000">
        <a:off x="1" y="172760"/>
        <a:ext cx="342026" cy="146583"/>
      </dsp:txXfrm>
    </dsp:sp>
    <dsp:sp modelId="{2749BC35-B99E-4AF8-B81F-FC9C89E9AB83}">
      <dsp:nvSpPr>
        <dsp:cNvPr id="0" name=""/>
        <dsp:cNvSpPr/>
      </dsp:nvSpPr>
      <dsp:spPr>
        <a:xfrm rot="5400000">
          <a:off x="2145414" y="-1801640"/>
          <a:ext cx="317595" cy="3924372"/>
        </a:xfrm>
        <a:prstGeom prst="round2Same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Char char="•"/>
          </a:pPr>
          <a:r>
            <a:rPr lang="en-US" sz="2000" kern="1200" dirty="0"/>
            <a:t>01_ingest.R</a:t>
          </a:r>
          <a:endParaRPr lang="en-GY" sz="2000" kern="1200" dirty="0"/>
        </a:p>
      </dsp:txBody>
      <dsp:txXfrm rot="-5400000">
        <a:off x="342026" y="17252"/>
        <a:ext cx="3908868" cy="286587"/>
      </dsp:txXfrm>
    </dsp:sp>
    <dsp:sp modelId="{89BAFE56-39DE-40A4-B59E-AF9C5C343566}">
      <dsp:nvSpPr>
        <dsp:cNvPr id="0" name=""/>
        <dsp:cNvSpPr/>
      </dsp:nvSpPr>
      <dsp:spPr>
        <a:xfrm rot="5400000">
          <a:off x="-73291" y="477612"/>
          <a:ext cx="488609" cy="342026"/>
        </a:xfrm>
        <a:prstGeom prst="chevron">
          <a:avLst/>
        </a:prstGeom>
        <a:solidFill>
          <a:schemeClr val="accen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ctr" defTabSz="400050">
            <a:lnSpc>
              <a:spcPct val="90000"/>
            </a:lnSpc>
            <a:spcBef>
              <a:spcPct val="0"/>
            </a:spcBef>
            <a:spcAft>
              <a:spcPct val="35000"/>
            </a:spcAft>
            <a:buNone/>
          </a:pPr>
          <a:r>
            <a:rPr lang="en-US" sz="900" b="1" kern="1200" dirty="0"/>
            <a:t>STEP 2</a:t>
          </a:r>
          <a:endParaRPr lang="en-GY" sz="900" b="1" kern="1200" dirty="0"/>
        </a:p>
      </dsp:txBody>
      <dsp:txXfrm rot="-5400000">
        <a:off x="1" y="575333"/>
        <a:ext cx="342026" cy="146583"/>
      </dsp:txXfrm>
    </dsp:sp>
    <dsp:sp modelId="{D279EA2D-C7D4-4A2D-B832-CE671E9A5420}">
      <dsp:nvSpPr>
        <dsp:cNvPr id="0" name=""/>
        <dsp:cNvSpPr/>
      </dsp:nvSpPr>
      <dsp:spPr>
        <a:xfrm rot="5400000">
          <a:off x="2145414" y="-1399067"/>
          <a:ext cx="317595" cy="3924372"/>
        </a:xfrm>
        <a:prstGeom prst="round2Same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Char char="•"/>
          </a:pPr>
          <a:r>
            <a:rPr lang="en-US" sz="2000" kern="1200" dirty="0"/>
            <a:t>02_diagnose.R </a:t>
          </a:r>
          <a:endParaRPr lang="en-GY" sz="2000" kern="1200" dirty="0"/>
        </a:p>
      </dsp:txBody>
      <dsp:txXfrm rot="-5400000">
        <a:off x="342026" y="419825"/>
        <a:ext cx="3908868" cy="286587"/>
      </dsp:txXfrm>
    </dsp:sp>
    <dsp:sp modelId="{E1632E70-2FF3-409A-B038-7AEB0326704A}">
      <dsp:nvSpPr>
        <dsp:cNvPr id="0" name=""/>
        <dsp:cNvSpPr/>
      </dsp:nvSpPr>
      <dsp:spPr>
        <a:xfrm rot="5400000">
          <a:off x="-73291" y="880186"/>
          <a:ext cx="488609" cy="342026"/>
        </a:xfrm>
        <a:prstGeom prst="chevron">
          <a:avLst/>
        </a:prstGeom>
        <a:solidFill>
          <a:schemeClr val="accen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ctr" defTabSz="400050">
            <a:lnSpc>
              <a:spcPct val="90000"/>
            </a:lnSpc>
            <a:spcBef>
              <a:spcPct val="0"/>
            </a:spcBef>
            <a:spcAft>
              <a:spcPct val="35000"/>
            </a:spcAft>
            <a:buNone/>
          </a:pPr>
          <a:r>
            <a:rPr lang="en-US" sz="900" b="1" kern="1200" dirty="0"/>
            <a:t>STEP 3</a:t>
          </a:r>
          <a:endParaRPr lang="en-GY" sz="900" b="1" kern="1200" dirty="0"/>
        </a:p>
      </dsp:txBody>
      <dsp:txXfrm rot="-5400000">
        <a:off x="1" y="977907"/>
        <a:ext cx="342026" cy="146583"/>
      </dsp:txXfrm>
    </dsp:sp>
    <dsp:sp modelId="{EAE7CF5D-BE4F-4BB2-821E-27277B2EEBFB}">
      <dsp:nvSpPr>
        <dsp:cNvPr id="0" name=""/>
        <dsp:cNvSpPr/>
      </dsp:nvSpPr>
      <dsp:spPr>
        <a:xfrm rot="5400000">
          <a:off x="2145414" y="-996493"/>
          <a:ext cx="317595" cy="3924372"/>
        </a:xfrm>
        <a:prstGeom prst="round2Same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Char char="•"/>
          </a:pPr>
          <a:r>
            <a:rPr lang="en-US" sz="2000" kern="1200" dirty="0"/>
            <a:t>03_clean.R</a:t>
          </a:r>
          <a:endParaRPr lang="en-GY" sz="2000" kern="1200" dirty="0"/>
        </a:p>
      </dsp:txBody>
      <dsp:txXfrm rot="-5400000">
        <a:off x="342026" y="822399"/>
        <a:ext cx="3908868" cy="286587"/>
      </dsp:txXfrm>
    </dsp:sp>
    <dsp:sp modelId="{600F4A9E-2A62-476E-9727-BFFBBFC2BF53}">
      <dsp:nvSpPr>
        <dsp:cNvPr id="0" name=""/>
        <dsp:cNvSpPr/>
      </dsp:nvSpPr>
      <dsp:spPr>
        <a:xfrm rot="5400000">
          <a:off x="-73291" y="1282759"/>
          <a:ext cx="488609" cy="342026"/>
        </a:xfrm>
        <a:prstGeom prst="chevron">
          <a:avLst/>
        </a:prstGeom>
        <a:solidFill>
          <a:schemeClr val="accen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ctr" defTabSz="400050">
            <a:lnSpc>
              <a:spcPct val="90000"/>
            </a:lnSpc>
            <a:spcBef>
              <a:spcPct val="0"/>
            </a:spcBef>
            <a:spcAft>
              <a:spcPct val="35000"/>
            </a:spcAft>
            <a:buNone/>
          </a:pPr>
          <a:r>
            <a:rPr lang="en-US" sz="900" b="1" kern="1200" dirty="0"/>
            <a:t>STEP 4</a:t>
          </a:r>
          <a:endParaRPr lang="en-GY" sz="900" b="1" kern="1200" dirty="0"/>
        </a:p>
      </dsp:txBody>
      <dsp:txXfrm rot="-5400000">
        <a:off x="1" y="1380480"/>
        <a:ext cx="342026" cy="146583"/>
      </dsp:txXfrm>
    </dsp:sp>
    <dsp:sp modelId="{DAE9D0B7-60EC-4A80-BFC1-C54B7FDE7B39}">
      <dsp:nvSpPr>
        <dsp:cNvPr id="0" name=""/>
        <dsp:cNvSpPr/>
      </dsp:nvSpPr>
      <dsp:spPr>
        <a:xfrm rot="5400000">
          <a:off x="2145414" y="-593919"/>
          <a:ext cx="317595" cy="3924372"/>
        </a:xfrm>
        <a:prstGeom prst="round2Same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Char char="•"/>
          </a:pPr>
          <a:r>
            <a:rPr lang="en-US" sz="2000" kern="1200" dirty="0"/>
            <a:t>04_impute.R</a:t>
          </a:r>
          <a:endParaRPr lang="en-GY" sz="2000" kern="1200" dirty="0"/>
        </a:p>
      </dsp:txBody>
      <dsp:txXfrm rot="-5400000">
        <a:off x="342026" y="1224973"/>
        <a:ext cx="3908868" cy="286587"/>
      </dsp:txXfrm>
    </dsp:sp>
    <dsp:sp modelId="{87BEBA03-C076-4656-9A59-6931769357D3}">
      <dsp:nvSpPr>
        <dsp:cNvPr id="0" name=""/>
        <dsp:cNvSpPr/>
      </dsp:nvSpPr>
      <dsp:spPr>
        <a:xfrm rot="5400000">
          <a:off x="-73291" y="1685333"/>
          <a:ext cx="488609" cy="342026"/>
        </a:xfrm>
        <a:prstGeom prst="chevron">
          <a:avLst/>
        </a:prstGeom>
        <a:solidFill>
          <a:schemeClr val="accen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ctr" defTabSz="400050">
            <a:lnSpc>
              <a:spcPct val="90000"/>
            </a:lnSpc>
            <a:spcBef>
              <a:spcPct val="0"/>
            </a:spcBef>
            <a:spcAft>
              <a:spcPct val="35000"/>
            </a:spcAft>
            <a:buNone/>
          </a:pPr>
          <a:r>
            <a:rPr lang="en-US" sz="900" b="1" kern="1200" dirty="0"/>
            <a:t>STEP 5</a:t>
          </a:r>
          <a:endParaRPr lang="en-GY" sz="900" b="1" kern="1200" dirty="0"/>
        </a:p>
      </dsp:txBody>
      <dsp:txXfrm rot="-5400000">
        <a:off x="1" y="1783054"/>
        <a:ext cx="342026" cy="146583"/>
      </dsp:txXfrm>
    </dsp:sp>
    <dsp:sp modelId="{E914C9C4-1E45-4BE2-B20B-6FFE9FEF7EBC}">
      <dsp:nvSpPr>
        <dsp:cNvPr id="0" name=""/>
        <dsp:cNvSpPr/>
      </dsp:nvSpPr>
      <dsp:spPr>
        <a:xfrm rot="5400000">
          <a:off x="2145414" y="-191346"/>
          <a:ext cx="317595" cy="3924372"/>
        </a:xfrm>
        <a:prstGeom prst="round2Same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Char char="•"/>
          </a:pPr>
          <a:r>
            <a:rPr lang="en-US" sz="2000" kern="1200" dirty="0"/>
            <a:t>05_dictionary.R</a:t>
          </a:r>
          <a:endParaRPr lang="en-GY" sz="2000" kern="1200" dirty="0"/>
        </a:p>
      </dsp:txBody>
      <dsp:txXfrm rot="-5400000">
        <a:off x="342026" y="1627546"/>
        <a:ext cx="3908868" cy="286587"/>
      </dsp:txXfrm>
    </dsp:sp>
    <dsp:sp modelId="{71A5F4AA-3510-4A80-95AA-B3CAE0BDA320}">
      <dsp:nvSpPr>
        <dsp:cNvPr id="0" name=""/>
        <dsp:cNvSpPr/>
      </dsp:nvSpPr>
      <dsp:spPr>
        <a:xfrm rot="5400000">
          <a:off x="-73291" y="2087907"/>
          <a:ext cx="488609" cy="342026"/>
        </a:xfrm>
        <a:prstGeom prst="chevron">
          <a:avLst/>
        </a:prstGeom>
        <a:solidFill>
          <a:schemeClr val="accen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ctr" defTabSz="400050">
            <a:lnSpc>
              <a:spcPct val="90000"/>
            </a:lnSpc>
            <a:spcBef>
              <a:spcPct val="0"/>
            </a:spcBef>
            <a:spcAft>
              <a:spcPct val="35000"/>
            </a:spcAft>
            <a:buNone/>
          </a:pPr>
          <a:r>
            <a:rPr lang="en-US" sz="900" b="1" kern="1200" dirty="0"/>
            <a:t>STEP 6</a:t>
          </a:r>
          <a:endParaRPr lang="en-GY" sz="900" b="1" kern="1200" dirty="0"/>
        </a:p>
      </dsp:txBody>
      <dsp:txXfrm rot="-5400000">
        <a:off x="1" y="2185628"/>
        <a:ext cx="342026" cy="146583"/>
      </dsp:txXfrm>
    </dsp:sp>
    <dsp:sp modelId="{CEEDEFDD-B88A-41A5-BB1B-D61F5FEED36F}">
      <dsp:nvSpPr>
        <dsp:cNvPr id="0" name=""/>
        <dsp:cNvSpPr/>
      </dsp:nvSpPr>
      <dsp:spPr>
        <a:xfrm rot="5400000">
          <a:off x="2145414" y="211227"/>
          <a:ext cx="317595" cy="3924372"/>
        </a:xfrm>
        <a:prstGeom prst="round2Same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Char char="•"/>
          </a:pPr>
          <a:r>
            <a:rPr lang="en-US" sz="2000" kern="1200" dirty="0"/>
            <a:t>06_export.R</a:t>
          </a:r>
          <a:endParaRPr lang="en-GY" sz="2000" kern="1200" dirty="0"/>
        </a:p>
      </dsp:txBody>
      <dsp:txXfrm rot="-5400000">
        <a:off x="342026" y="2030119"/>
        <a:ext cx="3908868" cy="286587"/>
      </dsp:txXfrm>
    </dsp:sp>
    <dsp:sp modelId="{7086D58B-66BB-48EF-9B71-F024F3911F29}">
      <dsp:nvSpPr>
        <dsp:cNvPr id="0" name=""/>
        <dsp:cNvSpPr/>
      </dsp:nvSpPr>
      <dsp:spPr>
        <a:xfrm rot="5400000">
          <a:off x="-73291" y="2490480"/>
          <a:ext cx="488609" cy="342026"/>
        </a:xfrm>
        <a:prstGeom prst="chevron">
          <a:avLst/>
        </a:prstGeom>
        <a:solidFill>
          <a:schemeClr val="accent1">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715" tIns="5715" rIns="5715" bIns="5715" numCol="1" spcCol="1270" anchor="ctr" anchorCtr="0">
          <a:noAutofit/>
        </a:bodyPr>
        <a:lstStyle/>
        <a:p>
          <a:pPr marL="0" lvl="0" indent="0" algn="ctr" defTabSz="400050">
            <a:lnSpc>
              <a:spcPct val="90000"/>
            </a:lnSpc>
            <a:spcBef>
              <a:spcPct val="0"/>
            </a:spcBef>
            <a:spcAft>
              <a:spcPct val="35000"/>
            </a:spcAft>
            <a:buNone/>
          </a:pPr>
          <a:r>
            <a:rPr lang="en-US" sz="900" b="1" kern="1200" dirty="0"/>
            <a:t>STEP 7</a:t>
          </a:r>
          <a:endParaRPr lang="en-GY" sz="900" b="1" kern="1200" dirty="0"/>
        </a:p>
      </dsp:txBody>
      <dsp:txXfrm rot="-5400000">
        <a:off x="1" y="2588201"/>
        <a:ext cx="342026" cy="146583"/>
      </dsp:txXfrm>
    </dsp:sp>
    <dsp:sp modelId="{9831EBFE-52E3-4421-8DB6-43CE44ABBB9E}">
      <dsp:nvSpPr>
        <dsp:cNvPr id="0" name=""/>
        <dsp:cNvSpPr/>
      </dsp:nvSpPr>
      <dsp:spPr>
        <a:xfrm rot="5400000">
          <a:off x="2145414" y="613800"/>
          <a:ext cx="317595" cy="3924372"/>
        </a:xfrm>
        <a:prstGeom prst="round2SameRect">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42240" tIns="12700" rIns="12700" bIns="12700" numCol="1" spcCol="1270" anchor="ctr" anchorCtr="0">
          <a:noAutofit/>
        </a:bodyPr>
        <a:lstStyle/>
        <a:p>
          <a:pPr marL="228600" lvl="1" indent="-228600" algn="l" defTabSz="889000">
            <a:lnSpc>
              <a:spcPct val="90000"/>
            </a:lnSpc>
            <a:spcBef>
              <a:spcPct val="0"/>
            </a:spcBef>
            <a:spcAft>
              <a:spcPct val="15000"/>
            </a:spcAft>
            <a:buChar char="•"/>
          </a:pPr>
          <a:r>
            <a:rPr lang="en-US" sz="2000" kern="1200" dirty="0"/>
            <a:t>07_report.Rmd</a:t>
          </a:r>
          <a:endParaRPr lang="en-GY" sz="2000" kern="1200" dirty="0"/>
        </a:p>
      </dsp:txBody>
      <dsp:txXfrm rot="-5400000">
        <a:off x="342026" y="2432692"/>
        <a:ext cx="3908868" cy="286587"/>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Y"/>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56A649F-0235-4F80-836D-BD90284FBBC5}" type="datetimeFigureOut">
              <a:rPr lang="en-GY" smtClean="0"/>
              <a:t>07/05/2026</a:t>
            </a:fld>
            <a:endParaRPr lang="en-GY"/>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GY"/>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Y"/>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Y"/>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C5B4401-7920-4864-9216-E6B6B878A0D8}" type="slidenum">
              <a:rPr lang="en-GY" smtClean="0"/>
              <a:t>‹#›</a:t>
            </a:fld>
            <a:endParaRPr lang="en-GY"/>
          </a:p>
        </p:txBody>
      </p:sp>
    </p:spTree>
    <p:extLst>
      <p:ext uri="{BB962C8B-B14F-4D97-AF65-F5344CB8AC3E}">
        <p14:creationId xmlns:p14="http://schemas.microsoft.com/office/powerpoint/2010/main" val="7694827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Y"/>
          </a:p>
        </p:txBody>
      </p:sp>
      <p:sp>
        <p:nvSpPr>
          <p:cNvPr id="3" name="Notes Placeholder 2"/>
          <p:cNvSpPr>
            <a:spLocks noGrp="1"/>
          </p:cNvSpPr>
          <p:nvPr>
            <p:ph type="body" idx="1"/>
          </p:nvPr>
        </p:nvSpPr>
        <p:spPr/>
        <p:txBody>
          <a:bodyPr/>
          <a:lstStyle/>
          <a:p>
            <a:r>
              <a:rPr lang="en-GY" sz="1200" kern="1200" dirty="0">
                <a:solidFill>
                  <a:schemeClr val="tx1"/>
                </a:solidFill>
                <a:effectLst/>
                <a:latin typeface="+mn-lt"/>
                <a:ea typeface="+mn-ea"/>
                <a:cs typeface="+mn-cs"/>
              </a:rPr>
              <a:t>This presentation covers the development of a structured healthcare data cleaning pipeline built in R to transform a messy dataset into an analysis-ready dataset.”</a:t>
            </a:r>
            <a:endParaRPr lang="en-GY" dirty="0"/>
          </a:p>
        </p:txBody>
      </p:sp>
      <p:sp>
        <p:nvSpPr>
          <p:cNvPr id="4" name="Slide Number Placeholder 3"/>
          <p:cNvSpPr>
            <a:spLocks noGrp="1"/>
          </p:cNvSpPr>
          <p:nvPr>
            <p:ph type="sldNum" sz="quarter" idx="5"/>
          </p:nvPr>
        </p:nvSpPr>
        <p:spPr/>
        <p:txBody>
          <a:bodyPr/>
          <a:lstStyle/>
          <a:p>
            <a:fld id="{0C5B4401-7920-4864-9216-E6B6B878A0D8}" type="slidenum">
              <a:rPr lang="en-GY" smtClean="0"/>
              <a:t>1</a:t>
            </a:fld>
            <a:endParaRPr lang="en-GY"/>
          </a:p>
        </p:txBody>
      </p:sp>
    </p:spTree>
    <p:extLst>
      <p:ext uri="{BB962C8B-B14F-4D97-AF65-F5344CB8AC3E}">
        <p14:creationId xmlns:p14="http://schemas.microsoft.com/office/powerpoint/2010/main" val="21094075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Y"/>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Y" sz="1200" kern="1200" dirty="0">
                <a:solidFill>
                  <a:schemeClr val="tx1"/>
                </a:solidFill>
                <a:effectLst/>
                <a:latin typeface="+mn-lt"/>
                <a:ea typeface="+mn-ea"/>
                <a:cs typeface="+mn-cs"/>
              </a:rPr>
              <a:t>“The dataset contained several intentional data quality issues including duplicates, inconsistent formatting, missing values, and mixed data types.”</a:t>
            </a:r>
          </a:p>
          <a:p>
            <a:endParaRPr lang="en-GY" dirty="0"/>
          </a:p>
        </p:txBody>
      </p:sp>
      <p:sp>
        <p:nvSpPr>
          <p:cNvPr id="4" name="Slide Number Placeholder 3"/>
          <p:cNvSpPr>
            <a:spLocks noGrp="1"/>
          </p:cNvSpPr>
          <p:nvPr>
            <p:ph type="sldNum" sz="quarter" idx="5"/>
          </p:nvPr>
        </p:nvSpPr>
        <p:spPr/>
        <p:txBody>
          <a:bodyPr/>
          <a:lstStyle/>
          <a:p>
            <a:fld id="{0C5B4401-7920-4864-9216-E6B6B878A0D8}" type="slidenum">
              <a:rPr lang="en-GY" smtClean="0"/>
              <a:t>2</a:t>
            </a:fld>
            <a:endParaRPr lang="en-GY"/>
          </a:p>
        </p:txBody>
      </p:sp>
    </p:spTree>
    <p:extLst>
      <p:ext uri="{BB962C8B-B14F-4D97-AF65-F5344CB8AC3E}">
        <p14:creationId xmlns:p14="http://schemas.microsoft.com/office/powerpoint/2010/main" val="21320582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Y"/>
          </a:p>
        </p:txBody>
      </p:sp>
      <p:sp>
        <p:nvSpPr>
          <p:cNvPr id="3" name="Notes Placeholder 2"/>
          <p:cNvSpPr>
            <a:spLocks noGrp="1"/>
          </p:cNvSpPr>
          <p:nvPr>
            <p:ph type="body" idx="1"/>
          </p:nvPr>
        </p:nvSpPr>
        <p:spPr/>
        <p:txBody>
          <a:bodyPr/>
          <a:lstStyle/>
          <a:p>
            <a:r>
              <a:rPr lang="en-GY" sz="1200" kern="1200" dirty="0">
                <a:solidFill>
                  <a:schemeClr val="tx1"/>
                </a:solidFill>
                <a:effectLst/>
                <a:latin typeface="+mn-lt"/>
                <a:ea typeface="+mn-ea"/>
                <a:cs typeface="+mn-cs"/>
              </a:rPr>
              <a:t>The goal was not only to clean the data, but to create a reproducible pipeline that could run end-to-end.</a:t>
            </a:r>
            <a:endParaRPr lang="en-GY" dirty="0"/>
          </a:p>
        </p:txBody>
      </p:sp>
      <p:sp>
        <p:nvSpPr>
          <p:cNvPr id="4" name="Slide Number Placeholder 3"/>
          <p:cNvSpPr>
            <a:spLocks noGrp="1"/>
          </p:cNvSpPr>
          <p:nvPr>
            <p:ph type="sldNum" sz="quarter" idx="5"/>
          </p:nvPr>
        </p:nvSpPr>
        <p:spPr/>
        <p:txBody>
          <a:bodyPr/>
          <a:lstStyle/>
          <a:p>
            <a:fld id="{0C5B4401-7920-4864-9216-E6B6B878A0D8}" type="slidenum">
              <a:rPr lang="en-GY" smtClean="0"/>
              <a:t>3</a:t>
            </a:fld>
            <a:endParaRPr lang="en-GY"/>
          </a:p>
        </p:txBody>
      </p:sp>
    </p:spTree>
    <p:extLst>
      <p:ext uri="{BB962C8B-B14F-4D97-AF65-F5344CB8AC3E}">
        <p14:creationId xmlns:p14="http://schemas.microsoft.com/office/powerpoint/2010/main" val="4218532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Y"/>
          </a:p>
        </p:txBody>
      </p:sp>
      <p:sp>
        <p:nvSpPr>
          <p:cNvPr id="3" name="Notes Placeholder 2"/>
          <p:cNvSpPr>
            <a:spLocks noGrp="1"/>
          </p:cNvSpPr>
          <p:nvPr>
            <p:ph type="body" idx="1"/>
          </p:nvPr>
        </p:nvSpPr>
        <p:spPr/>
        <p:txBody>
          <a:bodyPr/>
          <a:lstStyle/>
          <a:p>
            <a:endParaRPr lang="en-GY" sz="1200" kern="1200" dirty="0">
              <a:solidFill>
                <a:schemeClr val="tx1"/>
              </a:solidFill>
              <a:effectLst/>
              <a:latin typeface="+mn-lt"/>
              <a:ea typeface="+mn-ea"/>
              <a:cs typeface="+mn-cs"/>
            </a:endParaRPr>
          </a:p>
          <a:p>
            <a:r>
              <a:rPr lang="en-GY" sz="1200" kern="1200" dirty="0">
                <a:solidFill>
                  <a:schemeClr val="tx1"/>
                </a:solidFill>
                <a:effectLst/>
                <a:latin typeface="+mn-lt"/>
                <a:ea typeface="+mn-ea"/>
                <a:cs typeface="+mn-cs"/>
              </a:rPr>
              <a:t>Modular pipeline structure</a:t>
            </a:r>
          </a:p>
          <a:p>
            <a:r>
              <a:rPr lang="en-GY" sz="1200" kern="1200" dirty="0">
                <a:solidFill>
                  <a:schemeClr val="tx1"/>
                </a:solidFill>
                <a:effectLst/>
                <a:latin typeface="+mn-lt"/>
                <a:ea typeface="+mn-ea"/>
                <a:cs typeface="+mn-cs"/>
              </a:rPr>
              <a:t>Each script performs one responsibility</a:t>
            </a:r>
          </a:p>
          <a:p>
            <a:endParaRPr lang="en-GY" sz="1200" kern="1200" dirty="0">
              <a:solidFill>
                <a:schemeClr val="tx1"/>
              </a:solidFill>
              <a:effectLst/>
              <a:latin typeface="+mn-lt"/>
              <a:ea typeface="+mn-ea"/>
              <a:cs typeface="+mn-cs"/>
            </a:endParaRPr>
          </a:p>
          <a:p>
            <a:r>
              <a:rPr lang="en-GY" sz="1200" kern="1200" dirty="0">
                <a:solidFill>
                  <a:schemeClr val="tx1"/>
                </a:solidFill>
                <a:effectLst/>
                <a:latin typeface="+mn-lt"/>
                <a:ea typeface="+mn-ea"/>
                <a:cs typeface="+mn-cs"/>
              </a:rPr>
              <a:t>“The project was divided into separate stages to improve readability, maintenance, and reproducibility.”</a:t>
            </a:r>
          </a:p>
          <a:p>
            <a:endParaRPr lang="en-GY" dirty="0"/>
          </a:p>
        </p:txBody>
      </p:sp>
      <p:sp>
        <p:nvSpPr>
          <p:cNvPr id="4" name="Slide Number Placeholder 3"/>
          <p:cNvSpPr>
            <a:spLocks noGrp="1"/>
          </p:cNvSpPr>
          <p:nvPr>
            <p:ph type="sldNum" sz="quarter" idx="5"/>
          </p:nvPr>
        </p:nvSpPr>
        <p:spPr/>
        <p:txBody>
          <a:bodyPr/>
          <a:lstStyle/>
          <a:p>
            <a:fld id="{0C5B4401-7920-4864-9216-E6B6B878A0D8}" type="slidenum">
              <a:rPr lang="en-GY" smtClean="0"/>
              <a:t>4</a:t>
            </a:fld>
            <a:endParaRPr lang="en-GY"/>
          </a:p>
        </p:txBody>
      </p:sp>
    </p:spTree>
    <p:extLst>
      <p:ext uri="{BB962C8B-B14F-4D97-AF65-F5344CB8AC3E}">
        <p14:creationId xmlns:p14="http://schemas.microsoft.com/office/powerpoint/2010/main" val="11051849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Y"/>
          </a:p>
        </p:txBody>
      </p:sp>
      <p:sp>
        <p:nvSpPr>
          <p:cNvPr id="3" name="Notes Placeholder 2"/>
          <p:cNvSpPr>
            <a:spLocks noGrp="1"/>
          </p:cNvSpPr>
          <p:nvPr>
            <p:ph type="body" idx="1"/>
          </p:nvPr>
        </p:nvSpPr>
        <p:spPr/>
        <p:txBody>
          <a:bodyPr/>
          <a:lstStyle/>
          <a:p>
            <a:r>
              <a:rPr lang="en-GY" sz="1200" kern="1200" dirty="0">
                <a:solidFill>
                  <a:schemeClr val="tx1"/>
                </a:solidFill>
                <a:effectLst/>
                <a:latin typeface="+mn-lt"/>
                <a:ea typeface="+mn-ea"/>
                <a:cs typeface="+mn-cs"/>
              </a:rPr>
              <a:t>Modular pipeline structure</a:t>
            </a:r>
          </a:p>
          <a:p>
            <a:r>
              <a:rPr lang="en-GY" sz="1200" kern="1200" dirty="0">
                <a:solidFill>
                  <a:schemeClr val="tx1"/>
                </a:solidFill>
                <a:effectLst/>
                <a:latin typeface="+mn-lt"/>
                <a:ea typeface="+mn-ea"/>
                <a:cs typeface="+mn-cs"/>
              </a:rPr>
              <a:t>Each script performs one responsibility</a:t>
            </a:r>
          </a:p>
          <a:p>
            <a:endParaRPr lang="en-GY" sz="1200" kern="1200" dirty="0">
              <a:solidFill>
                <a:schemeClr val="tx1"/>
              </a:solidFill>
              <a:effectLst/>
              <a:latin typeface="+mn-lt"/>
              <a:ea typeface="+mn-ea"/>
              <a:cs typeface="+mn-cs"/>
            </a:endParaRPr>
          </a:p>
          <a:p>
            <a:r>
              <a:rPr lang="en-GY" sz="1200" kern="1200" dirty="0">
                <a:solidFill>
                  <a:schemeClr val="tx1"/>
                </a:solidFill>
                <a:effectLst/>
                <a:latin typeface="+mn-lt"/>
                <a:ea typeface="+mn-ea"/>
                <a:cs typeface="+mn-cs"/>
              </a:rPr>
              <a:t>“The project was divided into separate stages to improve readability, maintenance, and reproducibility.”</a:t>
            </a:r>
          </a:p>
          <a:p>
            <a:endParaRPr lang="en-GY" dirty="0"/>
          </a:p>
        </p:txBody>
      </p:sp>
      <p:sp>
        <p:nvSpPr>
          <p:cNvPr id="4" name="Slide Number Placeholder 3"/>
          <p:cNvSpPr>
            <a:spLocks noGrp="1"/>
          </p:cNvSpPr>
          <p:nvPr>
            <p:ph type="sldNum" sz="quarter" idx="5"/>
          </p:nvPr>
        </p:nvSpPr>
        <p:spPr/>
        <p:txBody>
          <a:bodyPr/>
          <a:lstStyle/>
          <a:p>
            <a:fld id="{0C5B4401-7920-4864-9216-E6B6B878A0D8}" type="slidenum">
              <a:rPr lang="en-GY" smtClean="0"/>
              <a:t>5</a:t>
            </a:fld>
            <a:endParaRPr lang="en-GY"/>
          </a:p>
        </p:txBody>
      </p:sp>
    </p:spTree>
    <p:extLst>
      <p:ext uri="{BB962C8B-B14F-4D97-AF65-F5344CB8AC3E}">
        <p14:creationId xmlns:p14="http://schemas.microsoft.com/office/powerpoint/2010/main" val="38367500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GY"/>
          </a:p>
        </p:txBody>
      </p:sp>
      <p:sp>
        <p:nvSpPr>
          <p:cNvPr id="3" name="Notes Placeholder 2"/>
          <p:cNvSpPr>
            <a:spLocks noGrp="1"/>
          </p:cNvSpPr>
          <p:nvPr>
            <p:ph type="body" idx="1"/>
          </p:nvPr>
        </p:nvSpPr>
        <p:spPr/>
        <p:txBody>
          <a:bodyPr/>
          <a:lstStyle/>
          <a:p>
            <a:r>
              <a:rPr lang="en-GY" sz="1200" kern="1200" dirty="0">
                <a:solidFill>
                  <a:schemeClr val="tx1"/>
                </a:solidFill>
                <a:effectLst/>
                <a:latin typeface="+mn-lt"/>
                <a:ea typeface="+mn-ea"/>
                <a:cs typeface="+mn-cs"/>
              </a:rPr>
              <a:t>These issues prevented reliable analysis and required structured cleaning and standardisation</a:t>
            </a:r>
            <a:endParaRPr lang="en-GY" dirty="0"/>
          </a:p>
        </p:txBody>
      </p:sp>
      <p:sp>
        <p:nvSpPr>
          <p:cNvPr id="4" name="Slide Number Placeholder 3"/>
          <p:cNvSpPr>
            <a:spLocks noGrp="1"/>
          </p:cNvSpPr>
          <p:nvPr>
            <p:ph type="sldNum" sz="quarter" idx="5"/>
          </p:nvPr>
        </p:nvSpPr>
        <p:spPr/>
        <p:txBody>
          <a:bodyPr/>
          <a:lstStyle/>
          <a:p>
            <a:fld id="{0C5B4401-7920-4864-9216-E6B6B878A0D8}" type="slidenum">
              <a:rPr lang="en-GY" smtClean="0"/>
              <a:t>6</a:t>
            </a:fld>
            <a:endParaRPr lang="en-GY"/>
          </a:p>
        </p:txBody>
      </p:sp>
    </p:spTree>
    <p:extLst>
      <p:ext uri="{BB962C8B-B14F-4D97-AF65-F5344CB8AC3E}">
        <p14:creationId xmlns:p14="http://schemas.microsoft.com/office/powerpoint/2010/main" val="380346727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Y" sz="1200" kern="1200" dirty="0">
                <a:solidFill>
                  <a:schemeClr val="tx1"/>
                </a:solidFill>
                <a:effectLst/>
                <a:latin typeface="+mn-lt"/>
                <a:ea typeface="+mn-ea"/>
                <a:cs typeface="+mn-cs"/>
              </a:rPr>
              <a:t>Missing ages were replaced using the median because it provides stable values without being heavily affected by outliers</a:t>
            </a:r>
            <a:endParaRPr lang="en-GY" dirty="0"/>
          </a:p>
        </p:txBody>
      </p:sp>
      <p:sp>
        <p:nvSpPr>
          <p:cNvPr id="4" name="Slide Number Placeholder 3"/>
          <p:cNvSpPr>
            <a:spLocks noGrp="1"/>
          </p:cNvSpPr>
          <p:nvPr>
            <p:ph type="sldNum" sz="quarter" idx="5"/>
          </p:nvPr>
        </p:nvSpPr>
        <p:spPr/>
        <p:txBody>
          <a:bodyPr/>
          <a:lstStyle/>
          <a:p>
            <a:fld id="{0C5B4401-7920-4864-9216-E6B6B878A0D8}" type="slidenum">
              <a:rPr lang="en-GY" smtClean="0"/>
              <a:t>8</a:t>
            </a:fld>
            <a:endParaRPr lang="en-GY"/>
          </a:p>
        </p:txBody>
      </p:sp>
    </p:spTree>
    <p:extLst>
      <p:ext uri="{BB962C8B-B14F-4D97-AF65-F5344CB8AC3E}">
        <p14:creationId xmlns:p14="http://schemas.microsoft.com/office/powerpoint/2010/main" val="38402547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chart compares the level of missing data before and after the cleaning process for each variable in the dataset.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Before cleaning, several variables contained high levels of missingness. Email had the largest number of missing values, followed by Cholesterol, Phone Number, Blood Pressure, and Age. These missing values reduced the reliability and completeness of the dataset for analysis.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the cleaning and imputation stages, missing values in Age were fully resolved through median imputation, while other variables showed reductions where invalid entries and blank values were </a:t>
            </a:r>
            <a:r>
              <a:rPr lang="en-US" dirty="0" err="1"/>
              <a:t>standardised</a:t>
            </a:r>
            <a:r>
              <a:rPr lang="en-US" dirty="0"/>
              <a:t> into proper missing values. Some missingness still remains in variables such as Email and Phone Number because no reliable information was available to safely replace those values.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Overall, this chart demonstrates the impact of the cleaning pipeline by showing improved data completeness and more consistent handling of missing information across the dataset.</a:t>
            </a:r>
            <a:endParaRPr lang="en-GY" dirty="0"/>
          </a:p>
        </p:txBody>
      </p:sp>
      <p:sp>
        <p:nvSpPr>
          <p:cNvPr id="4" name="Slide Number Placeholder 3"/>
          <p:cNvSpPr>
            <a:spLocks noGrp="1"/>
          </p:cNvSpPr>
          <p:nvPr>
            <p:ph type="sldNum" sz="quarter" idx="5"/>
          </p:nvPr>
        </p:nvSpPr>
        <p:spPr/>
        <p:txBody>
          <a:bodyPr/>
          <a:lstStyle/>
          <a:p>
            <a:fld id="{0C5B4401-7920-4864-9216-E6B6B878A0D8}" type="slidenum">
              <a:rPr lang="en-GY" smtClean="0"/>
              <a:t>9</a:t>
            </a:fld>
            <a:endParaRPr lang="en-GY"/>
          </a:p>
        </p:txBody>
      </p:sp>
    </p:spTree>
    <p:extLst>
      <p:ext uri="{BB962C8B-B14F-4D97-AF65-F5344CB8AC3E}">
        <p14:creationId xmlns:p14="http://schemas.microsoft.com/office/powerpoint/2010/main" val="4284180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Y" sz="1200" kern="1200" dirty="0">
                <a:solidFill>
                  <a:schemeClr val="tx1"/>
                </a:solidFill>
                <a:effectLst/>
                <a:latin typeface="+mn-lt"/>
                <a:ea typeface="+mn-ea"/>
                <a:cs typeface="+mn-cs"/>
              </a:rPr>
              <a:t>Multi-format export capability</a:t>
            </a:r>
          </a:p>
          <a:p>
            <a:r>
              <a:rPr lang="en-GY" sz="1200" kern="1200" dirty="0">
                <a:solidFill>
                  <a:schemeClr val="tx1"/>
                </a:solidFill>
                <a:effectLst/>
                <a:latin typeface="+mn-lt"/>
                <a:ea typeface="+mn-ea"/>
                <a:cs typeface="+mn-cs"/>
              </a:rPr>
              <a:t>Automated reporting</a:t>
            </a:r>
            <a:endParaRPr lang="en-US" sz="1200" kern="1200" dirty="0">
              <a:solidFill>
                <a:schemeClr val="tx1"/>
              </a:solidFill>
              <a:effectLst/>
              <a:latin typeface="+mn-lt"/>
              <a:ea typeface="+mn-ea"/>
              <a:cs typeface="+mn-cs"/>
            </a:endParaRPr>
          </a:p>
          <a:p>
            <a:endParaRPr lang="en-GY" sz="1200" kern="1200" dirty="0">
              <a:solidFill>
                <a:schemeClr val="tx1"/>
              </a:solidFill>
              <a:effectLst/>
              <a:latin typeface="+mn-lt"/>
              <a:ea typeface="+mn-ea"/>
              <a:cs typeface="+mn-cs"/>
            </a:endParaRPr>
          </a:p>
          <a:p>
            <a:r>
              <a:rPr lang="en-GY" sz="1200" kern="1200" dirty="0">
                <a:solidFill>
                  <a:schemeClr val="tx1"/>
                </a:solidFill>
                <a:effectLst/>
                <a:latin typeface="+mn-lt"/>
                <a:ea typeface="+mn-ea"/>
                <a:cs typeface="+mn-cs"/>
              </a:rPr>
              <a:t>“The cleaned dataset was exported into multiple formats to support different analytical environments.”</a:t>
            </a:r>
          </a:p>
          <a:p>
            <a:endParaRPr lang="en-GY" dirty="0"/>
          </a:p>
        </p:txBody>
      </p:sp>
      <p:sp>
        <p:nvSpPr>
          <p:cNvPr id="4" name="Slide Number Placeholder 3"/>
          <p:cNvSpPr>
            <a:spLocks noGrp="1"/>
          </p:cNvSpPr>
          <p:nvPr>
            <p:ph type="sldNum" sz="quarter" idx="5"/>
          </p:nvPr>
        </p:nvSpPr>
        <p:spPr/>
        <p:txBody>
          <a:bodyPr/>
          <a:lstStyle/>
          <a:p>
            <a:fld id="{0C5B4401-7920-4864-9216-E6B6B878A0D8}" type="slidenum">
              <a:rPr lang="en-GY" smtClean="0"/>
              <a:t>10</a:t>
            </a:fld>
            <a:endParaRPr lang="en-GY"/>
          </a:p>
        </p:txBody>
      </p:sp>
    </p:spTree>
    <p:extLst>
      <p:ext uri="{BB962C8B-B14F-4D97-AF65-F5344CB8AC3E}">
        <p14:creationId xmlns:p14="http://schemas.microsoft.com/office/powerpoint/2010/main" val="5375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72B3E-6B81-63C7-4085-EFC8A7AE09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D21F10-7EB9-A908-0577-4B7072F27B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C53F5F-CB18-80CF-1E3A-E3707F81490B}"/>
              </a:ext>
            </a:extLst>
          </p:cNvPr>
          <p:cNvSpPr>
            <a:spLocks noGrp="1"/>
          </p:cNvSpPr>
          <p:nvPr>
            <p:ph type="body" idx="1"/>
          </p:nvPr>
        </p:nvSpPr>
        <p:spPr/>
        <p:txBody>
          <a:bodyPr/>
          <a:lstStyle/>
          <a:p>
            <a:r>
              <a:rPr lang="en-GY" sz="1200" kern="1200" dirty="0">
                <a:solidFill>
                  <a:schemeClr val="tx1"/>
                </a:solidFill>
                <a:effectLst/>
                <a:latin typeface="+mn-lt"/>
                <a:ea typeface="+mn-ea"/>
                <a:cs typeface="+mn-cs"/>
              </a:rPr>
              <a:t>Multi-format export capability</a:t>
            </a:r>
          </a:p>
          <a:p>
            <a:r>
              <a:rPr lang="en-GY" sz="1200" kern="1200" dirty="0">
                <a:solidFill>
                  <a:schemeClr val="tx1"/>
                </a:solidFill>
                <a:effectLst/>
                <a:latin typeface="+mn-lt"/>
                <a:ea typeface="+mn-ea"/>
                <a:cs typeface="+mn-cs"/>
              </a:rPr>
              <a:t>Automated reporting</a:t>
            </a:r>
            <a:endParaRPr lang="en-US" sz="1200" kern="1200" dirty="0">
              <a:solidFill>
                <a:schemeClr val="tx1"/>
              </a:solidFill>
              <a:effectLst/>
              <a:latin typeface="+mn-lt"/>
              <a:ea typeface="+mn-ea"/>
              <a:cs typeface="+mn-cs"/>
            </a:endParaRPr>
          </a:p>
          <a:p>
            <a:endParaRPr lang="en-GY" sz="1200" kern="1200" dirty="0">
              <a:solidFill>
                <a:schemeClr val="tx1"/>
              </a:solidFill>
              <a:effectLst/>
              <a:latin typeface="+mn-lt"/>
              <a:ea typeface="+mn-ea"/>
              <a:cs typeface="+mn-cs"/>
            </a:endParaRPr>
          </a:p>
          <a:p>
            <a:r>
              <a:rPr lang="en-GY" sz="1200" kern="1200" dirty="0">
                <a:solidFill>
                  <a:schemeClr val="tx1"/>
                </a:solidFill>
                <a:effectLst/>
                <a:latin typeface="+mn-lt"/>
                <a:ea typeface="+mn-ea"/>
                <a:cs typeface="+mn-cs"/>
              </a:rPr>
              <a:t>“The cleaned dataset was exported into multiple formats to support different analytical environments.”</a:t>
            </a:r>
          </a:p>
          <a:p>
            <a:endParaRPr lang="en-GY" dirty="0"/>
          </a:p>
        </p:txBody>
      </p:sp>
      <p:sp>
        <p:nvSpPr>
          <p:cNvPr id="4" name="Slide Number Placeholder 3">
            <a:extLst>
              <a:ext uri="{FF2B5EF4-FFF2-40B4-BE49-F238E27FC236}">
                <a16:creationId xmlns:a16="http://schemas.microsoft.com/office/drawing/2014/main" id="{0B058A03-9139-AB90-9ED3-4202E358D2EC}"/>
              </a:ext>
            </a:extLst>
          </p:cNvPr>
          <p:cNvSpPr>
            <a:spLocks noGrp="1"/>
          </p:cNvSpPr>
          <p:nvPr>
            <p:ph type="sldNum" sz="quarter" idx="5"/>
          </p:nvPr>
        </p:nvSpPr>
        <p:spPr/>
        <p:txBody>
          <a:bodyPr/>
          <a:lstStyle/>
          <a:p>
            <a:fld id="{0C5B4401-7920-4864-9216-E6B6B878A0D8}" type="slidenum">
              <a:rPr lang="en-GY" smtClean="0"/>
              <a:t>11</a:t>
            </a:fld>
            <a:endParaRPr lang="en-GY"/>
          </a:p>
        </p:txBody>
      </p:sp>
    </p:spTree>
    <p:extLst>
      <p:ext uri="{BB962C8B-B14F-4D97-AF65-F5344CB8AC3E}">
        <p14:creationId xmlns:p14="http://schemas.microsoft.com/office/powerpoint/2010/main" val="31988244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D5280-5D66-D392-CD0C-9C20D5D4A6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E15D32-5ED9-669C-56A6-B1E800C1B2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429A04-EA2E-EB85-CF23-6CBD207C6FC9}"/>
              </a:ext>
            </a:extLst>
          </p:cNvPr>
          <p:cNvSpPr>
            <a:spLocks noGrp="1"/>
          </p:cNvSpPr>
          <p:nvPr>
            <p:ph type="body" idx="1"/>
          </p:nvPr>
        </p:nvSpPr>
        <p:spPr/>
        <p:txBody>
          <a:bodyPr/>
          <a:lstStyle/>
          <a:p>
            <a:r>
              <a:rPr lang="en-GY" sz="1200" kern="1200" dirty="0">
                <a:solidFill>
                  <a:schemeClr val="tx1"/>
                </a:solidFill>
                <a:effectLst/>
                <a:latin typeface="+mn-lt"/>
                <a:ea typeface="+mn-ea"/>
                <a:cs typeface="+mn-cs"/>
              </a:rPr>
              <a:t>Multi-format export capability</a:t>
            </a:r>
          </a:p>
          <a:p>
            <a:r>
              <a:rPr lang="en-GY" sz="1200" kern="1200" dirty="0">
                <a:solidFill>
                  <a:schemeClr val="tx1"/>
                </a:solidFill>
                <a:effectLst/>
                <a:latin typeface="+mn-lt"/>
                <a:ea typeface="+mn-ea"/>
                <a:cs typeface="+mn-cs"/>
              </a:rPr>
              <a:t>Automated reporting</a:t>
            </a:r>
            <a:endParaRPr lang="en-US" sz="1200" kern="1200" dirty="0">
              <a:solidFill>
                <a:schemeClr val="tx1"/>
              </a:solidFill>
              <a:effectLst/>
              <a:latin typeface="+mn-lt"/>
              <a:ea typeface="+mn-ea"/>
              <a:cs typeface="+mn-cs"/>
            </a:endParaRPr>
          </a:p>
          <a:p>
            <a:endParaRPr lang="en-GY" sz="1200" kern="1200" dirty="0">
              <a:solidFill>
                <a:schemeClr val="tx1"/>
              </a:solidFill>
              <a:effectLst/>
              <a:latin typeface="+mn-lt"/>
              <a:ea typeface="+mn-ea"/>
              <a:cs typeface="+mn-cs"/>
            </a:endParaRPr>
          </a:p>
          <a:p>
            <a:r>
              <a:rPr lang="en-GY" sz="1200" kern="1200" dirty="0">
                <a:solidFill>
                  <a:schemeClr val="tx1"/>
                </a:solidFill>
                <a:effectLst/>
                <a:latin typeface="+mn-lt"/>
                <a:ea typeface="+mn-ea"/>
                <a:cs typeface="+mn-cs"/>
              </a:rPr>
              <a:t>“The cleaned dataset was exported into multiple formats to support different analytical environments.”</a:t>
            </a:r>
          </a:p>
          <a:p>
            <a:endParaRPr lang="en-GY" dirty="0"/>
          </a:p>
        </p:txBody>
      </p:sp>
      <p:sp>
        <p:nvSpPr>
          <p:cNvPr id="4" name="Slide Number Placeholder 3">
            <a:extLst>
              <a:ext uri="{FF2B5EF4-FFF2-40B4-BE49-F238E27FC236}">
                <a16:creationId xmlns:a16="http://schemas.microsoft.com/office/drawing/2014/main" id="{53F4F6D1-1D31-674E-3252-88C9037D7828}"/>
              </a:ext>
            </a:extLst>
          </p:cNvPr>
          <p:cNvSpPr>
            <a:spLocks noGrp="1"/>
          </p:cNvSpPr>
          <p:nvPr>
            <p:ph type="sldNum" sz="quarter" idx="5"/>
          </p:nvPr>
        </p:nvSpPr>
        <p:spPr/>
        <p:txBody>
          <a:bodyPr/>
          <a:lstStyle/>
          <a:p>
            <a:fld id="{0C5B4401-7920-4864-9216-E6B6B878A0D8}" type="slidenum">
              <a:rPr lang="en-GY" smtClean="0"/>
              <a:t>12</a:t>
            </a:fld>
            <a:endParaRPr lang="en-GY"/>
          </a:p>
        </p:txBody>
      </p:sp>
    </p:spTree>
    <p:extLst>
      <p:ext uri="{BB962C8B-B14F-4D97-AF65-F5344CB8AC3E}">
        <p14:creationId xmlns:p14="http://schemas.microsoft.com/office/powerpoint/2010/main" val="39027018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CA7C9-B38A-23B8-4827-1A9FD6CC1B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BC68F8-2F2C-F461-E2C6-7D966F527E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DF7ABD-A659-9A17-06ED-68C1732CB316}"/>
              </a:ext>
            </a:extLst>
          </p:cNvPr>
          <p:cNvSpPr>
            <a:spLocks noGrp="1"/>
          </p:cNvSpPr>
          <p:nvPr>
            <p:ph type="body" idx="1"/>
          </p:nvPr>
        </p:nvSpPr>
        <p:spPr/>
        <p:txBody>
          <a:bodyPr/>
          <a:lstStyle/>
          <a:p>
            <a:r>
              <a:rPr lang="en-GY" sz="1200" kern="1200" dirty="0">
                <a:solidFill>
                  <a:schemeClr val="tx1"/>
                </a:solidFill>
                <a:effectLst/>
                <a:latin typeface="+mn-lt"/>
                <a:ea typeface="+mn-ea"/>
                <a:cs typeface="+mn-cs"/>
              </a:rPr>
              <a:t>Multi-format export capability</a:t>
            </a:r>
          </a:p>
          <a:p>
            <a:r>
              <a:rPr lang="en-GY" sz="1200" kern="1200" dirty="0">
                <a:solidFill>
                  <a:schemeClr val="tx1"/>
                </a:solidFill>
                <a:effectLst/>
                <a:latin typeface="+mn-lt"/>
                <a:ea typeface="+mn-ea"/>
                <a:cs typeface="+mn-cs"/>
              </a:rPr>
              <a:t>Automated reporting</a:t>
            </a:r>
            <a:endParaRPr lang="en-US" sz="1200" kern="1200" dirty="0">
              <a:solidFill>
                <a:schemeClr val="tx1"/>
              </a:solidFill>
              <a:effectLst/>
              <a:latin typeface="+mn-lt"/>
              <a:ea typeface="+mn-ea"/>
              <a:cs typeface="+mn-cs"/>
            </a:endParaRPr>
          </a:p>
          <a:p>
            <a:endParaRPr lang="en-GY" sz="1200" kern="1200" dirty="0">
              <a:solidFill>
                <a:schemeClr val="tx1"/>
              </a:solidFill>
              <a:effectLst/>
              <a:latin typeface="+mn-lt"/>
              <a:ea typeface="+mn-ea"/>
              <a:cs typeface="+mn-cs"/>
            </a:endParaRPr>
          </a:p>
          <a:p>
            <a:r>
              <a:rPr lang="en-GY" sz="1200" kern="1200" dirty="0">
                <a:solidFill>
                  <a:schemeClr val="tx1"/>
                </a:solidFill>
                <a:effectLst/>
                <a:latin typeface="+mn-lt"/>
                <a:ea typeface="+mn-ea"/>
                <a:cs typeface="+mn-cs"/>
              </a:rPr>
              <a:t>“The cleaned dataset was exported into multiple formats to support different analytical environments.”</a:t>
            </a:r>
          </a:p>
          <a:p>
            <a:endParaRPr lang="en-GY" dirty="0"/>
          </a:p>
        </p:txBody>
      </p:sp>
      <p:sp>
        <p:nvSpPr>
          <p:cNvPr id="4" name="Slide Number Placeholder 3">
            <a:extLst>
              <a:ext uri="{FF2B5EF4-FFF2-40B4-BE49-F238E27FC236}">
                <a16:creationId xmlns:a16="http://schemas.microsoft.com/office/drawing/2014/main" id="{FB46AB7D-3FCF-7CFB-0D0F-F4150B761BF7}"/>
              </a:ext>
            </a:extLst>
          </p:cNvPr>
          <p:cNvSpPr>
            <a:spLocks noGrp="1"/>
          </p:cNvSpPr>
          <p:nvPr>
            <p:ph type="sldNum" sz="quarter" idx="5"/>
          </p:nvPr>
        </p:nvSpPr>
        <p:spPr/>
        <p:txBody>
          <a:bodyPr/>
          <a:lstStyle/>
          <a:p>
            <a:fld id="{0C5B4401-7920-4864-9216-E6B6B878A0D8}" type="slidenum">
              <a:rPr lang="en-GY" smtClean="0"/>
              <a:t>13</a:t>
            </a:fld>
            <a:endParaRPr lang="en-GY"/>
          </a:p>
        </p:txBody>
      </p:sp>
    </p:spTree>
    <p:extLst>
      <p:ext uri="{BB962C8B-B14F-4D97-AF65-F5344CB8AC3E}">
        <p14:creationId xmlns:p14="http://schemas.microsoft.com/office/powerpoint/2010/main" val="17965793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B3F3E5-6001-3382-8C0B-A7B4B61119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7B3A7B-4FF9-BF5E-60EA-0DE1157C3D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4DBC15-C79A-9118-6888-30F21D7616D4}"/>
              </a:ext>
            </a:extLst>
          </p:cNvPr>
          <p:cNvSpPr>
            <a:spLocks noGrp="1"/>
          </p:cNvSpPr>
          <p:nvPr>
            <p:ph type="body" idx="1"/>
          </p:nvPr>
        </p:nvSpPr>
        <p:spPr/>
        <p:txBody>
          <a:bodyPr/>
          <a:lstStyle/>
          <a:p>
            <a:r>
              <a:rPr lang="en-GY" sz="1200" kern="1200" dirty="0">
                <a:solidFill>
                  <a:schemeClr val="tx1"/>
                </a:solidFill>
                <a:effectLst/>
                <a:latin typeface="+mn-lt"/>
                <a:ea typeface="+mn-ea"/>
                <a:cs typeface="+mn-cs"/>
              </a:rPr>
              <a:t>Multi-format export capability</a:t>
            </a:r>
          </a:p>
          <a:p>
            <a:r>
              <a:rPr lang="en-GY" sz="1200" kern="1200" dirty="0">
                <a:solidFill>
                  <a:schemeClr val="tx1"/>
                </a:solidFill>
                <a:effectLst/>
                <a:latin typeface="+mn-lt"/>
                <a:ea typeface="+mn-ea"/>
                <a:cs typeface="+mn-cs"/>
              </a:rPr>
              <a:t>Automated reporting</a:t>
            </a:r>
            <a:endParaRPr lang="en-US" sz="1200" kern="1200" dirty="0">
              <a:solidFill>
                <a:schemeClr val="tx1"/>
              </a:solidFill>
              <a:effectLst/>
              <a:latin typeface="+mn-lt"/>
              <a:ea typeface="+mn-ea"/>
              <a:cs typeface="+mn-cs"/>
            </a:endParaRPr>
          </a:p>
          <a:p>
            <a:endParaRPr lang="en-GY" sz="1200" kern="1200" dirty="0">
              <a:solidFill>
                <a:schemeClr val="tx1"/>
              </a:solidFill>
              <a:effectLst/>
              <a:latin typeface="+mn-lt"/>
              <a:ea typeface="+mn-ea"/>
              <a:cs typeface="+mn-cs"/>
            </a:endParaRPr>
          </a:p>
          <a:p>
            <a:r>
              <a:rPr lang="en-GY" sz="1200" kern="1200" dirty="0">
                <a:solidFill>
                  <a:schemeClr val="tx1"/>
                </a:solidFill>
                <a:effectLst/>
                <a:latin typeface="+mn-lt"/>
                <a:ea typeface="+mn-ea"/>
                <a:cs typeface="+mn-cs"/>
              </a:rPr>
              <a:t>“The cleaned dataset was exported into multiple formats to support different analytical environments.”</a:t>
            </a:r>
          </a:p>
          <a:p>
            <a:endParaRPr lang="en-GY" dirty="0"/>
          </a:p>
        </p:txBody>
      </p:sp>
      <p:sp>
        <p:nvSpPr>
          <p:cNvPr id="4" name="Slide Number Placeholder 3">
            <a:extLst>
              <a:ext uri="{FF2B5EF4-FFF2-40B4-BE49-F238E27FC236}">
                <a16:creationId xmlns:a16="http://schemas.microsoft.com/office/drawing/2014/main" id="{FDF46CC8-218C-CD44-BE97-EF825DDD7265}"/>
              </a:ext>
            </a:extLst>
          </p:cNvPr>
          <p:cNvSpPr>
            <a:spLocks noGrp="1"/>
          </p:cNvSpPr>
          <p:nvPr>
            <p:ph type="sldNum" sz="quarter" idx="5"/>
          </p:nvPr>
        </p:nvSpPr>
        <p:spPr/>
        <p:txBody>
          <a:bodyPr/>
          <a:lstStyle/>
          <a:p>
            <a:fld id="{0C5B4401-7920-4864-9216-E6B6B878A0D8}" type="slidenum">
              <a:rPr lang="en-GY" smtClean="0"/>
              <a:t>14</a:t>
            </a:fld>
            <a:endParaRPr lang="en-GY"/>
          </a:p>
        </p:txBody>
      </p:sp>
    </p:spTree>
    <p:extLst>
      <p:ext uri="{BB962C8B-B14F-4D97-AF65-F5344CB8AC3E}">
        <p14:creationId xmlns:p14="http://schemas.microsoft.com/office/powerpoint/2010/main" val="14451234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Y" sz="1200" kern="1200" dirty="0">
              <a:solidFill>
                <a:schemeClr val="tx1"/>
              </a:solidFill>
              <a:effectLst/>
              <a:latin typeface="+mn-lt"/>
              <a:ea typeface="+mn-ea"/>
              <a:cs typeface="+mn-cs"/>
            </a:endParaRPr>
          </a:p>
          <a:p>
            <a:r>
              <a:rPr lang="en-GY" sz="1200" kern="1200" dirty="0">
                <a:solidFill>
                  <a:schemeClr val="tx1"/>
                </a:solidFill>
                <a:effectLst/>
                <a:latin typeface="+mn-lt"/>
                <a:ea typeface="+mn-ea"/>
                <a:cs typeface="+mn-cs"/>
              </a:rPr>
              <a:t>“One major success was achieving a complete automated workflow from ingestion to reporting.”</a:t>
            </a:r>
          </a:p>
          <a:p>
            <a:endParaRPr lang="en-GY" dirty="0"/>
          </a:p>
        </p:txBody>
      </p:sp>
      <p:sp>
        <p:nvSpPr>
          <p:cNvPr id="4" name="Slide Number Placeholder 3"/>
          <p:cNvSpPr>
            <a:spLocks noGrp="1"/>
          </p:cNvSpPr>
          <p:nvPr>
            <p:ph type="sldNum" sz="quarter" idx="5"/>
          </p:nvPr>
        </p:nvSpPr>
        <p:spPr/>
        <p:txBody>
          <a:bodyPr/>
          <a:lstStyle/>
          <a:p>
            <a:fld id="{0C5B4401-7920-4864-9216-E6B6B878A0D8}" type="slidenum">
              <a:rPr lang="en-GY" smtClean="0"/>
              <a:t>15</a:t>
            </a:fld>
            <a:endParaRPr lang="en-GY"/>
          </a:p>
        </p:txBody>
      </p:sp>
    </p:spTree>
    <p:extLst>
      <p:ext uri="{BB962C8B-B14F-4D97-AF65-F5344CB8AC3E}">
        <p14:creationId xmlns:p14="http://schemas.microsoft.com/office/powerpoint/2010/main" val="9425699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Handling duplicate patient identities</a:t>
            </a:r>
          </a:p>
          <a:p>
            <a:r>
              <a:rPr lang="en-US" dirty="0"/>
              <a:t>- Deciding which records to retain</a:t>
            </a:r>
          </a:p>
          <a:p>
            <a:r>
              <a:rPr lang="en-US" dirty="0"/>
              <a:t>- Structuring pipeline stages correctly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Y" sz="1200" kern="1200" dirty="0">
                <a:solidFill>
                  <a:schemeClr val="tx1"/>
                </a:solidFill>
                <a:effectLst/>
                <a:latin typeface="+mn-lt"/>
                <a:ea typeface="+mn-ea"/>
                <a:cs typeface="+mn-cs"/>
              </a:rPr>
              <a:t>This stage required the most critical decision-making because duplicate records did not always contain matching supporting information.”</a:t>
            </a:r>
          </a:p>
          <a:p>
            <a:endParaRPr lang="en-GY" dirty="0"/>
          </a:p>
        </p:txBody>
      </p:sp>
      <p:sp>
        <p:nvSpPr>
          <p:cNvPr id="4" name="Slide Number Placeholder 3"/>
          <p:cNvSpPr>
            <a:spLocks noGrp="1"/>
          </p:cNvSpPr>
          <p:nvPr>
            <p:ph type="sldNum" sz="quarter" idx="5"/>
          </p:nvPr>
        </p:nvSpPr>
        <p:spPr/>
        <p:txBody>
          <a:bodyPr/>
          <a:lstStyle/>
          <a:p>
            <a:fld id="{0C5B4401-7920-4864-9216-E6B6B878A0D8}" type="slidenum">
              <a:rPr lang="en-GY" smtClean="0"/>
              <a:t>16</a:t>
            </a:fld>
            <a:endParaRPr lang="en-GY"/>
          </a:p>
        </p:txBody>
      </p:sp>
    </p:spTree>
    <p:extLst>
      <p:ext uri="{BB962C8B-B14F-4D97-AF65-F5344CB8AC3E}">
        <p14:creationId xmlns:p14="http://schemas.microsoft.com/office/powerpoint/2010/main" val="4162141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Y" sz="1200" kern="1200" dirty="0">
                <a:solidFill>
                  <a:schemeClr val="tx1"/>
                </a:solidFill>
                <a:effectLst/>
                <a:latin typeface="+mn-lt"/>
                <a:ea typeface="+mn-ea"/>
                <a:cs typeface="+mn-cs"/>
              </a:rPr>
              <a:t>Most of the project time was spent resolving data quality and structural pipeline issues.”</a:t>
            </a:r>
            <a:endParaRPr lang="en-GY" dirty="0"/>
          </a:p>
        </p:txBody>
      </p:sp>
      <p:sp>
        <p:nvSpPr>
          <p:cNvPr id="4" name="Slide Number Placeholder 3"/>
          <p:cNvSpPr>
            <a:spLocks noGrp="1"/>
          </p:cNvSpPr>
          <p:nvPr>
            <p:ph type="sldNum" sz="quarter" idx="5"/>
          </p:nvPr>
        </p:nvSpPr>
        <p:spPr/>
        <p:txBody>
          <a:bodyPr/>
          <a:lstStyle/>
          <a:p>
            <a:fld id="{0C5B4401-7920-4864-9216-E6B6B878A0D8}" type="slidenum">
              <a:rPr lang="en-GY" smtClean="0"/>
              <a:t>17</a:t>
            </a:fld>
            <a:endParaRPr lang="en-GY"/>
          </a:p>
        </p:txBody>
      </p:sp>
    </p:spTree>
    <p:extLst>
      <p:ext uri="{BB962C8B-B14F-4D97-AF65-F5344CB8AC3E}">
        <p14:creationId xmlns:p14="http://schemas.microsoft.com/office/powerpoint/2010/main" val="420768701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Y" sz="1200" kern="1200" dirty="0">
                <a:solidFill>
                  <a:schemeClr val="tx1"/>
                </a:solidFill>
                <a:effectLst/>
                <a:latin typeface="+mn-lt"/>
                <a:ea typeface="+mn-ea"/>
                <a:cs typeface="+mn-cs"/>
              </a:rPr>
              <a:t>With more time, I would focus on improving identity resolution accuracy and expanding downstream analysis</a:t>
            </a:r>
            <a:endParaRPr lang="en-GY" dirty="0"/>
          </a:p>
        </p:txBody>
      </p:sp>
      <p:sp>
        <p:nvSpPr>
          <p:cNvPr id="4" name="Slide Number Placeholder 3"/>
          <p:cNvSpPr>
            <a:spLocks noGrp="1"/>
          </p:cNvSpPr>
          <p:nvPr>
            <p:ph type="sldNum" sz="quarter" idx="5"/>
          </p:nvPr>
        </p:nvSpPr>
        <p:spPr/>
        <p:txBody>
          <a:bodyPr/>
          <a:lstStyle/>
          <a:p>
            <a:fld id="{0C5B4401-7920-4864-9216-E6B6B878A0D8}" type="slidenum">
              <a:rPr lang="en-GY" smtClean="0"/>
              <a:t>18</a:t>
            </a:fld>
            <a:endParaRPr lang="en-GY"/>
          </a:p>
        </p:txBody>
      </p:sp>
    </p:spTree>
    <p:extLst>
      <p:ext uri="{BB962C8B-B14F-4D97-AF65-F5344CB8AC3E}">
        <p14:creationId xmlns:p14="http://schemas.microsoft.com/office/powerpoint/2010/main" val="5482039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Y" sz="1200" kern="1200" dirty="0">
                <a:solidFill>
                  <a:schemeClr val="tx1"/>
                </a:solidFill>
                <a:effectLst/>
                <a:latin typeface="+mn-lt"/>
                <a:ea typeface="+mn-ea"/>
                <a:cs typeface="+mn-cs"/>
              </a:rPr>
              <a:t>Thank you for listening. I welcome any questions or feedback</a:t>
            </a:r>
            <a:endParaRPr lang="en-GY" dirty="0"/>
          </a:p>
        </p:txBody>
      </p:sp>
      <p:sp>
        <p:nvSpPr>
          <p:cNvPr id="4" name="Slide Number Placeholder 3"/>
          <p:cNvSpPr>
            <a:spLocks noGrp="1"/>
          </p:cNvSpPr>
          <p:nvPr>
            <p:ph type="sldNum" sz="quarter" idx="5"/>
          </p:nvPr>
        </p:nvSpPr>
        <p:spPr/>
        <p:txBody>
          <a:bodyPr/>
          <a:lstStyle/>
          <a:p>
            <a:fld id="{0C5B4401-7920-4864-9216-E6B6B878A0D8}" type="slidenum">
              <a:rPr lang="en-GY" smtClean="0"/>
              <a:t>19</a:t>
            </a:fld>
            <a:endParaRPr lang="en-GY"/>
          </a:p>
        </p:txBody>
      </p:sp>
    </p:spTree>
    <p:extLst>
      <p:ext uri="{BB962C8B-B14F-4D97-AF65-F5344CB8AC3E}">
        <p14:creationId xmlns:p14="http://schemas.microsoft.com/office/powerpoint/2010/main" val="14236326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2382" y="6400800"/>
            <a:ext cx="9141619"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Y"/>
          </a:p>
        </p:txBody>
      </p:sp>
      <p:sp>
        <p:nvSpPr>
          <p:cNvPr id="8" name="Rectangle 7"/>
          <p:cNvSpPr/>
          <p:nvPr/>
        </p:nvSpPr>
        <p:spPr>
          <a:xfrm>
            <a:off x="12" y="6334316"/>
            <a:ext cx="9141619"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Y"/>
          </a:p>
        </p:txBody>
      </p:sp>
      <p:sp>
        <p:nvSpPr>
          <p:cNvPr id="2" name="Title 1"/>
          <p:cNvSpPr>
            <a:spLocks noGrp="1"/>
          </p:cNvSpPr>
          <p:nvPr>
            <p:ph type="ctrTitle"/>
          </p:nvPr>
        </p:nvSpPr>
        <p:spPr>
          <a:xfrm>
            <a:off x="822960" y="758952"/>
            <a:ext cx="75438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825038" y="4455621"/>
            <a:ext cx="75438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5/7/2026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cxnSp>
        <p:nvCxnSpPr>
          <p:cNvPr id="9" name="Straight Connector 8"/>
          <p:cNvCxnSpPr/>
          <p:nvPr/>
        </p:nvCxnSpPr>
        <p:spPr>
          <a:xfrm>
            <a:off x="905744" y="4343400"/>
            <a:ext cx="740664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469232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5/7/2026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62197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2382" y="6400800"/>
            <a:ext cx="9141619"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Y"/>
          </a:p>
        </p:txBody>
      </p:sp>
      <p:sp>
        <p:nvSpPr>
          <p:cNvPr id="8" name="Rectangle 7"/>
          <p:cNvSpPr/>
          <p:nvPr/>
        </p:nvSpPr>
        <p:spPr>
          <a:xfrm>
            <a:off x="12" y="6334316"/>
            <a:ext cx="9141619"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Y"/>
          </a:p>
        </p:txBody>
      </p:sp>
      <p:sp>
        <p:nvSpPr>
          <p:cNvPr id="2" name="Title 1"/>
          <p:cNvSpPr>
            <a:spLocks noGrp="1"/>
          </p:cNvSpPr>
          <p:nvPr>
            <p:ph type="title"/>
          </p:nvPr>
        </p:nvSpPr>
        <p:spPr>
          <a:xfrm>
            <a:off x="822960" y="758952"/>
            <a:ext cx="75438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822960" y="4453128"/>
            <a:ext cx="75438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cxnSp>
        <p:nvCxnSpPr>
          <p:cNvPr id="9" name="Straight Connector 8"/>
          <p:cNvCxnSpPr/>
          <p:nvPr/>
        </p:nvCxnSpPr>
        <p:spPr>
          <a:xfrm>
            <a:off x="905744" y="4343400"/>
            <a:ext cx="740664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25284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822960" y="286604"/>
            <a:ext cx="75438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822960" y="1845734"/>
            <a:ext cx="370332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63440" y="1845736"/>
            <a:ext cx="3703320" cy="402335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5/7/2026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508852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822960" y="286604"/>
            <a:ext cx="75438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822960" y="1846052"/>
            <a:ext cx="370332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22960" y="2582334"/>
            <a:ext cx="3703320" cy="3286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63440" y="1846052"/>
            <a:ext cx="370332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63440" y="2582334"/>
            <a:ext cx="3703320" cy="3286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5/7/2026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155766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5/7/2026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355024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2382" y="6400800"/>
            <a:ext cx="9141619"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Y"/>
          </a:p>
        </p:txBody>
      </p:sp>
      <p:sp>
        <p:nvSpPr>
          <p:cNvPr id="6" name="Rectangle 5"/>
          <p:cNvSpPr/>
          <p:nvPr/>
        </p:nvSpPr>
        <p:spPr>
          <a:xfrm>
            <a:off x="12" y="6334316"/>
            <a:ext cx="9141619"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Y"/>
          </a:p>
        </p:txBody>
      </p:sp>
      <p:sp>
        <p:nvSpPr>
          <p:cNvPr id="7" name="Date Placeholder 6"/>
          <p:cNvSpPr>
            <a:spLocks noGrp="1"/>
          </p:cNvSpPr>
          <p:nvPr>
            <p:ph type="dt" sz="half" idx="10"/>
          </p:nvPr>
        </p:nvSpPr>
        <p:spPr/>
        <p:txBody>
          <a:bodyPr/>
          <a:lstStyle/>
          <a:p>
            <a:fld id="{5BCAD085-E8A6-8845-BD4E-CB4CCA059FC4}" type="datetimeFigureOut">
              <a:rPr lang="en-US" smtClean="0"/>
              <a:t>5/7/2026</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3253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3" y="0"/>
            <a:ext cx="3038093"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Y"/>
          </a:p>
        </p:txBody>
      </p:sp>
      <p:sp>
        <p:nvSpPr>
          <p:cNvPr id="9" name="Rectangle 8"/>
          <p:cNvSpPr/>
          <p:nvPr/>
        </p:nvSpPr>
        <p:spPr>
          <a:xfrm>
            <a:off x="3030053" y="0"/>
            <a:ext cx="48006"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Y"/>
          </a:p>
        </p:txBody>
      </p:sp>
      <p:sp>
        <p:nvSpPr>
          <p:cNvPr id="2" name="Title 1"/>
          <p:cNvSpPr>
            <a:spLocks noGrp="1"/>
          </p:cNvSpPr>
          <p:nvPr>
            <p:ph type="title"/>
          </p:nvPr>
        </p:nvSpPr>
        <p:spPr>
          <a:xfrm>
            <a:off x="342900" y="594359"/>
            <a:ext cx="24003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460237" y="731520"/>
            <a:ext cx="5009393"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342900" y="2926080"/>
            <a:ext cx="24003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349134" y="6459786"/>
            <a:ext cx="1963883" cy="365125"/>
          </a:xfrm>
        </p:spPr>
        <p:txBody>
          <a:bodyPr/>
          <a:lstStyle>
            <a:lvl1pPr algn="l">
              <a:defRPr/>
            </a:lvl1pPr>
          </a:lstStyle>
          <a:p>
            <a:fld id="{5BCAD085-E8A6-8845-BD4E-CB4CCA059FC4}" type="datetimeFigureOut">
              <a:rPr lang="en-US" smtClean="0"/>
              <a:t>5/7/2026</a:t>
            </a:fld>
            <a:endParaRPr lang="en-US"/>
          </a:p>
        </p:txBody>
      </p:sp>
      <p:sp>
        <p:nvSpPr>
          <p:cNvPr id="6" name="Footer Placeholder 5"/>
          <p:cNvSpPr>
            <a:spLocks noGrp="1"/>
          </p:cNvSpPr>
          <p:nvPr>
            <p:ph type="ftr" sz="quarter" idx="11"/>
          </p:nvPr>
        </p:nvSpPr>
        <p:spPr>
          <a:xfrm>
            <a:off x="3600450" y="6459786"/>
            <a:ext cx="348615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19690965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9141619"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Y"/>
          </a:p>
        </p:txBody>
      </p:sp>
      <p:sp>
        <p:nvSpPr>
          <p:cNvPr id="9" name="Rectangle 8"/>
          <p:cNvSpPr/>
          <p:nvPr/>
        </p:nvSpPr>
        <p:spPr>
          <a:xfrm>
            <a:off x="12" y="4915076"/>
            <a:ext cx="9141619"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Y"/>
          </a:p>
        </p:txBody>
      </p:sp>
      <p:sp>
        <p:nvSpPr>
          <p:cNvPr id="2" name="Title 1"/>
          <p:cNvSpPr>
            <a:spLocks noGrp="1"/>
          </p:cNvSpPr>
          <p:nvPr>
            <p:ph type="title"/>
          </p:nvPr>
        </p:nvSpPr>
        <p:spPr>
          <a:xfrm>
            <a:off x="822960" y="5074920"/>
            <a:ext cx="7589520" cy="822960"/>
          </a:xfrm>
        </p:spPr>
        <p:txBody>
          <a:bodyPr tIns="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2" y="0"/>
            <a:ext cx="9143989"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22959" y="5907024"/>
            <a:ext cx="7589520"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845799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5/7/2026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043406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2382" y="6400800"/>
            <a:ext cx="9141619"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Y"/>
          </a:p>
        </p:txBody>
      </p:sp>
      <p:sp>
        <p:nvSpPr>
          <p:cNvPr id="8" name="Rectangle 7"/>
          <p:cNvSpPr/>
          <p:nvPr/>
        </p:nvSpPr>
        <p:spPr>
          <a:xfrm>
            <a:off x="12" y="6334316"/>
            <a:ext cx="9141619"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Y"/>
          </a:p>
        </p:txBody>
      </p:sp>
      <p:sp>
        <p:nvSpPr>
          <p:cNvPr id="2" name="Vertical Title 1"/>
          <p:cNvSpPr>
            <a:spLocks noGrp="1"/>
          </p:cNvSpPr>
          <p:nvPr>
            <p:ph type="title" orient="vert"/>
          </p:nvPr>
        </p:nvSpPr>
        <p:spPr>
          <a:xfrm>
            <a:off x="6543675" y="414779"/>
            <a:ext cx="1971675"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414779"/>
            <a:ext cx="5800725" cy="5757420"/>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5/7/2026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716329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6400800"/>
            <a:ext cx="9144001"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Y"/>
          </a:p>
        </p:txBody>
      </p:sp>
      <p:sp>
        <p:nvSpPr>
          <p:cNvPr id="9" name="Rectangle 8"/>
          <p:cNvSpPr/>
          <p:nvPr/>
        </p:nvSpPr>
        <p:spPr>
          <a:xfrm>
            <a:off x="0" y="6334315"/>
            <a:ext cx="9144001" cy="6599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GY"/>
          </a:p>
        </p:txBody>
      </p:sp>
      <p:sp>
        <p:nvSpPr>
          <p:cNvPr id="2" name="Title Placeholder 1"/>
          <p:cNvSpPr>
            <a:spLocks noGrp="1"/>
          </p:cNvSpPr>
          <p:nvPr>
            <p:ph type="title"/>
          </p:nvPr>
        </p:nvSpPr>
        <p:spPr>
          <a:xfrm>
            <a:off x="822960" y="286604"/>
            <a:ext cx="75438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822959" y="1845734"/>
            <a:ext cx="7543801"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22961" y="6459786"/>
            <a:ext cx="1854203" cy="365125"/>
          </a:xfrm>
          <a:prstGeom prst="rect">
            <a:avLst/>
          </a:prstGeom>
        </p:spPr>
        <p:txBody>
          <a:bodyPr vert="horz" lIns="91440" tIns="45720" rIns="91440" bIns="45720" rtlCol="0" anchor="ctr"/>
          <a:lstStyle>
            <a:lvl1pPr algn="l">
              <a:defRPr sz="900">
                <a:solidFill>
                  <a:srgbClr val="FFFFFF"/>
                </a:solidFill>
              </a:defRPr>
            </a:lvl1pPr>
          </a:lstStyle>
          <a:p>
            <a:fld id="{5BCAD085-E8A6-8845-BD4E-CB4CCA059FC4}" type="datetimeFigureOut">
              <a:rPr lang="en-US" smtClean="0"/>
              <a:t>5/7/2026</a:t>
            </a:fld>
            <a:endParaRPr lang="en-US"/>
          </a:p>
        </p:txBody>
      </p:sp>
      <p:sp>
        <p:nvSpPr>
          <p:cNvPr id="5" name="Footer Placeholder 4"/>
          <p:cNvSpPr>
            <a:spLocks noGrp="1"/>
          </p:cNvSpPr>
          <p:nvPr>
            <p:ph type="ftr" sz="quarter" idx="3"/>
          </p:nvPr>
        </p:nvSpPr>
        <p:spPr>
          <a:xfrm>
            <a:off x="2764639" y="6459786"/>
            <a:ext cx="3617103"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7425344" y="6459786"/>
            <a:ext cx="984019" cy="365125"/>
          </a:xfrm>
          <a:prstGeom prst="rect">
            <a:avLst/>
          </a:prstGeom>
        </p:spPr>
        <p:txBody>
          <a:bodyPr vert="horz" lIns="91440" tIns="45720" rIns="91440" bIns="45720" rtlCol="0" anchor="ctr"/>
          <a:lstStyle>
            <a:lvl1pPr algn="r">
              <a:defRPr sz="1050">
                <a:solidFill>
                  <a:srgbClr val="FFFFFF"/>
                </a:solidFill>
              </a:defRPr>
            </a:lvl1pPr>
          </a:lstStyle>
          <a:p>
            <a:fld id="{C1FF6DA9-008F-8B48-92A6-B652298478BF}" type="slidenum">
              <a:rPr lang="en-US" smtClean="0"/>
              <a:t>‹#›</a:t>
            </a:fld>
            <a:endParaRPr lang="en-US"/>
          </a:p>
        </p:txBody>
      </p:sp>
      <p:cxnSp>
        <p:nvCxnSpPr>
          <p:cNvPr id="10" name="Straight Connector 9"/>
          <p:cNvCxnSpPr/>
          <p:nvPr/>
        </p:nvCxnSpPr>
        <p:spPr>
          <a:xfrm>
            <a:off x="895149" y="1737845"/>
            <a:ext cx="74752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743888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6.jpg"/></Relationships>
</file>

<file path=ppt/slides/_rels/slide1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package" Target="../embeddings/Microsoft_Word_Document.docx"/><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8.emf"/></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FB9A1D-4A98-45A0-FC69-E2676BB81B62}"/>
              </a:ext>
            </a:extLst>
          </p:cNvPr>
          <p:cNvSpPr>
            <a:spLocks noGrp="1"/>
          </p:cNvSpPr>
          <p:nvPr>
            <p:ph type="title"/>
          </p:nvPr>
        </p:nvSpPr>
        <p:spPr>
          <a:xfrm>
            <a:off x="457200" y="1966393"/>
            <a:ext cx="8229600" cy="2076218"/>
          </a:xfrm>
        </p:spPr>
        <p:txBody>
          <a:bodyPr>
            <a:noAutofit/>
          </a:bodyPr>
          <a:lstStyle/>
          <a:p>
            <a:pPr algn="ctr"/>
            <a:r>
              <a:rPr lang="en-US" sz="5400" b="1" dirty="0"/>
              <a:t>Healthcare Data Cleaning Pipeline</a:t>
            </a:r>
            <a:br>
              <a:rPr lang="en-US" sz="5400" dirty="0"/>
            </a:br>
            <a:endParaRPr lang="en-GY" sz="5400" dirty="0"/>
          </a:p>
        </p:txBody>
      </p:sp>
      <p:sp>
        <p:nvSpPr>
          <p:cNvPr id="3" name="Content Placeholder 2">
            <a:extLst>
              <a:ext uri="{FF2B5EF4-FFF2-40B4-BE49-F238E27FC236}">
                <a16:creationId xmlns:a16="http://schemas.microsoft.com/office/drawing/2014/main" id="{B01104F0-D9CD-6997-0DF8-46748DF36C80}"/>
              </a:ext>
            </a:extLst>
          </p:cNvPr>
          <p:cNvSpPr>
            <a:spLocks noGrp="1"/>
          </p:cNvSpPr>
          <p:nvPr>
            <p:ph idx="1"/>
          </p:nvPr>
        </p:nvSpPr>
        <p:spPr>
          <a:xfrm>
            <a:off x="457200" y="4366870"/>
            <a:ext cx="8229600" cy="1374281"/>
          </a:xfrm>
        </p:spPr>
        <p:txBody>
          <a:bodyPr>
            <a:normAutofit/>
          </a:bodyPr>
          <a:lstStyle/>
          <a:p>
            <a:r>
              <a:rPr lang="en-US" sz="1800" dirty="0"/>
              <a:t>Name: Tynisha Niles</a:t>
            </a:r>
          </a:p>
          <a:p>
            <a:r>
              <a:rPr lang="en-US" sz="1800" dirty="0"/>
              <a:t>Role: Data Analyst</a:t>
            </a:r>
          </a:p>
          <a:p>
            <a:r>
              <a:rPr lang="en-US" sz="1800" dirty="0"/>
              <a:t>Date: May 8, 2026</a:t>
            </a:r>
            <a:endParaRPr lang="en-GY" sz="1800" dirty="0"/>
          </a:p>
        </p:txBody>
      </p:sp>
    </p:spTree>
    <p:extLst>
      <p:ext uri="{BB962C8B-B14F-4D97-AF65-F5344CB8AC3E}">
        <p14:creationId xmlns:p14="http://schemas.microsoft.com/office/powerpoint/2010/main" val="9707706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F4A6BD-3439-0DE8-D636-626F98C9F5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782F4A-4334-40C1-20F8-20BABAF82D67}"/>
              </a:ext>
            </a:extLst>
          </p:cNvPr>
          <p:cNvSpPr>
            <a:spLocks noGrp="1"/>
          </p:cNvSpPr>
          <p:nvPr>
            <p:ph type="title"/>
          </p:nvPr>
        </p:nvSpPr>
        <p:spPr/>
        <p:txBody>
          <a:bodyPr/>
          <a:lstStyle/>
          <a:p>
            <a:r>
              <a:t>The Dataset</a:t>
            </a:r>
          </a:p>
        </p:txBody>
      </p:sp>
      <p:sp>
        <p:nvSpPr>
          <p:cNvPr id="3" name="Content Placeholder 2">
            <a:extLst>
              <a:ext uri="{FF2B5EF4-FFF2-40B4-BE49-F238E27FC236}">
                <a16:creationId xmlns:a16="http://schemas.microsoft.com/office/drawing/2014/main" id="{154F9462-17C4-5E44-E5AF-3789E4F5066F}"/>
              </a:ext>
            </a:extLst>
          </p:cNvPr>
          <p:cNvSpPr>
            <a:spLocks noGrp="1"/>
          </p:cNvSpPr>
          <p:nvPr>
            <p:ph idx="1"/>
          </p:nvPr>
        </p:nvSpPr>
        <p:spPr>
          <a:xfrm>
            <a:off x="822960" y="1737361"/>
            <a:ext cx="7543801" cy="4834035"/>
          </a:xfrm>
        </p:spPr>
        <p:txBody>
          <a:bodyPr>
            <a:normAutofit/>
          </a:bodyPr>
          <a:lstStyle/>
          <a:p>
            <a:pPr marL="0" indent="0">
              <a:buNone/>
            </a:pPr>
            <a:r>
              <a:rPr lang="en-US" dirty="0"/>
              <a:t>  </a:t>
            </a:r>
          </a:p>
          <a:p>
            <a:pPr marL="0" indent="0">
              <a:buNone/>
            </a:pPr>
            <a:endParaRPr lang="en-US" dirty="0"/>
          </a:p>
          <a:p>
            <a:pPr marL="0" indent="0">
              <a:buNone/>
            </a:pPr>
            <a:endParaRPr lang="en-US" dirty="0"/>
          </a:p>
          <a:p>
            <a:pPr marL="0" indent="0">
              <a:buNone/>
            </a:pPr>
            <a:endParaRPr lang="en-US" dirty="0"/>
          </a:p>
          <a:p>
            <a:pPr marL="0" indent="0">
              <a:buNone/>
            </a:pPr>
            <a:endParaRPr lang="en-US" dirty="0"/>
          </a:p>
          <a:p>
            <a:pPr marL="0" indent="0">
              <a:buNone/>
            </a:pPr>
            <a:endParaRPr lang="en-US" b="1" dirty="0"/>
          </a:p>
          <a:p>
            <a:pPr marL="0" indent="0">
              <a:buNone/>
            </a:pPr>
            <a:endParaRPr dirty="0"/>
          </a:p>
        </p:txBody>
      </p:sp>
      <p:graphicFrame>
        <p:nvGraphicFramePr>
          <p:cNvPr id="4" name="Table 3">
            <a:extLst>
              <a:ext uri="{FF2B5EF4-FFF2-40B4-BE49-F238E27FC236}">
                <a16:creationId xmlns:a16="http://schemas.microsoft.com/office/drawing/2014/main" id="{F61A0455-B732-0018-D206-EFEBD7BE231D}"/>
              </a:ext>
            </a:extLst>
          </p:cNvPr>
          <p:cNvGraphicFramePr>
            <a:graphicFrameLocks noGrp="1"/>
          </p:cNvGraphicFramePr>
          <p:nvPr>
            <p:extLst>
              <p:ext uri="{D42A27DB-BD31-4B8C-83A1-F6EECF244321}">
                <p14:modId xmlns:p14="http://schemas.microsoft.com/office/powerpoint/2010/main" val="1338396981"/>
              </p:ext>
            </p:extLst>
          </p:nvPr>
        </p:nvGraphicFramePr>
        <p:xfrm>
          <a:off x="822960" y="1911350"/>
          <a:ext cx="7543800" cy="3484880"/>
        </p:xfrm>
        <a:graphic>
          <a:graphicData uri="http://schemas.openxmlformats.org/drawingml/2006/table">
            <a:tbl>
              <a:tblPr firstRow="1" bandRow="1">
                <a:tableStyleId>{5C22544A-7EE6-4342-B048-85BDC9FD1C3A}</a:tableStyleId>
              </a:tblPr>
              <a:tblGrid>
                <a:gridCol w="2777490">
                  <a:extLst>
                    <a:ext uri="{9D8B030D-6E8A-4147-A177-3AD203B41FA5}">
                      <a16:colId xmlns:a16="http://schemas.microsoft.com/office/drawing/2014/main" val="3061944719"/>
                    </a:ext>
                  </a:extLst>
                </a:gridCol>
                <a:gridCol w="4766310">
                  <a:extLst>
                    <a:ext uri="{9D8B030D-6E8A-4147-A177-3AD203B41FA5}">
                      <a16:colId xmlns:a16="http://schemas.microsoft.com/office/drawing/2014/main" val="3069582421"/>
                    </a:ext>
                  </a:extLst>
                </a:gridCol>
              </a:tblGrid>
              <a:tr h="370840">
                <a:tc>
                  <a:txBody>
                    <a:bodyPr/>
                    <a:lstStyle/>
                    <a:p>
                      <a:endParaRPr lang="en-GY" dirty="0"/>
                    </a:p>
                  </a:txBody>
                  <a:tcPr/>
                </a:tc>
                <a:tc>
                  <a:txBody>
                    <a:bodyPr/>
                    <a:lstStyle/>
                    <a:p>
                      <a:endParaRPr lang="en-GY"/>
                    </a:p>
                  </a:txBody>
                  <a:tcPr/>
                </a:tc>
                <a:extLst>
                  <a:ext uri="{0D108BD9-81ED-4DB2-BD59-A6C34878D82A}">
                    <a16:rowId xmlns:a16="http://schemas.microsoft.com/office/drawing/2014/main" val="1276063763"/>
                  </a:ext>
                </a:extLst>
              </a:tr>
              <a:tr h="370840">
                <a:tc>
                  <a:txBody>
                    <a:bodyPr/>
                    <a:lstStyle/>
                    <a:p>
                      <a:r>
                        <a:rPr lang="en-US" b="1" dirty="0"/>
                        <a:t> What it is</a:t>
                      </a:r>
                      <a:endParaRPr lang="en-GY"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Healthcare patient dataset containing demographic, visit, and medical information. Includes inconsistencies, duplicates, and missing values.</a:t>
                      </a:r>
                    </a:p>
                    <a:p>
                      <a:endParaRPr lang="en-GY" dirty="0"/>
                    </a:p>
                  </a:txBody>
                  <a:tcPr/>
                </a:tc>
                <a:extLst>
                  <a:ext uri="{0D108BD9-81ED-4DB2-BD59-A6C34878D82A}">
                    <a16:rowId xmlns:a16="http://schemas.microsoft.com/office/drawing/2014/main" val="920286165"/>
                  </a:ext>
                </a:extLst>
              </a:tr>
              <a:tr h="370840">
                <a:tc>
                  <a:txBody>
                    <a:bodyPr/>
                    <a:lstStyle/>
                    <a:p>
                      <a:r>
                        <a:rPr lang="en-US" b="1" dirty="0"/>
                        <a:t> Source</a:t>
                      </a:r>
                      <a:endParaRPr lang="en-GY" dirty="0"/>
                    </a:p>
                  </a:txBody>
                  <a:tcPr/>
                </a:tc>
                <a:tc>
                  <a:txBody>
                    <a:bodyPr/>
                    <a:lstStyle/>
                    <a:p>
                      <a:r>
                        <a:rPr lang="en-US" dirty="0"/>
                        <a:t>Provided as part of the healthcare data cleaning assignment</a:t>
                      </a:r>
                      <a:endParaRPr lang="en-GY" dirty="0"/>
                    </a:p>
                  </a:txBody>
                  <a:tcPr/>
                </a:tc>
                <a:extLst>
                  <a:ext uri="{0D108BD9-81ED-4DB2-BD59-A6C34878D82A}">
                    <a16:rowId xmlns:a16="http://schemas.microsoft.com/office/drawing/2014/main" val="1099923769"/>
                  </a:ext>
                </a:extLst>
              </a:tr>
              <a:tr h="370840">
                <a:tc>
                  <a:txBody>
                    <a:bodyPr/>
                    <a:lstStyle/>
                    <a:p>
                      <a:r>
                        <a:rPr lang="en-US" b="1" dirty="0"/>
                        <a:t> Raw dataset size</a:t>
                      </a:r>
                      <a:endParaRPr lang="en-GY" dirty="0"/>
                    </a:p>
                  </a:txBody>
                  <a:tcPr/>
                </a:tc>
                <a:tc>
                  <a:txBody>
                    <a:bodyPr/>
                    <a:lstStyle/>
                    <a:p>
                      <a:r>
                        <a:rPr lang="en-US" dirty="0"/>
                        <a:t>approximately 1000 observations and 10 variables</a:t>
                      </a:r>
                      <a:endParaRPr lang="en-GY" dirty="0"/>
                    </a:p>
                  </a:txBody>
                  <a:tcPr/>
                </a:tc>
                <a:extLst>
                  <a:ext uri="{0D108BD9-81ED-4DB2-BD59-A6C34878D82A}">
                    <a16:rowId xmlns:a16="http://schemas.microsoft.com/office/drawing/2014/main" val="1255711376"/>
                  </a:ext>
                </a:extLst>
              </a:tr>
              <a:tr h="370840">
                <a:tc>
                  <a:txBody>
                    <a:bodyPr/>
                    <a:lstStyle/>
                    <a:p>
                      <a:r>
                        <a:rPr lang="en-US" b="1" dirty="0"/>
                        <a:t>Date of download/access</a:t>
                      </a:r>
                      <a:endParaRPr lang="en-GY" dirty="0"/>
                    </a:p>
                  </a:txBody>
                  <a:tcPr/>
                </a:tc>
                <a:tc>
                  <a:txBody>
                    <a:bodyPr/>
                    <a:lstStyle/>
                    <a:p>
                      <a:r>
                        <a:rPr lang="en-US" dirty="0"/>
                        <a:t>Tuesday, April 21, 2026</a:t>
                      </a:r>
                      <a:endParaRPr lang="en-GY" dirty="0"/>
                    </a:p>
                  </a:txBody>
                  <a:tcPr/>
                </a:tc>
                <a:extLst>
                  <a:ext uri="{0D108BD9-81ED-4DB2-BD59-A6C34878D82A}">
                    <a16:rowId xmlns:a16="http://schemas.microsoft.com/office/drawing/2014/main" val="688296296"/>
                  </a:ext>
                </a:extLst>
              </a:tr>
            </a:tbl>
          </a:graphicData>
        </a:graphic>
      </p:graphicFrame>
    </p:spTree>
    <p:extLst>
      <p:ext uri="{BB962C8B-B14F-4D97-AF65-F5344CB8AC3E}">
        <p14:creationId xmlns:p14="http://schemas.microsoft.com/office/powerpoint/2010/main" val="38055467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Objective</a:t>
            </a:r>
          </a:p>
        </p:txBody>
      </p:sp>
      <p:sp>
        <p:nvSpPr>
          <p:cNvPr id="3" name="Content Placeholder 2"/>
          <p:cNvSpPr>
            <a:spLocks noGrp="1"/>
          </p:cNvSpPr>
          <p:nvPr>
            <p:ph idx="1"/>
          </p:nvPr>
        </p:nvSpPr>
        <p:spPr>
          <a:xfrm>
            <a:off x="822959" y="1845734"/>
            <a:ext cx="7543801" cy="4330214"/>
          </a:xfrm>
        </p:spPr>
        <p:txBody>
          <a:bodyPr>
            <a:normAutofit fontScale="92500" lnSpcReduction="10000"/>
          </a:bodyPr>
          <a:lstStyle/>
          <a:p>
            <a:r>
              <a:rPr dirty="0"/>
              <a:t>To transform a messy healthcare dataset into a clean, analysis-ready dataset using a structured pipeline.</a:t>
            </a:r>
          </a:p>
          <a:p>
            <a:pPr marL="0" indent="0">
              <a:buNone/>
            </a:pPr>
            <a:endParaRPr dirty="0"/>
          </a:p>
          <a:p>
            <a:r>
              <a:rPr dirty="0"/>
              <a:t>Scoped variables:</a:t>
            </a:r>
          </a:p>
          <a:p>
            <a:pPr>
              <a:buFont typeface="Wingdings" panose="05000000000000000000" pitchFamily="2" charset="2"/>
              <a:buChar char="ü"/>
            </a:pPr>
            <a:r>
              <a:rPr dirty="0"/>
              <a:t>Patient Name</a:t>
            </a:r>
          </a:p>
          <a:p>
            <a:pPr>
              <a:buFont typeface="Wingdings" panose="05000000000000000000" pitchFamily="2" charset="2"/>
              <a:buChar char="ü"/>
            </a:pPr>
            <a:r>
              <a:rPr dirty="0"/>
              <a:t> Gender</a:t>
            </a:r>
          </a:p>
          <a:p>
            <a:pPr>
              <a:buFont typeface="Wingdings" panose="05000000000000000000" pitchFamily="2" charset="2"/>
              <a:buChar char="ü"/>
            </a:pPr>
            <a:r>
              <a:rPr dirty="0"/>
              <a:t> Age</a:t>
            </a:r>
          </a:p>
          <a:p>
            <a:pPr>
              <a:buFont typeface="Wingdings" panose="05000000000000000000" pitchFamily="2" charset="2"/>
              <a:buChar char="ü"/>
            </a:pPr>
            <a:r>
              <a:rPr dirty="0"/>
              <a:t> Condition</a:t>
            </a:r>
          </a:p>
          <a:p>
            <a:pPr>
              <a:buFont typeface="Wingdings" panose="05000000000000000000" pitchFamily="2" charset="2"/>
              <a:buChar char="ü"/>
            </a:pPr>
            <a:r>
              <a:rPr dirty="0"/>
              <a:t> Medication</a:t>
            </a:r>
          </a:p>
          <a:p>
            <a:pPr>
              <a:buFont typeface="Wingdings" panose="05000000000000000000" pitchFamily="2" charset="2"/>
              <a:buChar char="ü"/>
            </a:pPr>
            <a:r>
              <a:rPr dirty="0"/>
              <a:t> Visit Date</a:t>
            </a:r>
          </a:p>
          <a:p>
            <a:pPr>
              <a:buFont typeface="Wingdings" panose="05000000000000000000" pitchFamily="2" charset="2"/>
              <a:buChar char="ü"/>
            </a:pPr>
            <a:r>
              <a:rPr dirty="0"/>
              <a:t> Phone Number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Pipeline Architecture</a:t>
            </a:r>
          </a:p>
        </p:txBody>
      </p:sp>
      <p:sp>
        <p:nvSpPr>
          <p:cNvPr id="3" name="Content Placeholder 2"/>
          <p:cNvSpPr>
            <a:spLocks noGrp="1"/>
          </p:cNvSpPr>
          <p:nvPr>
            <p:ph idx="1"/>
          </p:nvPr>
        </p:nvSpPr>
        <p:spPr>
          <a:xfrm>
            <a:off x="262328" y="2520292"/>
            <a:ext cx="8619343" cy="2201610"/>
          </a:xfrm>
        </p:spPr>
        <p:txBody>
          <a:bodyPr>
            <a:noAutofit/>
          </a:bodyPr>
          <a:lstStyle/>
          <a:p>
            <a:r>
              <a:rPr sz="3200" dirty="0"/>
              <a:t>Raw Data </a:t>
            </a:r>
            <a:r>
              <a:rPr sz="3200" b="1" dirty="0"/>
              <a:t>→</a:t>
            </a:r>
            <a:r>
              <a:rPr sz="3200" dirty="0"/>
              <a:t> 01_ingest.R </a:t>
            </a:r>
            <a:r>
              <a:rPr sz="3200" b="1" dirty="0"/>
              <a:t>→</a:t>
            </a:r>
            <a:r>
              <a:rPr sz="3200" dirty="0"/>
              <a:t> 02_diagnose.R </a:t>
            </a:r>
            <a:r>
              <a:rPr sz="3200" b="1" dirty="0"/>
              <a:t>→</a:t>
            </a:r>
            <a:endParaRPr lang="en-US" sz="3200" b="1" dirty="0"/>
          </a:p>
          <a:p>
            <a:r>
              <a:rPr sz="3200" dirty="0"/>
              <a:t> 03_cleaning.R </a:t>
            </a:r>
            <a:r>
              <a:rPr sz="3200" b="1" dirty="0"/>
              <a:t>→</a:t>
            </a:r>
            <a:r>
              <a:rPr sz="3200" dirty="0"/>
              <a:t> 04_impute.R </a:t>
            </a:r>
            <a:r>
              <a:rPr sz="3200" b="1" dirty="0"/>
              <a:t>→</a:t>
            </a:r>
            <a:r>
              <a:rPr sz="3200" dirty="0"/>
              <a:t> 05_dictionary.R</a:t>
            </a:r>
            <a:endParaRPr lang="en-US" sz="3200" dirty="0"/>
          </a:p>
          <a:p>
            <a:r>
              <a:rPr sz="3200" dirty="0"/>
              <a:t> </a:t>
            </a:r>
            <a:r>
              <a:rPr sz="3200" b="1" dirty="0"/>
              <a:t>→</a:t>
            </a:r>
            <a:r>
              <a:rPr sz="3200" dirty="0"/>
              <a:t> 06_export.R </a:t>
            </a:r>
            <a:r>
              <a:rPr sz="3200" b="1" dirty="0"/>
              <a:t>→</a:t>
            </a:r>
            <a:r>
              <a:rPr sz="3200" dirty="0"/>
              <a:t> 07_report.Rmd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D1EB2-6788-FC97-C345-DAF0B1AA65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3958DC-4F24-EC90-1C94-39FBE7D4AC85}"/>
              </a:ext>
            </a:extLst>
          </p:cNvPr>
          <p:cNvSpPr>
            <a:spLocks noGrp="1"/>
          </p:cNvSpPr>
          <p:nvPr>
            <p:ph type="title"/>
          </p:nvPr>
        </p:nvSpPr>
        <p:spPr/>
        <p:txBody>
          <a:bodyPr/>
          <a:lstStyle/>
          <a:p>
            <a:r>
              <a:rPr dirty="0"/>
              <a:t>Pipeline Architecture</a:t>
            </a:r>
          </a:p>
        </p:txBody>
      </p:sp>
      <p:graphicFrame>
        <p:nvGraphicFramePr>
          <p:cNvPr id="4" name="Content Placeholder 3">
            <a:extLst>
              <a:ext uri="{FF2B5EF4-FFF2-40B4-BE49-F238E27FC236}">
                <a16:creationId xmlns:a16="http://schemas.microsoft.com/office/drawing/2014/main" id="{E9995181-0501-6F7F-ACFF-9B946A6967CA}"/>
              </a:ext>
            </a:extLst>
          </p:cNvPr>
          <p:cNvGraphicFramePr>
            <a:graphicFrameLocks noGrp="1"/>
          </p:cNvGraphicFramePr>
          <p:nvPr>
            <p:ph idx="1"/>
            <p:extLst>
              <p:ext uri="{D42A27DB-BD31-4B8C-83A1-F6EECF244321}">
                <p14:modId xmlns:p14="http://schemas.microsoft.com/office/powerpoint/2010/main" val="3222892186"/>
              </p:ext>
            </p:extLst>
          </p:nvPr>
        </p:nvGraphicFramePr>
        <p:xfrm>
          <a:off x="2146433" y="2478505"/>
          <a:ext cx="4266399" cy="290754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TextBox 4">
            <a:extLst>
              <a:ext uri="{FF2B5EF4-FFF2-40B4-BE49-F238E27FC236}">
                <a16:creationId xmlns:a16="http://schemas.microsoft.com/office/drawing/2014/main" id="{5BA08D0B-B8C8-827E-7E1C-99733F7AD9B9}"/>
              </a:ext>
            </a:extLst>
          </p:cNvPr>
          <p:cNvSpPr txBox="1"/>
          <p:nvPr/>
        </p:nvSpPr>
        <p:spPr>
          <a:xfrm>
            <a:off x="1716767" y="2101238"/>
            <a:ext cx="1379095" cy="369332"/>
          </a:xfrm>
          <a:prstGeom prst="rect">
            <a:avLst/>
          </a:prstGeom>
          <a:noFill/>
        </p:spPr>
        <p:txBody>
          <a:bodyPr wrap="square" rtlCol="0">
            <a:spAutoFit/>
          </a:bodyPr>
          <a:lstStyle/>
          <a:p>
            <a:r>
              <a:rPr lang="en-US" dirty="0"/>
              <a:t>RAW DATA</a:t>
            </a:r>
            <a:endParaRPr lang="en-GY" dirty="0"/>
          </a:p>
        </p:txBody>
      </p:sp>
      <p:sp>
        <p:nvSpPr>
          <p:cNvPr id="6" name="TextBox 5">
            <a:extLst>
              <a:ext uri="{FF2B5EF4-FFF2-40B4-BE49-F238E27FC236}">
                <a16:creationId xmlns:a16="http://schemas.microsoft.com/office/drawing/2014/main" id="{2D764794-054C-F874-65B3-F943C1BA5576}"/>
              </a:ext>
            </a:extLst>
          </p:cNvPr>
          <p:cNvSpPr txBox="1"/>
          <p:nvPr/>
        </p:nvSpPr>
        <p:spPr>
          <a:xfrm>
            <a:off x="1519332" y="5393986"/>
            <a:ext cx="2038662" cy="369332"/>
          </a:xfrm>
          <a:prstGeom prst="rect">
            <a:avLst/>
          </a:prstGeom>
          <a:noFill/>
        </p:spPr>
        <p:txBody>
          <a:bodyPr wrap="square" rtlCol="0">
            <a:spAutoFit/>
          </a:bodyPr>
          <a:lstStyle/>
          <a:p>
            <a:r>
              <a:rPr lang="en-US" dirty="0"/>
              <a:t>CLEANED DATA</a:t>
            </a:r>
            <a:endParaRPr lang="en-GY" dirty="0"/>
          </a:p>
        </p:txBody>
      </p:sp>
    </p:spTree>
    <p:extLst>
      <p:ext uri="{BB962C8B-B14F-4D97-AF65-F5344CB8AC3E}">
        <p14:creationId xmlns:p14="http://schemas.microsoft.com/office/powerpoint/2010/main" val="32653679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Top Data Quality Issues</a:t>
            </a:r>
          </a:p>
        </p:txBody>
      </p:sp>
      <p:sp>
        <p:nvSpPr>
          <p:cNvPr id="3" name="Content Placeholder 2"/>
          <p:cNvSpPr>
            <a:spLocks noGrp="1"/>
          </p:cNvSpPr>
          <p:nvPr>
            <p:ph idx="1"/>
          </p:nvPr>
        </p:nvSpPr>
        <p:spPr>
          <a:xfrm>
            <a:off x="822959" y="2087458"/>
            <a:ext cx="7940041" cy="3069166"/>
          </a:xfrm>
        </p:spPr>
        <p:txBody>
          <a:bodyPr/>
          <a:lstStyle/>
          <a:p>
            <a:pPr>
              <a:buFont typeface="Arial" panose="020B0604020202020204" pitchFamily="34" charset="0"/>
              <a:buChar char="•"/>
            </a:pPr>
            <a:r>
              <a:rPr lang="en-US" dirty="0"/>
              <a:t>   </a:t>
            </a:r>
            <a:r>
              <a:rPr dirty="0"/>
              <a:t>Duplicate patient records</a:t>
            </a:r>
            <a:r>
              <a:rPr lang="en-US" dirty="0"/>
              <a:t> identified across repeated patient names</a:t>
            </a:r>
            <a:endParaRPr dirty="0"/>
          </a:p>
          <a:p>
            <a:pPr>
              <a:buFont typeface="Arial" panose="020B0604020202020204" pitchFamily="34" charset="0"/>
              <a:buChar char="•"/>
            </a:pPr>
            <a:r>
              <a:rPr lang="en-US" dirty="0"/>
              <a:t>   </a:t>
            </a:r>
            <a:r>
              <a:rPr dirty="0"/>
              <a:t>Inconsistent categorical values</a:t>
            </a:r>
            <a:r>
              <a:rPr lang="en-US" dirty="0"/>
              <a:t> in Gender and Medication fields</a:t>
            </a:r>
            <a:endParaRPr dirty="0"/>
          </a:p>
          <a:p>
            <a:pPr>
              <a:buFont typeface="Arial" panose="020B0604020202020204" pitchFamily="34" charset="0"/>
              <a:buChar char="•"/>
            </a:pPr>
            <a:r>
              <a:rPr lang="en-US" dirty="0"/>
              <a:t>  </a:t>
            </a:r>
            <a:r>
              <a:rPr dirty="0"/>
              <a:t>Mixed data types in Age</a:t>
            </a:r>
            <a:r>
              <a:rPr lang="en-US" dirty="0"/>
              <a:t> including numeric values, text values (“forty”) and         NAN</a:t>
            </a:r>
            <a:endParaRPr dirty="0"/>
          </a:p>
          <a:p>
            <a:pPr>
              <a:buFont typeface="Arial" panose="020B0604020202020204" pitchFamily="34" charset="0"/>
              <a:buChar char="•"/>
            </a:pPr>
            <a:r>
              <a:rPr lang="en-US" dirty="0"/>
              <a:t>   </a:t>
            </a:r>
            <a:r>
              <a:rPr dirty="0"/>
              <a:t>Missing values</a:t>
            </a:r>
            <a:r>
              <a:rPr lang="en-US" dirty="0"/>
              <a:t> in Age and Phone number</a:t>
            </a:r>
            <a:endParaRPr dirty="0"/>
          </a:p>
          <a:p>
            <a:pPr>
              <a:buFont typeface="Arial" panose="020B0604020202020204" pitchFamily="34" charset="0"/>
              <a:buChar char="•"/>
            </a:pPr>
            <a:r>
              <a:rPr lang="en-US" dirty="0"/>
              <a:t>   </a:t>
            </a:r>
            <a:r>
              <a:rPr dirty="0"/>
              <a:t>Inconsistent date formats</a:t>
            </a:r>
            <a:r>
              <a:rPr lang="en-US" dirty="0"/>
              <a:t> multiple date formats detected.</a:t>
            </a:r>
            <a:endParaRP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2DFEC-01EE-8812-2864-18F0944A49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5A167A-05F2-FBB8-6373-0C20A3CA7A8D}"/>
              </a:ext>
            </a:extLst>
          </p:cNvPr>
          <p:cNvSpPr>
            <a:spLocks noGrp="1"/>
          </p:cNvSpPr>
          <p:nvPr>
            <p:ph type="title"/>
          </p:nvPr>
        </p:nvSpPr>
        <p:spPr/>
        <p:txBody>
          <a:bodyPr/>
          <a:lstStyle/>
          <a:p>
            <a:r>
              <a:t>How You Cleaned It</a:t>
            </a:r>
          </a:p>
        </p:txBody>
      </p:sp>
      <p:graphicFrame>
        <p:nvGraphicFramePr>
          <p:cNvPr id="4" name="Content Placeholder 3">
            <a:extLst>
              <a:ext uri="{FF2B5EF4-FFF2-40B4-BE49-F238E27FC236}">
                <a16:creationId xmlns:a16="http://schemas.microsoft.com/office/drawing/2014/main" id="{D423EEDC-CC5B-07DB-F14F-6894969942F1}"/>
              </a:ext>
            </a:extLst>
          </p:cNvPr>
          <p:cNvGraphicFramePr>
            <a:graphicFrameLocks noGrp="1"/>
          </p:cNvGraphicFramePr>
          <p:nvPr>
            <p:ph idx="1"/>
            <p:extLst>
              <p:ext uri="{D42A27DB-BD31-4B8C-83A1-F6EECF244321}">
                <p14:modId xmlns:p14="http://schemas.microsoft.com/office/powerpoint/2010/main" val="4107009946"/>
              </p:ext>
            </p:extLst>
          </p:nvPr>
        </p:nvGraphicFramePr>
        <p:xfrm>
          <a:off x="452788" y="1846263"/>
          <a:ext cx="8238423" cy="3768474"/>
        </p:xfrm>
        <a:graphic>
          <a:graphicData uri="http://schemas.openxmlformats.org/drawingml/2006/table">
            <a:tbl>
              <a:tblPr firstRow="1" bandRow="1">
                <a:tableStyleId>{5C22544A-7EE6-4342-B048-85BDC9FD1C3A}</a:tableStyleId>
              </a:tblPr>
              <a:tblGrid>
                <a:gridCol w="3092213">
                  <a:extLst>
                    <a:ext uri="{9D8B030D-6E8A-4147-A177-3AD203B41FA5}">
                      <a16:colId xmlns:a16="http://schemas.microsoft.com/office/drawing/2014/main" val="3901641270"/>
                    </a:ext>
                  </a:extLst>
                </a:gridCol>
                <a:gridCol w="5146210">
                  <a:extLst>
                    <a:ext uri="{9D8B030D-6E8A-4147-A177-3AD203B41FA5}">
                      <a16:colId xmlns:a16="http://schemas.microsoft.com/office/drawing/2014/main" val="2799488444"/>
                    </a:ext>
                  </a:extLst>
                </a:gridCol>
              </a:tblGrid>
              <a:tr h="414540">
                <a:tc>
                  <a:txBody>
                    <a:bodyPr/>
                    <a:lstStyle/>
                    <a:p>
                      <a:pPr algn="ctr"/>
                      <a:r>
                        <a:rPr lang="en-US" dirty="0"/>
                        <a:t>Issue</a:t>
                      </a:r>
                      <a:endParaRPr lang="en-GY" dirty="0"/>
                    </a:p>
                  </a:txBody>
                  <a:tcPr/>
                </a:tc>
                <a:tc>
                  <a:txBody>
                    <a:bodyPr/>
                    <a:lstStyle/>
                    <a:p>
                      <a:pPr algn="ctr"/>
                      <a:r>
                        <a:rPr lang="en-US" dirty="0"/>
                        <a:t>Cleaning Action</a:t>
                      </a:r>
                      <a:endParaRPr lang="en-GY" dirty="0"/>
                    </a:p>
                  </a:txBody>
                  <a:tcPr/>
                </a:tc>
                <a:extLst>
                  <a:ext uri="{0D108BD9-81ED-4DB2-BD59-A6C34878D82A}">
                    <a16:rowId xmlns:a16="http://schemas.microsoft.com/office/drawing/2014/main" val="4096757118"/>
                  </a:ext>
                </a:extLst>
              </a:tr>
              <a:tr h="748183">
                <a:tc>
                  <a:txBody>
                    <a:bodyPr/>
                    <a:lstStyle/>
                    <a:p>
                      <a:pPr>
                        <a:lnSpc>
                          <a:spcPct val="107000"/>
                        </a:lnSpc>
                        <a:spcAft>
                          <a:spcPts val="800"/>
                        </a:spcAft>
                        <a:buNone/>
                      </a:pPr>
                      <a:r>
                        <a:rPr lang="en-US" sz="1800" kern="100" dirty="0">
                          <a:effectLst/>
                          <a:latin typeface="+mn-lt"/>
                          <a:ea typeface="Aptos" panose="020B0004020202020204" pitchFamily="34" charset="0"/>
                          <a:cs typeface="Times New Roman" panose="02020603050405020304" pitchFamily="18" charset="0"/>
                        </a:rPr>
                        <a:t>Patient identifier inconsistency</a:t>
                      </a:r>
                      <a:endParaRPr lang="en-GY" sz="1800" kern="100" dirty="0">
                        <a:effectLst/>
                        <a:latin typeface="+mn-lt"/>
                        <a:ea typeface="Aptos" panose="020B0004020202020204" pitchFamily="34" charset="0"/>
                        <a:cs typeface="Times New Roman" panose="02020603050405020304" pitchFamily="18" charset="0"/>
                      </a:endParaRPr>
                    </a:p>
                  </a:txBody>
                  <a:tcPr/>
                </a:tc>
                <a:tc>
                  <a:txBody>
                    <a:bodyPr/>
                    <a:lstStyle/>
                    <a:p>
                      <a:pPr marL="0" marR="0" lvl="0" indent="0" algn="l" defTabSz="914400" rtl="0" eaLnBrk="1" fontAlgn="auto" latinLnBrk="0" hangingPunct="1">
                        <a:lnSpc>
                          <a:spcPct val="107000"/>
                        </a:lnSpc>
                        <a:spcBef>
                          <a:spcPts val="0"/>
                        </a:spcBef>
                        <a:spcAft>
                          <a:spcPts val="800"/>
                        </a:spcAft>
                        <a:buClrTx/>
                        <a:buSzTx/>
                        <a:buFontTx/>
                        <a:buNone/>
                        <a:tabLst/>
                        <a:defRPr/>
                      </a:pPr>
                      <a:r>
                        <a:rPr lang="en-US" sz="1800" kern="100" dirty="0">
                          <a:effectLst/>
                          <a:latin typeface="Calibri" panose="020F0502020204030204" pitchFamily="34" charset="0"/>
                          <a:ea typeface="Calibri" panose="020F0502020204030204" pitchFamily="34" charset="0"/>
                          <a:cs typeface="Calibri" panose="020F0502020204030204" pitchFamily="34" charset="0"/>
                        </a:rPr>
                        <a:t>Standardized patient.name using lower case conversion, trimming and punctuation removal.</a:t>
                      </a:r>
                      <a:endParaRPr lang="en-GY" sz="1800" kern="100" dirty="0">
                        <a:effectLst/>
                        <a:latin typeface="Calibri" panose="020F0502020204030204" pitchFamily="34" charset="0"/>
                        <a:ea typeface="Calibri" panose="020F0502020204030204" pitchFamily="34" charset="0"/>
                        <a:cs typeface="Calibri" panose="020F0502020204030204" pitchFamily="34" charset="0"/>
                      </a:endParaRPr>
                    </a:p>
                  </a:txBody>
                  <a:tcPr/>
                </a:tc>
                <a:extLst>
                  <a:ext uri="{0D108BD9-81ED-4DB2-BD59-A6C34878D82A}">
                    <a16:rowId xmlns:a16="http://schemas.microsoft.com/office/drawing/2014/main" val="1826677912"/>
                  </a:ext>
                </a:extLst>
              </a:tr>
              <a:tr h="719694">
                <a:tc>
                  <a:txBody>
                    <a:bodyPr/>
                    <a:lstStyle/>
                    <a:p>
                      <a:pPr>
                        <a:lnSpc>
                          <a:spcPct val="107000"/>
                        </a:lnSpc>
                        <a:spcAft>
                          <a:spcPts val="800"/>
                        </a:spcAft>
                        <a:buNone/>
                      </a:pPr>
                      <a:r>
                        <a:rPr lang="en-US" sz="1800" kern="100" dirty="0">
                          <a:effectLst/>
                          <a:latin typeface="+mn-lt"/>
                          <a:ea typeface="Aptos" panose="020B0004020202020204" pitchFamily="34" charset="0"/>
                          <a:cs typeface="Times New Roman" panose="02020603050405020304" pitchFamily="18" charset="0"/>
                        </a:rPr>
                        <a:t>Multiple visit data formats</a:t>
                      </a:r>
                      <a:endParaRPr lang="en-GY" sz="1800" kern="100" dirty="0">
                        <a:effectLst/>
                        <a:latin typeface="+mn-lt"/>
                        <a:ea typeface="Aptos" panose="020B0004020202020204" pitchFamily="34" charset="0"/>
                        <a:cs typeface="Times New Roman" panose="02020603050405020304" pitchFamily="18" charset="0"/>
                      </a:endParaRPr>
                    </a:p>
                  </a:txBody>
                  <a:tcPr/>
                </a:tc>
                <a:tc>
                  <a:txBody>
                    <a:bodyPr/>
                    <a:lstStyle/>
                    <a:p>
                      <a:r>
                        <a:rPr lang="en-US" sz="1800" kern="1200" dirty="0">
                          <a:solidFill>
                            <a:schemeClr val="dk1"/>
                          </a:solidFill>
                          <a:effectLst/>
                          <a:latin typeface="+mn-lt"/>
                          <a:ea typeface="+mn-ea"/>
                          <a:cs typeface="+mn-cs"/>
                        </a:rPr>
                        <a:t>Parsed dates into a consistent date format using parsed_date_time()</a:t>
                      </a:r>
                      <a:endParaRPr lang="en-GY" sz="1800" kern="1200" dirty="0">
                        <a:solidFill>
                          <a:schemeClr val="dk1"/>
                        </a:solidFill>
                        <a:effectLst/>
                        <a:latin typeface="+mn-lt"/>
                        <a:ea typeface="+mn-ea"/>
                        <a:cs typeface="+mn-cs"/>
                      </a:endParaRPr>
                    </a:p>
                  </a:txBody>
                  <a:tcPr/>
                </a:tc>
                <a:extLst>
                  <a:ext uri="{0D108BD9-81ED-4DB2-BD59-A6C34878D82A}">
                    <a16:rowId xmlns:a16="http://schemas.microsoft.com/office/drawing/2014/main" val="1437724545"/>
                  </a:ext>
                </a:extLst>
              </a:tr>
              <a:tr h="748183">
                <a:tc>
                  <a:txBody>
                    <a:bodyPr/>
                    <a:lstStyle/>
                    <a:p>
                      <a:pPr>
                        <a:lnSpc>
                          <a:spcPct val="107000"/>
                        </a:lnSpc>
                        <a:spcAft>
                          <a:spcPts val="800"/>
                        </a:spcAft>
                        <a:buNone/>
                      </a:pPr>
                      <a:r>
                        <a:rPr lang="en-US" sz="1800" kern="100" dirty="0">
                          <a:effectLst/>
                          <a:latin typeface="+mn-lt"/>
                          <a:ea typeface="Aptos" panose="020B0004020202020204" pitchFamily="34" charset="0"/>
                          <a:cs typeface="Times New Roman" panose="02020603050405020304" pitchFamily="18" charset="0"/>
                        </a:rPr>
                        <a:t>Inconsistent diagnosis formatting</a:t>
                      </a:r>
                      <a:endParaRPr lang="en-GY" sz="1800" kern="100" dirty="0">
                        <a:effectLst/>
                        <a:latin typeface="+mn-lt"/>
                        <a:ea typeface="Aptos" panose="020B0004020202020204" pitchFamily="34" charset="0"/>
                        <a:cs typeface="Times New Roman" panose="02020603050405020304" pitchFamily="18" charset="0"/>
                      </a:endParaRPr>
                    </a:p>
                  </a:txBody>
                  <a:tcPr/>
                </a:tc>
                <a:tc>
                  <a:txBody>
                    <a:bodyPr/>
                    <a:lstStyle/>
                    <a:p>
                      <a:r>
                        <a:rPr lang="en-US" sz="1800" kern="1200" dirty="0">
                          <a:solidFill>
                            <a:schemeClr val="dk1"/>
                          </a:solidFill>
                          <a:effectLst/>
                          <a:latin typeface="+mn-lt"/>
                          <a:ea typeface="+mn-ea"/>
                          <a:cs typeface="+mn-cs"/>
                        </a:rPr>
                        <a:t>Standardized condition values into consistent categorical labels.</a:t>
                      </a:r>
                      <a:endParaRPr lang="en-GY" sz="1800" kern="1200" dirty="0">
                        <a:solidFill>
                          <a:schemeClr val="dk1"/>
                        </a:solidFill>
                        <a:effectLst/>
                        <a:latin typeface="+mn-lt"/>
                        <a:ea typeface="+mn-ea"/>
                        <a:cs typeface="+mn-cs"/>
                      </a:endParaRPr>
                    </a:p>
                  </a:txBody>
                  <a:tcPr/>
                </a:tc>
                <a:extLst>
                  <a:ext uri="{0D108BD9-81ED-4DB2-BD59-A6C34878D82A}">
                    <a16:rowId xmlns:a16="http://schemas.microsoft.com/office/drawing/2014/main" val="159756891"/>
                  </a:ext>
                </a:extLst>
              </a:tr>
              <a:tr h="719694">
                <a:tc>
                  <a:txBody>
                    <a:bodyPr/>
                    <a:lstStyle/>
                    <a:p>
                      <a:pPr>
                        <a:lnSpc>
                          <a:spcPct val="107000"/>
                        </a:lnSpc>
                        <a:spcAft>
                          <a:spcPts val="800"/>
                        </a:spcAft>
                        <a:buNone/>
                      </a:pPr>
                      <a:r>
                        <a:rPr lang="en-US" sz="1800" kern="100" dirty="0">
                          <a:effectLst/>
                          <a:latin typeface="+mn-lt"/>
                          <a:ea typeface="Aptos" panose="020B0004020202020204" pitchFamily="34" charset="0"/>
                          <a:cs typeface="Times New Roman" panose="02020603050405020304" pitchFamily="18" charset="0"/>
                        </a:rPr>
                        <a:t>Duplicate Patient records</a:t>
                      </a:r>
                    </a:p>
                  </a:txBody>
                  <a:tcPr/>
                </a:tc>
                <a:tc>
                  <a:txBody>
                    <a:bodyPr/>
                    <a:lstStyle/>
                    <a:p>
                      <a:r>
                        <a:rPr lang="en-US" sz="1800" kern="1200" dirty="0">
                          <a:solidFill>
                            <a:schemeClr val="dk1"/>
                          </a:solidFill>
                          <a:effectLst/>
                          <a:latin typeface="+mn-lt"/>
                          <a:ea typeface="+mn-ea"/>
                          <a:cs typeface="+mn-cs"/>
                        </a:rPr>
                        <a:t>Grouped by patient name and visit date and retained one consistent record.</a:t>
                      </a:r>
                      <a:endParaRPr lang="en-GY" sz="1800" kern="1200" dirty="0">
                        <a:solidFill>
                          <a:schemeClr val="dk1"/>
                        </a:solidFill>
                        <a:effectLst/>
                        <a:latin typeface="+mn-lt"/>
                        <a:ea typeface="+mn-ea"/>
                        <a:cs typeface="+mn-cs"/>
                      </a:endParaRPr>
                    </a:p>
                  </a:txBody>
                  <a:tcPr/>
                </a:tc>
                <a:extLst>
                  <a:ext uri="{0D108BD9-81ED-4DB2-BD59-A6C34878D82A}">
                    <a16:rowId xmlns:a16="http://schemas.microsoft.com/office/drawing/2014/main" val="2355297429"/>
                  </a:ext>
                </a:extLst>
              </a:tr>
              <a:tr h="418180">
                <a:tc>
                  <a:txBody>
                    <a:bodyPr/>
                    <a:lstStyle/>
                    <a:p>
                      <a:pPr>
                        <a:lnSpc>
                          <a:spcPct val="107000"/>
                        </a:lnSpc>
                        <a:spcAft>
                          <a:spcPts val="800"/>
                        </a:spcAft>
                        <a:buNone/>
                      </a:pPr>
                      <a:r>
                        <a:rPr lang="en-US" sz="1800" kern="100" dirty="0">
                          <a:effectLst/>
                          <a:latin typeface="+mn-lt"/>
                          <a:ea typeface="Aptos" panose="020B0004020202020204" pitchFamily="34" charset="0"/>
                          <a:cs typeface="Times New Roman" panose="02020603050405020304" pitchFamily="18" charset="0"/>
                        </a:rPr>
                        <a:t>Inconsistent categorical casing </a:t>
                      </a:r>
                      <a:endParaRPr lang="en-GY" sz="1800" kern="100" dirty="0">
                        <a:effectLst/>
                        <a:latin typeface="+mn-lt"/>
                        <a:ea typeface="Aptos" panose="020B0004020202020204" pitchFamily="34" charset="0"/>
                        <a:cs typeface="Times New Roman" panose="02020603050405020304" pitchFamily="18" charset="0"/>
                      </a:endParaRPr>
                    </a:p>
                  </a:txBody>
                  <a:tcPr/>
                </a:tc>
                <a:tc>
                  <a:txBody>
                    <a:bodyPr/>
                    <a:lstStyle/>
                    <a:p>
                      <a:r>
                        <a:rPr lang="en-US" sz="1800" kern="1200" dirty="0">
                          <a:solidFill>
                            <a:schemeClr val="dk1"/>
                          </a:solidFill>
                          <a:effectLst/>
                          <a:latin typeface="+mn-lt"/>
                          <a:ea typeface="+mn-ea"/>
                          <a:cs typeface="+mn-cs"/>
                        </a:rPr>
                        <a:t>Standardized gender and medication formatting.</a:t>
                      </a:r>
                      <a:endParaRPr lang="en-GY" sz="1800" kern="1200" dirty="0">
                        <a:solidFill>
                          <a:schemeClr val="dk1"/>
                        </a:solidFill>
                        <a:effectLst/>
                        <a:latin typeface="+mn-lt"/>
                        <a:ea typeface="+mn-ea"/>
                        <a:cs typeface="+mn-cs"/>
                      </a:endParaRPr>
                    </a:p>
                  </a:txBody>
                  <a:tcPr/>
                </a:tc>
                <a:extLst>
                  <a:ext uri="{0D108BD9-81ED-4DB2-BD59-A6C34878D82A}">
                    <a16:rowId xmlns:a16="http://schemas.microsoft.com/office/drawing/2014/main" val="2573934096"/>
                  </a:ext>
                </a:extLst>
              </a:tr>
            </a:tbl>
          </a:graphicData>
        </a:graphic>
      </p:graphicFrame>
    </p:spTree>
    <p:extLst>
      <p:ext uri="{BB962C8B-B14F-4D97-AF65-F5344CB8AC3E}">
        <p14:creationId xmlns:p14="http://schemas.microsoft.com/office/powerpoint/2010/main" val="18729110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Imputation</a:t>
            </a:r>
          </a:p>
        </p:txBody>
      </p:sp>
      <p:sp>
        <p:nvSpPr>
          <p:cNvPr id="3" name="Content Placeholder 2"/>
          <p:cNvSpPr>
            <a:spLocks noGrp="1"/>
          </p:cNvSpPr>
          <p:nvPr>
            <p:ph idx="1"/>
          </p:nvPr>
        </p:nvSpPr>
        <p:spPr/>
        <p:txBody>
          <a:bodyPr/>
          <a:lstStyle/>
          <a:p>
            <a:pPr>
              <a:buFont typeface="Arial" panose="020B0604020202020204" pitchFamily="34" charset="0"/>
              <a:buChar char="•"/>
            </a:pPr>
            <a:r>
              <a:rPr lang="en-US" dirty="0"/>
              <a:t>   </a:t>
            </a:r>
            <a:r>
              <a:rPr dirty="0"/>
              <a:t>Variable: Age</a:t>
            </a:r>
          </a:p>
          <a:p>
            <a:pPr>
              <a:buFont typeface="Arial" panose="020B0604020202020204" pitchFamily="34" charset="0"/>
              <a:buChar char="•"/>
            </a:pPr>
            <a:r>
              <a:rPr lang="en-US" dirty="0"/>
              <a:t>   </a:t>
            </a:r>
            <a:r>
              <a:rPr dirty="0"/>
              <a:t>Method: Median imputation</a:t>
            </a:r>
          </a:p>
          <a:p>
            <a:pPr>
              <a:buFont typeface="Arial" panose="020B0604020202020204" pitchFamily="34" charset="0"/>
              <a:buChar char="•"/>
            </a:pPr>
            <a:r>
              <a:rPr lang="en-US" dirty="0"/>
              <a:t>   </a:t>
            </a:r>
            <a:r>
              <a:rPr dirty="0"/>
              <a:t>Reason: Robust to outliers and maintains realistic values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Chart That Tells a Story</a:t>
            </a:r>
          </a:p>
        </p:txBody>
      </p:sp>
      <p:sp>
        <p:nvSpPr>
          <p:cNvPr id="3" name="Content Placeholder 2"/>
          <p:cNvSpPr>
            <a:spLocks noGrp="1"/>
          </p:cNvSpPr>
          <p:nvPr>
            <p:ph idx="1"/>
          </p:nvPr>
        </p:nvSpPr>
        <p:spPr>
          <a:xfrm>
            <a:off x="822959" y="1845734"/>
            <a:ext cx="7543801" cy="4364566"/>
          </a:xfrm>
        </p:spPr>
        <p:txBody>
          <a:bodyPr>
            <a:normAutofit/>
          </a:bodyPr>
          <a:lstStyle/>
          <a:p>
            <a:pPr marL="0" indent="0">
              <a:buNone/>
            </a:pPr>
            <a:endParaRPr dirty="0"/>
          </a:p>
          <a:p>
            <a:endParaRPr dirty="0"/>
          </a:p>
          <a:p>
            <a:endParaRPr lang="en-US" dirty="0"/>
          </a:p>
          <a:p>
            <a:endParaRPr lang="en-US" dirty="0"/>
          </a:p>
          <a:p>
            <a:endParaRPr lang="en-US" dirty="0"/>
          </a:p>
          <a:p>
            <a:endParaRPr lang="en-US" dirty="0"/>
          </a:p>
          <a:p>
            <a:endParaRPr lang="en-US" dirty="0"/>
          </a:p>
        </p:txBody>
      </p:sp>
      <p:pic>
        <p:nvPicPr>
          <p:cNvPr id="5" name="Picture">
            <a:extLst>
              <a:ext uri="{FF2B5EF4-FFF2-40B4-BE49-F238E27FC236}">
                <a16:creationId xmlns:a16="http://schemas.microsoft.com/office/drawing/2014/main" id="{47AF724F-9436-1793-55E4-E77B854BBB97}"/>
              </a:ext>
            </a:extLst>
          </p:cNvPr>
          <p:cNvPicPr/>
          <p:nvPr/>
        </p:nvPicPr>
        <p:blipFill>
          <a:blip r:embed="rId3"/>
          <a:stretch>
            <a:fillRect/>
          </a:stretch>
        </p:blipFill>
        <p:spPr bwMode="auto">
          <a:xfrm>
            <a:off x="1409700" y="1845734"/>
            <a:ext cx="6724650" cy="4364566"/>
          </a:xfrm>
          <a:prstGeom prst="rect">
            <a:avLst/>
          </a:prstGeom>
          <a:noFill/>
          <a:ln w="9525">
            <a:noFill/>
            <a:headEnd/>
            <a:tailEnd/>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Outputs</a:t>
            </a:r>
          </a:p>
        </p:txBody>
      </p:sp>
      <p:sp>
        <p:nvSpPr>
          <p:cNvPr id="3" name="Content Placeholder 2"/>
          <p:cNvSpPr>
            <a:spLocks noGrp="1"/>
          </p:cNvSpPr>
          <p:nvPr>
            <p:ph idx="1"/>
          </p:nvPr>
        </p:nvSpPr>
        <p:spPr/>
        <p:txBody>
          <a:bodyPr/>
          <a:lstStyle/>
          <a:p>
            <a:r>
              <a:rPr dirty="0"/>
              <a:t>- </a:t>
            </a:r>
            <a:r>
              <a:rPr dirty="0" err="1"/>
              <a:t>data_cleaned.rds</a:t>
            </a:r>
            <a:endParaRPr dirty="0"/>
          </a:p>
          <a:p>
            <a:pPr marL="0" indent="0">
              <a:buNone/>
            </a:pPr>
            <a:endParaRPr dirty="0"/>
          </a:p>
        </p:txBody>
      </p:sp>
      <p:pic>
        <p:nvPicPr>
          <p:cNvPr id="5" name="Picture 4">
            <a:extLst>
              <a:ext uri="{FF2B5EF4-FFF2-40B4-BE49-F238E27FC236}">
                <a16:creationId xmlns:a16="http://schemas.microsoft.com/office/drawing/2014/main" id="{5CA42107-59F6-DD2B-7981-32F50DDEC650}"/>
              </a:ext>
            </a:extLst>
          </p:cNvPr>
          <p:cNvPicPr>
            <a:picLocks noChangeAspect="1"/>
          </p:cNvPicPr>
          <p:nvPr/>
        </p:nvPicPr>
        <p:blipFill>
          <a:blip r:embed="rId3"/>
          <a:stretch>
            <a:fillRect/>
          </a:stretch>
        </p:blipFill>
        <p:spPr>
          <a:xfrm>
            <a:off x="1219200" y="2296525"/>
            <a:ext cx="5933122" cy="377619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A45970-2032-DCD3-6781-9915D354D8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CA169B-CE49-4A9E-1372-B0B7E15EECAE}"/>
              </a:ext>
            </a:extLst>
          </p:cNvPr>
          <p:cNvSpPr>
            <a:spLocks noGrp="1"/>
          </p:cNvSpPr>
          <p:nvPr>
            <p:ph type="title"/>
          </p:nvPr>
        </p:nvSpPr>
        <p:spPr/>
        <p:txBody>
          <a:bodyPr/>
          <a:lstStyle/>
          <a:p>
            <a:r>
              <a:t>Outputs</a:t>
            </a:r>
          </a:p>
        </p:txBody>
      </p:sp>
      <p:sp>
        <p:nvSpPr>
          <p:cNvPr id="3" name="Content Placeholder 2">
            <a:extLst>
              <a:ext uri="{FF2B5EF4-FFF2-40B4-BE49-F238E27FC236}">
                <a16:creationId xmlns:a16="http://schemas.microsoft.com/office/drawing/2014/main" id="{02E4B3D5-4DE7-B712-7F1D-9780F397FE1E}"/>
              </a:ext>
            </a:extLst>
          </p:cNvPr>
          <p:cNvSpPr>
            <a:spLocks noGrp="1"/>
          </p:cNvSpPr>
          <p:nvPr>
            <p:ph idx="1"/>
          </p:nvPr>
        </p:nvSpPr>
        <p:spPr/>
        <p:txBody>
          <a:bodyPr/>
          <a:lstStyle/>
          <a:p>
            <a:r>
              <a:rPr dirty="0"/>
              <a:t>- data_cleaned.xlsx</a:t>
            </a:r>
          </a:p>
          <a:p>
            <a:endParaRPr dirty="0"/>
          </a:p>
        </p:txBody>
      </p:sp>
      <p:pic>
        <p:nvPicPr>
          <p:cNvPr id="5" name="Picture 4">
            <a:extLst>
              <a:ext uri="{FF2B5EF4-FFF2-40B4-BE49-F238E27FC236}">
                <a16:creationId xmlns:a16="http://schemas.microsoft.com/office/drawing/2014/main" id="{761093E2-50C9-C0FE-9961-FF50A5DA902B}"/>
              </a:ext>
            </a:extLst>
          </p:cNvPr>
          <p:cNvPicPr>
            <a:picLocks noChangeAspect="1"/>
          </p:cNvPicPr>
          <p:nvPr/>
        </p:nvPicPr>
        <p:blipFill>
          <a:blip r:embed="rId3"/>
          <a:srcRect t="13692"/>
          <a:stretch>
            <a:fillRect/>
          </a:stretch>
        </p:blipFill>
        <p:spPr>
          <a:xfrm>
            <a:off x="426762" y="2141856"/>
            <a:ext cx="8336194" cy="3431116"/>
          </a:xfrm>
          <a:prstGeom prst="rect">
            <a:avLst/>
          </a:prstGeom>
        </p:spPr>
      </p:pic>
    </p:spTree>
    <p:extLst>
      <p:ext uri="{BB962C8B-B14F-4D97-AF65-F5344CB8AC3E}">
        <p14:creationId xmlns:p14="http://schemas.microsoft.com/office/powerpoint/2010/main" val="2892274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D50148-2EBB-3382-49CF-9D4F146705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A9BF47-479D-30D4-1F6E-63C5BCEA9BBA}"/>
              </a:ext>
            </a:extLst>
          </p:cNvPr>
          <p:cNvSpPr>
            <a:spLocks noGrp="1"/>
          </p:cNvSpPr>
          <p:nvPr>
            <p:ph type="title"/>
          </p:nvPr>
        </p:nvSpPr>
        <p:spPr/>
        <p:txBody>
          <a:bodyPr/>
          <a:lstStyle/>
          <a:p>
            <a:r>
              <a:t>Outputs</a:t>
            </a:r>
          </a:p>
        </p:txBody>
      </p:sp>
      <p:sp>
        <p:nvSpPr>
          <p:cNvPr id="3" name="Content Placeholder 2">
            <a:extLst>
              <a:ext uri="{FF2B5EF4-FFF2-40B4-BE49-F238E27FC236}">
                <a16:creationId xmlns:a16="http://schemas.microsoft.com/office/drawing/2014/main" id="{FE634DF8-9EC1-5ECC-F151-98C60F4C70CE}"/>
              </a:ext>
            </a:extLst>
          </p:cNvPr>
          <p:cNvSpPr>
            <a:spLocks noGrp="1"/>
          </p:cNvSpPr>
          <p:nvPr>
            <p:ph idx="1"/>
          </p:nvPr>
        </p:nvSpPr>
        <p:spPr/>
        <p:txBody>
          <a:bodyPr/>
          <a:lstStyle/>
          <a:p>
            <a:r>
              <a:rPr dirty="0"/>
              <a:t>- </a:t>
            </a:r>
            <a:r>
              <a:rPr dirty="0" err="1"/>
              <a:t>data_cleaned.sav</a:t>
            </a:r>
            <a:endParaRPr dirty="0"/>
          </a:p>
        </p:txBody>
      </p:sp>
      <p:pic>
        <p:nvPicPr>
          <p:cNvPr id="5" name="Picture 4">
            <a:extLst>
              <a:ext uri="{FF2B5EF4-FFF2-40B4-BE49-F238E27FC236}">
                <a16:creationId xmlns:a16="http://schemas.microsoft.com/office/drawing/2014/main" id="{84A05007-5A8A-16F1-DEF7-2ED2129CC624}"/>
              </a:ext>
            </a:extLst>
          </p:cNvPr>
          <p:cNvPicPr>
            <a:picLocks noChangeAspect="1"/>
          </p:cNvPicPr>
          <p:nvPr/>
        </p:nvPicPr>
        <p:blipFill>
          <a:blip r:embed="rId3"/>
          <a:stretch>
            <a:fillRect/>
          </a:stretch>
        </p:blipFill>
        <p:spPr>
          <a:xfrm>
            <a:off x="609600" y="2310875"/>
            <a:ext cx="3160418" cy="3290159"/>
          </a:xfrm>
          <a:prstGeom prst="rect">
            <a:avLst/>
          </a:prstGeom>
        </p:spPr>
      </p:pic>
      <p:pic>
        <p:nvPicPr>
          <p:cNvPr id="7" name="Picture 6">
            <a:extLst>
              <a:ext uri="{FF2B5EF4-FFF2-40B4-BE49-F238E27FC236}">
                <a16:creationId xmlns:a16="http://schemas.microsoft.com/office/drawing/2014/main" id="{8E5565BF-716A-609F-C5C3-64FCD4246006}"/>
              </a:ext>
            </a:extLst>
          </p:cNvPr>
          <p:cNvPicPr>
            <a:picLocks noChangeAspect="1"/>
          </p:cNvPicPr>
          <p:nvPr/>
        </p:nvPicPr>
        <p:blipFill>
          <a:blip r:embed="rId4"/>
          <a:stretch>
            <a:fillRect/>
          </a:stretch>
        </p:blipFill>
        <p:spPr>
          <a:xfrm>
            <a:off x="3983377" y="2310875"/>
            <a:ext cx="4724400" cy="3290159"/>
          </a:xfrm>
          <a:prstGeom prst="rect">
            <a:avLst/>
          </a:prstGeom>
        </p:spPr>
      </p:pic>
    </p:spTree>
    <p:extLst>
      <p:ext uri="{BB962C8B-B14F-4D97-AF65-F5344CB8AC3E}">
        <p14:creationId xmlns:p14="http://schemas.microsoft.com/office/powerpoint/2010/main" val="40299965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0975D-7E44-9AEF-0477-4944F3E39B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029E75-4D71-A0ED-8C7A-AFABF4A88CE9}"/>
              </a:ext>
            </a:extLst>
          </p:cNvPr>
          <p:cNvSpPr>
            <a:spLocks noGrp="1"/>
          </p:cNvSpPr>
          <p:nvPr>
            <p:ph type="title"/>
          </p:nvPr>
        </p:nvSpPr>
        <p:spPr/>
        <p:txBody>
          <a:bodyPr/>
          <a:lstStyle/>
          <a:p>
            <a:r>
              <a:t>Outputs</a:t>
            </a:r>
          </a:p>
        </p:txBody>
      </p:sp>
      <p:sp>
        <p:nvSpPr>
          <p:cNvPr id="3" name="Content Placeholder 2">
            <a:extLst>
              <a:ext uri="{FF2B5EF4-FFF2-40B4-BE49-F238E27FC236}">
                <a16:creationId xmlns:a16="http://schemas.microsoft.com/office/drawing/2014/main" id="{091E49A6-B0B9-A5AD-4A01-1BA3515EDC37}"/>
              </a:ext>
            </a:extLst>
          </p:cNvPr>
          <p:cNvSpPr>
            <a:spLocks noGrp="1"/>
          </p:cNvSpPr>
          <p:nvPr>
            <p:ph idx="1"/>
          </p:nvPr>
        </p:nvSpPr>
        <p:spPr/>
        <p:txBody>
          <a:bodyPr/>
          <a:lstStyle/>
          <a:p>
            <a:r>
              <a:rPr dirty="0"/>
              <a:t>- </a:t>
            </a:r>
            <a:r>
              <a:rPr dirty="0" err="1"/>
              <a:t>data_cleaned.dta</a:t>
            </a:r>
            <a:endParaRPr dirty="0"/>
          </a:p>
        </p:txBody>
      </p:sp>
      <p:pic>
        <p:nvPicPr>
          <p:cNvPr id="5" name="Picture 4">
            <a:extLst>
              <a:ext uri="{FF2B5EF4-FFF2-40B4-BE49-F238E27FC236}">
                <a16:creationId xmlns:a16="http://schemas.microsoft.com/office/drawing/2014/main" id="{CA5058B4-89D0-32CC-5262-F2A8B825633F}"/>
              </a:ext>
            </a:extLst>
          </p:cNvPr>
          <p:cNvPicPr>
            <a:picLocks noChangeAspect="1"/>
          </p:cNvPicPr>
          <p:nvPr/>
        </p:nvPicPr>
        <p:blipFill>
          <a:blip r:embed="rId3"/>
          <a:stretch>
            <a:fillRect/>
          </a:stretch>
        </p:blipFill>
        <p:spPr>
          <a:xfrm>
            <a:off x="1089659" y="2216284"/>
            <a:ext cx="7231382" cy="3761183"/>
          </a:xfrm>
          <a:prstGeom prst="rect">
            <a:avLst/>
          </a:prstGeom>
        </p:spPr>
      </p:pic>
    </p:spTree>
    <p:extLst>
      <p:ext uri="{BB962C8B-B14F-4D97-AF65-F5344CB8AC3E}">
        <p14:creationId xmlns:p14="http://schemas.microsoft.com/office/powerpoint/2010/main" val="20691860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9D1D80-DB3D-7BD4-C59D-2FF8F4B923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7A9599-ACDA-E06C-EE77-85D1FF41321A}"/>
              </a:ext>
            </a:extLst>
          </p:cNvPr>
          <p:cNvSpPr>
            <a:spLocks noGrp="1"/>
          </p:cNvSpPr>
          <p:nvPr>
            <p:ph type="title"/>
          </p:nvPr>
        </p:nvSpPr>
        <p:spPr/>
        <p:txBody>
          <a:bodyPr/>
          <a:lstStyle/>
          <a:p>
            <a:r>
              <a:t>Outputs</a:t>
            </a:r>
          </a:p>
        </p:txBody>
      </p:sp>
      <p:sp>
        <p:nvSpPr>
          <p:cNvPr id="3" name="Content Placeholder 2">
            <a:extLst>
              <a:ext uri="{FF2B5EF4-FFF2-40B4-BE49-F238E27FC236}">
                <a16:creationId xmlns:a16="http://schemas.microsoft.com/office/drawing/2014/main" id="{1575E058-8DE9-FC99-1880-31262546154C}"/>
              </a:ext>
            </a:extLst>
          </p:cNvPr>
          <p:cNvSpPr>
            <a:spLocks noGrp="1"/>
          </p:cNvSpPr>
          <p:nvPr>
            <p:ph idx="1"/>
          </p:nvPr>
        </p:nvSpPr>
        <p:spPr/>
        <p:txBody>
          <a:bodyPr/>
          <a:lstStyle/>
          <a:p>
            <a:r>
              <a:rPr dirty="0"/>
              <a:t>- Automated Word report</a:t>
            </a:r>
            <a:endParaRPr lang="en-US" dirty="0"/>
          </a:p>
          <a:p>
            <a:endParaRPr dirty="0"/>
          </a:p>
        </p:txBody>
      </p:sp>
      <p:graphicFrame>
        <p:nvGraphicFramePr>
          <p:cNvPr id="4" name="Object 3">
            <a:extLst>
              <a:ext uri="{FF2B5EF4-FFF2-40B4-BE49-F238E27FC236}">
                <a16:creationId xmlns:a16="http://schemas.microsoft.com/office/drawing/2014/main" id="{DB6FF022-AE78-AC82-8B94-42FD7441080A}"/>
              </a:ext>
            </a:extLst>
          </p:cNvPr>
          <p:cNvGraphicFramePr>
            <a:graphicFrameLocks noChangeAspect="1"/>
          </p:cNvGraphicFramePr>
          <p:nvPr>
            <p:extLst>
              <p:ext uri="{D42A27DB-BD31-4B8C-83A1-F6EECF244321}">
                <p14:modId xmlns:p14="http://schemas.microsoft.com/office/powerpoint/2010/main" val="1735811751"/>
              </p:ext>
            </p:extLst>
          </p:nvPr>
        </p:nvGraphicFramePr>
        <p:xfrm>
          <a:off x="2308860" y="2207684"/>
          <a:ext cx="3441950" cy="3769783"/>
        </p:xfrm>
        <a:graphic>
          <a:graphicData uri="http://schemas.openxmlformats.org/presentationml/2006/ole">
            <mc:AlternateContent xmlns:mc="http://schemas.openxmlformats.org/markup-compatibility/2006">
              <mc:Choice xmlns:v="urn:schemas-microsoft-com:vml" Requires="v">
                <p:oleObj name="Document" r:id="rId3" imgW="5956042" imgH="8041861" progId="Word.Document.12">
                  <p:embed/>
                </p:oleObj>
              </mc:Choice>
              <mc:Fallback>
                <p:oleObj name="Document" r:id="rId3" imgW="5956042" imgH="8041861" progId="Word.Document.12">
                  <p:embed/>
                  <p:pic>
                    <p:nvPicPr>
                      <p:cNvPr id="0" name=""/>
                      <p:cNvPicPr/>
                      <p:nvPr/>
                    </p:nvPicPr>
                    <p:blipFill>
                      <a:blip r:embed="rId4"/>
                      <a:stretch>
                        <a:fillRect/>
                      </a:stretch>
                    </p:blipFill>
                    <p:spPr>
                      <a:xfrm>
                        <a:off x="2308860" y="2207684"/>
                        <a:ext cx="3441950" cy="3769783"/>
                      </a:xfrm>
                      <a:prstGeom prst="rect">
                        <a:avLst/>
                      </a:prstGeom>
                    </p:spPr>
                  </p:pic>
                </p:oleObj>
              </mc:Fallback>
            </mc:AlternateContent>
          </a:graphicData>
        </a:graphic>
      </p:graphicFrame>
    </p:spTree>
    <p:extLst>
      <p:ext uri="{BB962C8B-B14F-4D97-AF65-F5344CB8AC3E}">
        <p14:creationId xmlns:p14="http://schemas.microsoft.com/office/powerpoint/2010/main" val="23377076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Went Well</a:t>
            </a:r>
          </a:p>
        </p:txBody>
      </p:sp>
      <p:sp>
        <p:nvSpPr>
          <p:cNvPr id="3" name="Content Placeholder 2"/>
          <p:cNvSpPr>
            <a:spLocks noGrp="1"/>
          </p:cNvSpPr>
          <p:nvPr>
            <p:ph idx="1"/>
          </p:nvPr>
        </p:nvSpPr>
        <p:spPr/>
        <p:txBody>
          <a:bodyPr/>
          <a:lstStyle/>
          <a:p>
            <a:pPr>
              <a:buFont typeface="Arial" panose="020B0604020202020204" pitchFamily="34" charset="0"/>
              <a:buChar char="•"/>
            </a:pPr>
            <a:r>
              <a:rPr dirty="0"/>
              <a:t> </a:t>
            </a:r>
            <a:r>
              <a:rPr lang="en-US" dirty="0"/>
              <a:t>  </a:t>
            </a:r>
            <a:r>
              <a:rPr dirty="0"/>
              <a:t>Successfully built a modular pipeline</a:t>
            </a:r>
          </a:p>
          <a:p>
            <a:pPr>
              <a:buFont typeface="Arial" panose="020B0604020202020204" pitchFamily="34" charset="0"/>
              <a:buChar char="•"/>
            </a:pPr>
            <a:r>
              <a:rPr dirty="0"/>
              <a:t> </a:t>
            </a:r>
            <a:r>
              <a:rPr lang="en-US" dirty="0"/>
              <a:t>  </a:t>
            </a:r>
            <a:r>
              <a:rPr dirty="0"/>
              <a:t>Resolved duplicate identity issues</a:t>
            </a:r>
          </a:p>
          <a:p>
            <a:pPr>
              <a:buFont typeface="Arial" panose="020B0604020202020204" pitchFamily="34" charset="0"/>
              <a:buChar char="•"/>
            </a:pPr>
            <a:r>
              <a:rPr dirty="0"/>
              <a:t> </a:t>
            </a:r>
            <a:r>
              <a:rPr lang="en-US" dirty="0"/>
              <a:t>  </a:t>
            </a:r>
            <a:r>
              <a:rPr dirty="0"/>
              <a:t>Automated reporting with R Markdown</a:t>
            </a:r>
          </a:p>
          <a:p>
            <a:pPr>
              <a:buFont typeface="Arial" panose="020B0604020202020204" pitchFamily="34" charset="0"/>
              <a:buChar char="•"/>
            </a:pPr>
            <a:r>
              <a:rPr lang="en-US" dirty="0"/>
              <a:t>  </a:t>
            </a:r>
            <a:r>
              <a:rPr dirty="0"/>
              <a:t> Achieved full end-to-end execution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5AB15-2455-B159-34AD-9146328666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BC1EE8-8E40-AE58-EB06-D9268DACD8A8}"/>
              </a:ext>
            </a:extLst>
          </p:cNvPr>
          <p:cNvSpPr>
            <a:spLocks noGrp="1"/>
          </p:cNvSpPr>
          <p:nvPr>
            <p:ph type="title"/>
          </p:nvPr>
        </p:nvSpPr>
        <p:spPr/>
        <p:txBody>
          <a:bodyPr/>
          <a:lstStyle/>
          <a:p>
            <a:r>
              <a:t>What Was Hard</a:t>
            </a:r>
          </a:p>
        </p:txBody>
      </p:sp>
      <p:sp>
        <p:nvSpPr>
          <p:cNvPr id="3" name="Content Placeholder 2">
            <a:extLst>
              <a:ext uri="{FF2B5EF4-FFF2-40B4-BE49-F238E27FC236}">
                <a16:creationId xmlns:a16="http://schemas.microsoft.com/office/drawing/2014/main" id="{24468ABC-93D5-577A-B62B-2DF0DFDE7476}"/>
              </a:ext>
            </a:extLst>
          </p:cNvPr>
          <p:cNvSpPr>
            <a:spLocks noGrp="1"/>
          </p:cNvSpPr>
          <p:nvPr>
            <p:ph idx="1"/>
          </p:nvPr>
        </p:nvSpPr>
        <p:spPr>
          <a:xfrm>
            <a:off x="800099" y="1989219"/>
            <a:ext cx="7543801" cy="3510905"/>
          </a:xfrm>
        </p:spPr>
        <p:txBody>
          <a:bodyPr>
            <a:normAutofit lnSpcReduction="10000"/>
          </a:bodyPr>
          <a:lstStyle/>
          <a:p>
            <a:pPr>
              <a:buFont typeface="Arial" panose="020B0604020202020204" pitchFamily="34" charset="0"/>
              <a:buChar char="•"/>
            </a:pPr>
            <a:r>
              <a:rPr lang="en-US" dirty="0"/>
              <a:t>   </a:t>
            </a:r>
            <a:r>
              <a:rPr lang="en-GY" dirty="0"/>
              <a:t>Resolving duplicate patient identities with conflicting information</a:t>
            </a:r>
          </a:p>
          <a:p>
            <a:pPr>
              <a:buFont typeface="Arial" panose="020B0604020202020204" pitchFamily="34" charset="0"/>
              <a:buChar char="•"/>
            </a:pPr>
            <a:r>
              <a:rPr lang="en-US" dirty="0"/>
              <a:t>   </a:t>
            </a:r>
            <a:r>
              <a:rPr lang="en-GY" dirty="0"/>
              <a:t>Deciding how to handle missing values</a:t>
            </a:r>
          </a:p>
          <a:p>
            <a:pPr>
              <a:buFont typeface="Arial" panose="020B0604020202020204" pitchFamily="34" charset="0"/>
              <a:buChar char="•"/>
            </a:pPr>
            <a:r>
              <a:rPr lang="en-US" dirty="0"/>
              <a:t>   </a:t>
            </a:r>
            <a:r>
              <a:rPr lang="en-GY" dirty="0"/>
              <a:t>Separating cleaning from imputation logically</a:t>
            </a:r>
          </a:p>
          <a:p>
            <a:pPr>
              <a:buFont typeface="Arial" panose="020B0604020202020204" pitchFamily="34" charset="0"/>
              <a:buChar char="•"/>
            </a:pPr>
            <a:r>
              <a:rPr lang="en-US" dirty="0"/>
              <a:t>   </a:t>
            </a:r>
            <a:r>
              <a:rPr lang="en-GY" dirty="0"/>
              <a:t>Managing pipeline dependencies and file paths</a:t>
            </a:r>
            <a:endParaRPr lang="en-US" dirty="0"/>
          </a:p>
          <a:p>
            <a:pPr>
              <a:buFont typeface="Arial" panose="020B0604020202020204" pitchFamily="34" charset="0"/>
              <a:buChar char="•"/>
            </a:pPr>
            <a:endParaRPr lang="en-US" dirty="0"/>
          </a:p>
          <a:p>
            <a:r>
              <a:rPr lang="en-GY" b="1" dirty="0"/>
              <a:t>What you would do differently</a:t>
            </a:r>
            <a:r>
              <a:rPr lang="en-GY" dirty="0"/>
              <a:t>:</a:t>
            </a:r>
          </a:p>
          <a:p>
            <a:pPr>
              <a:buFont typeface="Arial" panose="020B0604020202020204" pitchFamily="34" charset="0"/>
              <a:buChar char="•"/>
            </a:pPr>
            <a:r>
              <a:rPr lang="en-US" dirty="0"/>
              <a:t>   </a:t>
            </a:r>
            <a:r>
              <a:rPr lang="en-GY" dirty="0"/>
              <a:t>Explore probabilistic/fuzzy identity matching</a:t>
            </a:r>
            <a:r>
              <a:rPr lang="en-US" dirty="0"/>
              <a:t> (wasn’t allowed)</a:t>
            </a:r>
            <a:endParaRPr lang="en-GY" dirty="0"/>
          </a:p>
          <a:p>
            <a:pPr>
              <a:buFont typeface="Arial" panose="020B0604020202020204" pitchFamily="34" charset="0"/>
              <a:buChar char="•"/>
            </a:pPr>
            <a:r>
              <a:rPr lang="en-US" dirty="0"/>
              <a:t>   </a:t>
            </a:r>
            <a:r>
              <a:rPr lang="en-GY" dirty="0"/>
              <a:t>Add automated validation checks</a:t>
            </a:r>
          </a:p>
          <a:p>
            <a:pPr>
              <a:buFont typeface="Arial" panose="020B0604020202020204" pitchFamily="34" charset="0"/>
              <a:buChar char="•"/>
            </a:pPr>
            <a:endParaRPr lang="en-GY" dirty="0"/>
          </a:p>
          <a:p>
            <a:endParaRPr dirty="0"/>
          </a:p>
        </p:txBody>
      </p:sp>
    </p:spTree>
    <p:extLst>
      <p:ext uri="{BB962C8B-B14F-4D97-AF65-F5344CB8AC3E}">
        <p14:creationId xmlns:p14="http://schemas.microsoft.com/office/powerpoint/2010/main" val="18690894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Time Breakdown</a:t>
            </a:r>
          </a:p>
        </p:txBody>
      </p:sp>
      <p:sp>
        <p:nvSpPr>
          <p:cNvPr id="3" name="Content Placeholder 2"/>
          <p:cNvSpPr>
            <a:spLocks noGrp="1"/>
          </p:cNvSpPr>
          <p:nvPr>
            <p:ph idx="1"/>
          </p:nvPr>
        </p:nvSpPr>
        <p:spPr/>
        <p:txBody>
          <a:bodyPr/>
          <a:lstStyle/>
          <a:p>
            <a:r>
              <a:rPr dirty="0"/>
              <a:t>- </a:t>
            </a:r>
            <a:endParaRPr lang="en-US" dirty="0"/>
          </a:p>
          <a:p>
            <a:endParaRPr lang="en-US" dirty="0"/>
          </a:p>
          <a:p>
            <a:endParaRPr lang="en-US" dirty="0"/>
          </a:p>
          <a:p>
            <a:endParaRPr lang="en-US" dirty="0"/>
          </a:p>
          <a:p>
            <a:endParaRPr lang="en-US" dirty="0"/>
          </a:p>
          <a:p>
            <a:endParaRPr lang="en-US" dirty="0"/>
          </a:p>
        </p:txBody>
      </p:sp>
      <p:graphicFrame>
        <p:nvGraphicFramePr>
          <p:cNvPr id="4" name="Table 3">
            <a:extLst>
              <a:ext uri="{FF2B5EF4-FFF2-40B4-BE49-F238E27FC236}">
                <a16:creationId xmlns:a16="http://schemas.microsoft.com/office/drawing/2014/main" id="{F32A4996-A310-02C1-CB58-703D31567F4F}"/>
              </a:ext>
            </a:extLst>
          </p:cNvPr>
          <p:cNvGraphicFramePr>
            <a:graphicFrameLocks noGrp="1"/>
          </p:cNvGraphicFramePr>
          <p:nvPr>
            <p:extLst>
              <p:ext uri="{D42A27DB-BD31-4B8C-83A1-F6EECF244321}">
                <p14:modId xmlns:p14="http://schemas.microsoft.com/office/powerpoint/2010/main" val="1469654579"/>
              </p:ext>
            </p:extLst>
          </p:nvPr>
        </p:nvGraphicFramePr>
        <p:xfrm>
          <a:off x="497305" y="2022642"/>
          <a:ext cx="8053137" cy="1483360"/>
        </p:xfrm>
        <a:graphic>
          <a:graphicData uri="http://schemas.openxmlformats.org/drawingml/2006/table">
            <a:tbl>
              <a:tblPr firstRow="1" bandRow="1">
                <a:tableStyleId>{5C22544A-7EE6-4342-B048-85BDC9FD1C3A}</a:tableStyleId>
              </a:tblPr>
              <a:tblGrid>
                <a:gridCol w="6545179">
                  <a:extLst>
                    <a:ext uri="{9D8B030D-6E8A-4147-A177-3AD203B41FA5}">
                      <a16:colId xmlns:a16="http://schemas.microsoft.com/office/drawing/2014/main" val="1783995090"/>
                    </a:ext>
                  </a:extLst>
                </a:gridCol>
                <a:gridCol w="1507958">
                  <a:extLst>
                    <a:ext uri="{9D8B030D-6E8A-4147-A177-3AD203B41FA5}">
                      <a16:colId xmlns:a16="http://schemas.microsoft.com/office/drawing/2014/main" val="2589555156"/>
                    </a:ext>
                  </a:extLst>
                </a:gridCol>
              </a:tblGrid>
              <a:tr h="370840">
                <a:tc>
                  <a:txBody>
                    <a:bodyPr/>
                    <a:lstStyle/>
                    <a:p>
                      <a:pPr algn="ctr"/>
                      <a:r>
                        <a:rPr lang="en-US" dirty="0"/>
                        <a:t>Phase</a:t>
                      </a:r>
                      <a:endParaRPr lang="en-GY" dirty="0"/>
                    </a:p>
                  </a:txBody>
                  <a:tcPr/>
                </a:tc>
                <a:tc>
                  <a:txBody>
                    <a:bodyPr/>
                    <a:lstStyle/>
                    <a:p>
                      <a:pPr algn="ctr"/>
                      <a:r>
                        <a:rPr lang="en-US" dirty="0"/>
                        <a:t>Time (</a:t>
                      </a:r>
                      <a:r>
                        <a:rPr lang="en-US" dirty="0" err="1"/>
                        <a:t>hrs</a:t>
                      </a:r>
                      <a:r>
                        <a:rPr lang="en-US" dirty="0"/>
                        <a:t>)</a:t>
                      </a:r>
                      <a:endParaRPr lang="en-GY" dirty="0"/>
                    </a:p>
                  </a:txBody>
                  <a:tcPr/>
                </a:tc>
                <a:extLst>
                  <a:ext uri="{0D108BD9-81ED-4DB2-BD59-A6C34878D82A}">
                    <a16:rowId xmlns:a16="http://schemas.microsoft.com/office/drawing/2014/main" val="531430204"/>
                  </a:ext>
                </a:extLst>
              </a:tr>
              <a:tr h="370840">
                <a:tc>
                  <a:txBody>
                    <a:bodyPr/>
                    <a:lstStyle/>
                    <a:p>
                      <a:pPr marL="91440" marR="0" lvl="0" indent="-91440" algn="l" defTabSz="914400" rtl="0" eaLnBrk="1" fontAlgn="auto" latinLnBrk="0" hangingPunct="1">
                        <a:lnSpc>
                          <a:spcPct val="90000"/>
                        </a:lnSpc>
                        <a:spcBef>
                          <a:spcPts val="1200"/>
                        </a:spcBef>
                        <a:spcAft>
                          <a:spcPts val="200"/>
                        </a:spcAft>
                        <a:buClr>
                          <a:srgbClr val="E48312"/>
                        </a:buClr>
                        <a:buSzPct val="100000"/>
                        <a:buFont typeface="Calibri" panose="020F0502020204030204" pitchFamily="34" charset="0"/>
                        <a:buChar char=" "/>
                        <a:tabLst/>
                        <a:defRPr/>
                      </a:pPr>
                      <a:r>
                        <a:rPr kumimoji="0" lang="en-US" sz="2000" b="0" i="0" u="none" strike="noStrike" kern="1200" cap="none" spc="0" normalizeH="0" baseline="0" noProof="0" dirty="0">
                          <a:ln>
                            <a:noFill/>
                          </a:ln>
                          <a:solidFill>
                            <a:srgbClr val="000000">
                              <a:lumMod val="75000"/>
                              <a:lumOff val="25000"/>
                            </a:srgbClr>
                          </a:solidFill>
                          <a:effectLst/>
                          <a:uLnTx/>
                          <a:uFillTx/>
                          <a:latin typeface="Calibri" panose="020F0502020204030204"/>
                          <a:ea typeface="+mn-ea"/>
                          <a:cs typeface="+mn-cs"/>
                        </a:rPr>
                        <a:t>Week 1: Setup &amp; diagnostics</a:t>
                      </a:r>
                    </a:p>
                  </a:txBody>
                  <a:tcPr/>
                </a:tc>
                <a:tc>
                  <a:txBody>
                    <a:bodyPr/>
                    <a:lstStyle/>
                    <a:p>
                      <a:pPr algn="ctr"/>
                      <a:r>
                        <a:rPr lang="en-US" dirty="0"/>
                        <a:t> 12</a:t>
                      </a:r>
                      <a:endParaRPr lang="en-GY" dirty="0"/>
                    </a:p>
                  </a:txBody>
                  <a:tcPr/>
                </a:tc>
                <a:extLst>
                  <a:ext uri="{0D108BD9-81ED-4DB2-BD59-A6C34878D82A}">
                    <a16:rowId xmlns:a16="http://schemas.microsoft.com/office/drawing/2014/main" val="3054966659"/>
                  </a:ext>
                </a:extLst>
              </a:tr>
              <a:tr h="370840">
                <a:tc>
                  <a:txBody>
                    <a:bodyPr/>
                    <a:lstStyle/>
                    <a:p>
                      <a:pPr marL="91440" marR="0" lvl="0" indent="-91440" algn="l" defTabSz="914400" rtl="0" eaLnBrk="1" fontAlgn="auto" latinLnBrk="0" hangingPunct="1">
                        <a:lnSpc>
                          <a:spcPct val="90000"/>
                        </a:lnSpc>
                        <a:spcBef>
                          <a:spcPts val="1200"/>
                        </a:spcBef>
                        <a:spcAft>
                          <a:spcPts val="200"/>
                        </a:spcAft>
                        <a:buClr>
                          <a:srgbClr val="E48312"/>
                        </a:buClr>
                        <a:buSzPct val="100000"/>
                        <a:buFont typeface="Calibri" panose="020F0502020204030204" pitchFamily="34" charset="0"/>
                        <a:buChar char=" "/>
                        <a:tabLst/>
                        <a:defRPr/>
                      </a:pPr>
                      <a:r>
                        <a:rPr kumimoji="0" lang="en-US" sz="2000" b="0" i="0" u="none" strike="noStrike" kern="1200" cap="none" spc="0" normalizeH="0" baseline="0" noProof="0" dirty="0">
                          <a:ln>
                            <a:noFill/>
                          </a:ln>
                          <a:solidFill>
                            <a:srgbClr val="000000">
                              <a:lumMod val="75000"/>
                              <a:lumOff val="25000"/>
                            </a:srgbClr>
                          </a:solidFill>
                          <a:effectLst/>
                          <a:uLnTx/>
                          <a:uFillTx/>
                          <a:latin typeface="Calibri" panose="020F0502020204030204"/>
                          <a:ea typeface="+mn-ea"/>
                          <a:cs typeface="+mn-cs"/>
                        </a:rPr>
                        <a:t> Week 2: Cleaning pipeline</a:t>
                      </a:r>
                    </a:p>
                  </a:txBody>
                  <a:tcPr/>
                </a:tc>
                <a:tc>
                  <a:txBody>
                    <a:bodyPr/>
                    <a:lstStyle/>
                    <a:p>
                      <a:pPr algn="ctr"/>
                      <a:r>
                        <a:rPr lang="en-US" dirty="0"/>
                        <a:t>14</a:t>
                      </a:r>
                      <a:endParaRPr lang="en-GY" dirty="0"/>
                    </a:p>
                  </a:txBody>
                  <a:tcPr/>
                </a:tc>
                <a:extLst>
                  <a:ext uri="{0D108BD9-81ED-4DB2-BD59-A6C34878D82A}">
                    <a16:rowId xmlns:a16="http://schemas.microsoft.com/office/drawing/2014/main" val="648701564"/>
                  </a:ext>
                </a:extLst>
              </a:tr>
              <a:tr h="370840">
                <a:tc>
                  <a:txBody>
                    <a:bodyPr/>
                    <a:lstStyle/>
                    <a:p>
                      <a:pPr marL="91440" marR="0" lvl="0" indent="-91440" algn="l" defTabSz="914400" rtl="0" eaLnBrk="1" fontAlgn="auto" latinLnBrk="0" hangingPunct="1">
                        <a:lnSpc>
                          <a:spcPct val="90000"/>
                        </a:lnSpc>
                        <a:spcBef>
                          <a:spcPts val="1200"/>
                        </a:spcBef>
                        <a:spcAft>
                          <a:spcPts val="200"/>
                        </a:spcAft>
                        <a:buClr>
                          <a:srgbClr val="E48312"/>
                        </a:buClr>
                        <a:buSzPct val="100000"/>
                        <a:buFont typeface="Calibri" panose="020F0502020204030204" pitchFamily="34" charset="0"/>
                        <a:buChar char=" "/>
                        <a:tabLst/>
                        <a:defRPr/>
                      </a:pPr>
                      <a:r>
                        <a:rPr kumimoji="0" lang="en-US" sz="2000" b="0" i="0" u="none" strike="noStrike" kern="1200" cap="none" spc="0" normalizeH="0" baseline="0" noProof="0" dirty="0">
                          <a:ln>
                            <a:noFill/>
                          </a:ln>
                          <a:solidFill>
                            <a:srgbClr val="000000">
                              <a:lumMod val="75000"/>
                              <a:lumOff val="25000"/>
                            </a:srgbClr>
                          </a:solidFill>
                          <a:effectLst/>
                          <a:uLnTx/>
                          <a:uFillTx/>
                          <a:latin typeface="Calibri" panose="020F0502020204030204"/>
                          <a:ea typeface="+mn-ea"/>
                          <a:cs typeface="+mn-cs"/>
                        </a:rPr>
                        <a:t> Week 3: Imputation, exports, reporting, presentation</a:t>
                      </a:r>
                    </a:p>
                  </a:txBody>
                  <a:tcPr/>
                </a:tc>
                <a:tc>
                  <a:txBody>
                    <a:bodyPr/>
                    <a:lstStyle/>
                    <a:p>
                      <a:pPr algn="ctr"/>
                      <a:r>
                        <a:rPr lang="en-US" dirty="0"/>
                        <a:t>8</a:t>
                      </a:r>
                      <a:endParaRPr lang="en-GY" dirty="0"/>
                    </a:p>
                  </a:txBody>
                  <a:tcPr/>
                </a:tc>
                <a:extLst>
                  <a:ext uri="{0D108BD9-81ED-4DB2-BD59-A6C34878D82A}">
                    <a16:rowId xmlns:a16="http://schemas.microsoft.com/office/drawing/2014/main" val="204874401"/>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 Would Do With More Time</a:t>
            </a:r>
          </a:p>
        </p:txBody>
      </p:sp>
      <p:sp>
        <p:nvSpPr>
          <p:cNvPr id="3" name="Content Placeholder 2"/>
          <p:cNvSpPr>
            <a:spLocks noGrp="1"/>
          </p:cNvSpPr>
          <p:nvPr>
            <p:ph idx="1"/>
          </p:nvPr>
        </p:nvSpPr>
        <p:spPr>
          <a:xfrm>
            <a:off x="822960" y="1845734"/>
            <a:ext cx="7543800" cy="4023360"/>
          </a:xfrm>
        </p:spPr>
        <p:txBody>
          <a:bodyPr/>
          <a:lstStyle/>
          <a:p>
            <a:pPr>
              <a:buFont typeface="Arial" panose="020B0604020202020204" pitchFamily="34" charset="0"/>
              <a:buChar char="•"/>
            </a:pPr>
            <a:r>
              <a:rPr dirty="0"/>
              <a:t> </a:t>
            </a:r>
            <a:r>
              <a:rPr lang="en-US" dirty="0"/>
              <a:t>   </a:t>
            </a:r>
            <a:r>
              <a:rPr dirty="0"/>
              <a:t>Improve duplicate detection</a:t>
            </a:r>
          </a:p>
          <a:p>
            <a:pPr>
              <a:buFont typeface="Arial" panose="020B0604020202020204" pitchFamily="34" charset="0"/>
              <a:buChar char="•"/>
            </a:pPr>
            <a:r>
              <a:rPr dirty="0"/>
              <a:t> </a:t>
            </a:r>
            <a:r>
              <a:rPr lang="en-US" dirty="0"/>
              <a:t>   </a:t>
            </a:r>
            <a:r>
              <a:rPr dirty="0"/>
              <a:t>Apply advanced imputation methods</a:t>
            </a:r>
          </a:p>
          <a:p>
            <a:pPr>
              <a:buFont typeface="Arial" panose="020B0604020202020204" pitchFamily="34" charset="0"/>
              <a:buChar char="•"/>
            </a:pPr>
            <a:r>
              <a:rPr lang="en-US" dirty="0"/>
              <a:t>    </a:t>
            </a:r>
            <a:r>
              <a:rPr dirty="0"/>
              <a:t>Add validation rules</a:t>
            </a:r>
          </a:p>
          <a:p>
            <a:pPr>
              <a:buFont typeface="Arial" panose="020B0604020202020204" pitchFamily="34" charset="0"/>
              <a:buChar char="•"/>
            </a:pPr>
            <a:r>
              <a:rPr dirty="0"/>
              <a:t> </a:t>
            </a:r>
            <a:r>
              <a:rPr lang="en-US" dirty="0"/>
              <a:t>   </a:t>
            </a:r>
            <a:r>
              <a:rPr dirty="0"/>
              <a:t>Expand analysis beyond cleaning</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2288" y="2404580"/>
            <a:ext cx="8229600" cy="1719054"/>
          </a:xfrm>
        </p:spPr>
        <p:txBody>
          <a:bodyPr>
            <a:normAutofit/>
          </a:bodyPr>
          <a:lstStyle/>
          <a:p>
            <a:pPr algn="ctr"/>
            <a:r>
              <a:rPr lang="en-US" sz="6000" b="1" dirty="0"/>
              <a:t>Thank You</a:t>
            </a:r>
            <a:br>
              <a:rPr lang="en-US" sz="6000" dirty="0"/>
            </a:br>
            <a:endParaRPr sz="6000" dirty="0"/>
          </a:p>
        </p:txBody>
      </p:sp>
      <p:sp>
        <p:nvSpPr>
          <p:cNvPr id="3" name="Content Placeholder 2"/>
          <p:cNvSpPr>
            <a:spLocks noGrp="1"/>
          </p:cNvSpPr>
          <p:nvPr>
            <p:ph idx="1"/>
          </p:nvPr>
        </p:nvSpPr>
        <p:spPr>
          <a:xfrm>
            <a:off x="2458256" y="3424989"/>
            <a:ext cx="4459573" cy="694634"/>
          </a:xfrm>
        </p:spPr>
        <p:txBody>
          <a:bodyPr>
            <a:normAutofit/>
          </a:bodyPr>
          <a:lstStyle/>
          <a:p>
            <a:pPr marL="0" indent="0" algn="ctr">
              <a:buNone/>
            </a:pPr>
            <a:r>
              <a:rPr dirty="0"/>
              <a:t>Questions?</a:t>
            </a:r>
          </a:p>
          <a:p>
            <a:pPr marL="0" indent="0" algn="ctr">
              <a:buNone/>
            </a:pPr>
            <a:endParaRPr dirty="0"/>
          </a:p>
        </p:txBody>
      </p:sp>
      <p:sp>
        <p:nvSpPr>
          <p:cNvPr id="4" name="Content Placeholder 2">
            <a:extLst>
              <a:ext uri="{FF2B5EF4-FFF2-40B4-BE49-F238E27FC236}">
                <a16:creationId xmlns:a16="http://schemas.microsoft.com/office/drawing/2014/main" id="{B1EF6775-C445-7186-53C2-2EBA3E1A1D3E}"/>
              </a:ext>
            </a:extLst>
          </p:cNvPr>
          <p:cNvSpPr txBox="1">
            <a:spLocks/>
          </p:cNvSpPr>
          <p:nvPr/>
        </p:nvSpPr>
        <p:spPr>
          <a:xfrm>
            <a:off x="112427" y="5960529"/>
            <a:ext cx="8851691" cy="368377"/>
          </a:xfrm>
          <a:prstGeom prst="rect">
            <a:avLst/>
          </a:prstGeom>
        </p:spPr>
        <p:txBody>
          <a:bodyPr vert="horz" lIns="91440" tIns="45720" rIns="91440" bIns="45720" rtlCol="0">
            <a:normAutofit/>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None/>
            </a:pPr>
            <a:r>
              <a:rPr lang="en-US" sz="1400" dirty="0"/>
              <a:t>Name: Tynisha Niles                        # 6657177</a:t>
            </a:r>
          </a:p>
        </p:txBody>
      </p:sp>
    </p:spTree>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Retrospect</Template>
  <TotalTime>5956</TotalTime>
  <Words>1071</Words>
  <Application>Microsoft Office PowerPoint</Application>
  <PresentationFormat>On-screen Show (4:3)</PresentationFormat>
  <Paragraphs>194</Paragraphs>
  <Slides>19</Slides>
  <Notes>18</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19</vt:i4>
      </vt:variant>
    </vt:vector>
  </HeadingPairs>
  <TitlesOfParts>
    <vt:vector size="26" baseType="lpstr">
      <vt:lpstr>Aptos</vt:lpstr>
      <vt:lpstr>Arial</vt:lpstr>
      <vt:lpstr>Calibri</vt:lpstr>
      <vt:lpstr>Calibri Light</vt:lpstr>
      <vt:lpstr>Wingdings</vt:lpstr>
      <vt:lpstr>Retrospect</vt:lpstr>
      <vt:lpstr>Microsoft Word Document</vt:lpstr>
      <vt:lpstr>Healthcare Data Cleaning Pipeline </vt:lpstr>
      <vt:lpstr>The Dataset</vt:lpstr>
      <vt:lpstr>Objective</vt:lpstr>
      <vt:lpstr>Pipeline Architecture</vt:lpstr>
      <vt:lpstr>Pipeline Architecture</vt:lpstr>
      <vt:lpstr>Top Data Quality Issues</vt:lpstr>
      <vt:lpstr>How You Cleaned It</vt:lpstr>
      <vt:lpstr>Imputation</vt:lpstr>
      <vt:lpstr>Chart That Tells a Story</vt:lpstr>
      <vt:lpstr>Outputs</vt:lpstr>
      <vt:lpstr>Outputs</vt:lpstr>
      <vt:lpstr>Outputs</vt:lpstr>
      <vt:lpstr>Outputs</vt:lpstr>
      <vt:lpstr>Outputs</vt:lpstr>
      <vt:lpstr>What Went Well</vt:lpstr>
      <vt:lpstr>What Was Hard</vt:lpstr>
      <vt:lpstr>Time Breakdown</vt:lpstr>
      <vt:lpstr>What I Would Do With More Time</vt:lpstr>
      <vt:lpstr>Thank You </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Tynisha Niles</dc:creator>
  <cp:keywords/>
  <dc:description>generated using python-pptx</dc:description>
  <cp:lastModifiedBy>Tynisha  Niles</cp:lastModifiedBy>
  <cp:revision>11</cp:revision>
  <dcterms:created xsi:type="dcterms:W3CDTF">2013-01-27T09:14:16Z</dcterms:created>
  <dcterms:modified xsi:type="dcterms:W3CDTF">2026-05-11T19:52:39Z</dcterms:modified>
  <cp:category/>
</cp:coreProperties>
</file>