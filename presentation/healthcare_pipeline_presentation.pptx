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70" r:id="rId2"/>
    <p:sldId id="273" r:id="rId3"/>
    <p:sldId id="258" r:id="rId4"/>
    <p:sldId id="272" r:id="rId5"/>
    <p:sldId id="260" r:id="rId6"/>
    <p:sldId id="274" r:id="rId7"/>
    <p:sldId id="262" r:id="rId8"/>
    <p:sldId id="263" r:id="rId9"/>
    <p:sldId id="280" r:id="rId10"/>
    <p:sldId id="265" r:id="rId11"/>
    <p:sldId id="275"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531" autoAdjust="0"/>
  </p:normalViewPr>
  <p:slideViewPr>
    <p:cSldViewPr snapToGrid="0" snapToObjects="1">
      <p:cViewPr>
        <p:scale>
          <a:sx n="50" d="100"/>
          <a:sy n="50" d="100"/>
        </p:scale>
        <p:origin x="187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0F0641-6FE9-4B06-A486-203C921AF9F6}"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GY"/>
        </a:p>
      </dgm:t>
    </dgm:pt>
    <dgm:pt modelId="{D319ED06-36C1-477D-B2C4-14829CE6AED6}">
      <dgm:prSet phldrT="[Text]" phldr="0"/>
      <dgm:spPr/>
      <dgm:t>
        <a:bodyPr/>
        <a:lstStyle/>
        <a:p>
          <a:r>
            <a:rPr lang="en-US" b="1" dirty="0"/>
            <a:t>STEP 1</a:t>
          </a:r>
          <a:endParaRPr lang="en-GY" b="1" dirty="0"/>
        </a:p>
      </dgm:t>
    </dgm:pt>
    <dgm:pt modelId="{2B2997D2-C3E2-49C2-AFB1-3628A410B9E9}" type="parTrans" cxnId="{E0A7C38C-8371-4D9B-B0EF-8E384BE8F288}">
      <dgm:prSet/>
      <dgm:spPr/>
      <dgm:t>
        <a:bodyPr/>
        <a:lstStyle/>
        <a:p>
          <a:endParaRPr lang="en-GY"/>
        </a:p>
      </dgm:t>
    </dgm:pt>
    <dgm:pt modelId="{650DF0D4-1E0B-468C-9D87-63548C9BB44B}" type="sibTrans" cxnId="{E0A7C38C-8371-4D9B-B0EF-8E384BE8F288}">
      <dgm:prSet/>
      <dgm:spPr/>
      <dgm:t>
        <a:bodyPr/>
        <a:lstStyle/>
        <a:p>
          <a:endParaRPr lang="en-GY"/>
        </a:p>
      </dgm:t>
    </dgm:pt>
    <dgm:pt modelId="{2CF8132D-0BBD-4431-A3B3-7DAC277FCC4E}">
      <dgm:prSet phldrT="[Text]" custT="1"/>
      <dgm:spPr/>
      <dgm:t>
        <a:bodyPr/>
        <a:lstStyle/>
        <a:p>
          <a:r>
            <a:rPr lang="en-US" sz="2000" dirty="0"/>
            <a:t>01_ingest.R – </a:t>
          </a:r>
          <a:r>
            <a:rPr lang="en-US" sz="1400" dirty="0"/>
            <a:t>data ingestion &amp; validation</a:t>
          </a:r>
          <a:endParaRPr lang="en-GY" sz="2000" dirty="0"/>
        </a:p>
      </dgm:t>
    </dgm:pt>
    <dgm:pt modelId="{F551AA26-A5A1-4ACC-81A3-D7035A0BACC5}" type="parTrans" cxnId="{3567A42F-BDE8-4D63-B500-37A7F608BCD7}">
      <dgm:prSet/>
      <dgm:spPr/>
      <dgm:t>
        <a:bodyPr/>
        <a:lstStyle/>
        <a:p>
          <a:endParaRPr lang="en-GY"/>
        </a:p>
      </dgm:t>
    </dgm:pt>
    <dgm:pt modelId="{4C7D462E-4211-47C3-B191-8732D9106D6B}" type="sibTrans" cxnId="{3567A42F-BDE8-4D63-B500-37A7F608BCD7}">
      <dgm:prSet/>
      <dgm:spPr/>
      <dgm:t>
        <a:bodyPr/>
        <a:lstStyle/>
        <a:p>
          <a:endParaRPr lang="en-GY"/>
        </a:p>
      </dgm:t>
    </dgm:pt>
    <dgm:pt modelId="{FD175BB3-DE6D-4A45-BDA6-9A6682EA910D}">
      <dgm:prSet phldrT="[Text]" phldr="0"/>
      <dgm:spPr/>
      <dgm:t>
        <a:bodyPr/>
        <a:lstStyle/>
        <a:p>
          <a:r>
            <a:rPr lang="en-US" b="1" dirty="0"/>
            <a:t>STEP 2</a:t>
          </a:r>
          <a:endParaRPr lang="en-GY" b="1" dirty="0"/>
        </a:p>
      </dgm:t>
    </dgm:pt>
    <dgm:pt modelId="{70D492BF-6E7C-4E92-A656-BFF5B3D2F916}" type="parTrans" cxnId="{55B7960D-E144-44A2-A0C9-00589393783B}">
      <dgm:prSet/>
      <dgm:spPr/>
      <dgm:t>
        <a:bodyPr/>
        <a:lstStyle/>
        <a:p>
          <a:endParaRPr lang="en-GY"/>
        </a:p>
      </dgm:t>
    </dgm:pt>
    <dgm:pt modelId="{846374F9-8997-4D60-A52E-041B13B70619}" type="sibTrans" cxnId="{55B7960D-E144-44A2-A0C9-00589393783B}">
      <dgm:prSet/>
      <dgm:spPr/>
      <dgm:t>
        <a:bodyPr/>
        <a:lstStyle/>
        <a:p>
          <a:endParaRPr lang="en-GY"/>
        </a:p>
      </dgm:t>
    </dgm:pt>
    <dgm:pt modelId="{6A5213D9-4189-4405-8486-867A94BFBC61}">
      <dgm:prSet phldrT="[Text]" custT="1"/>
      <dgm:spPr/>
      <dgm:t>
        <a:bodyPr/>
        <a:lstStyle/>
        <a:p>
          <a:r>
            <a:rPr lang="en-US" sz="2000" dirty="0"/>
            <a:t>02_diagnose.R- </a:t>
          </a:r>
          <a:r>
            <a:rPr lang="en-US" sz="1400" dirty="0"/>
            <a:t>diagnostics &amp; logging</a:t>
          </a:r>
          <a:endParaRPr lang="en-GY" sz="2000" dirty="0"/>
        </a:p>
      </dgm:t>
    </dgm:pt>
    <dgm:pt modelId="{F26735A8-CBF6-4158-AB2E-54F4DEB4F8AB}" type="parTrans" cxnId="{BFFE4519-65D4-4246-A35E-B374922F42C3}">
      <dgm:prSet/>
      <dgm:spPr/>
      <dgm:t>
        <a:bodyPr/>
        <a:lstStyle/>
        <a:p>
          <a:endParaRPr lang="en-GY"/>
        </a:p>
      </dgm:t>
    </dgm:pt>
    <dgm:pt modelId="{26E335D2-8120-4F42-9D49-FECEB251AE86}" type="sibTrans" cxnId="{BFFE4519-65D4-4246-A35E-B374922F42C3}">
      <dgm:prSet/>
      <dgm:spPr/>
      <dgm:t>
        <a:bodyPr/>
        <a:lstStyle/>
        <a:p>
          <a:endParaRPr lang="en-GY"/>
        </a:p>
      </dgm:t>
    </dgm:pt>
    <dgm:pt modelId="{66732301-5E01-4D2E-8D29-5EA430D9DF9D}">
      <dgm:prSet phldrT="[Text]" phldr="0"/>
      <dgm:spPr/>
      <dgm:t>
        <a:bodyPr/>
        <a:lstStyle/>
        <a:p>
          <a:r>
            <a:rPr lang="en-US" b="1" dirty="0"/>
            <a:t>STEP 7</a:t>
          </a:r>
          <a:endParaRPr lang="en-GY" b="1" dirty="0"/>
        </a:p>
      </dgm:t>
    </dgm:pt>
    <dgm:pt modelId="{637D46E8-2F73-4C40-BBC5-B869C63E6A0A}" type="parTrans" cxnId="{6CE3655F-9A42-496F-8B05-C6C99B200777}">
      <dgm:prSet/>
      <dgm:spPr/>
      <dgm:t>
        <a:bodyPr/>
        <a:lstStyle/>
        <a:p>
          <a:endParaRPr lang="en-GY"/>
        </a:p>
      </dgm:t>
    </dgm:pt>
    <dgm:pt modelId="{AB3BC250-5061-40B2-B21C-A3993457BAA0}" type="sibTrans" cxnId="{6CE3655F-9A42-496F-8B05-C6C99B200777}">
      <dgm:prSet/>
      <dgm:spPr/>
      <dgm:t>
        <a:bodyPr/>
        <a:lstStyle/>
        <a:p>
          <a:endParaRPr lang="en-GY"/>
        </a:p>
      </dgm:t>
    </dgm:pt>
    <dgm:pt modelId="{9FE5993A-D9AF-4AEC-B763-794BAA96F210}">
      <dgm:prSet phldrT="[Text]" phldr="0" custT="1"/>
      <dgm:spPr/>
      <dgm:t>
        <a:bodyPr/>
        <a:lstStyle/>
        <a:p>
          <a:r>
            <a:rPr lang="en-US" sz="2000" dirty="0"/>
            <a:t>07_report.Rmd – </a:t>
          </a:r>
          <a:r>
            <a:rPr lang="en-US" sz="1400" dirty="0"/>
            <a:t>automated word report</a:t>
          </a:r>
          <a:endParaRPr lang="en-GY" sz="2000" dirty="0"/>
        </a:p>
      </dgm:t>
    </dgm:pt>
    <dgm:pt modelId="{6B701CC5-C354-4BE9-9B70-5BF4D8693D1F}" type="parTrans" cxnId="{7E5AD77E-FFA0-477B-9B42-9415C97EE1E7}">
      <dgm:prSet/>
      <dgm:spPr/>
      <dgm:t>
        <a:bodyPr/>
        <a:lstStyle/>
        <a:p>
          <a:endParaRPr lang="en-GY"/>
        </a:p>
      </dgm:t>
    </dgm:pt>
    <dgm:pt modelId="{802CE2D0-F916-405C-933D-88E22EE99DBD}" type="sibTrans" cxnId="{7E5AD77E-FFA0-477B-9B42-9415C97EE1E7}">
      <dgm:prSet/>
      <dgm:spPr/>
      <dgm:t>
        <a:bodyPr/>
        <a:lstStyle/>
        <a:p>
          <a:endParaRPr lang="en-GY"/>
        </a:p>
      </dgm:t>
    </dgm:pt>
    <dgm:pt modelId="{3BADAD2D-6184-474B-9930-EFCB1B5C7FE0}">
      <dgm:prSet/>
      <dgm:spPr/>
      <dgm:t>
        <a:bodyPr/>
        <a:lstStyle/>
        <a:p>
          <a:r>
            <a:rPr lang="en-US" b="1" dirty="0"/>
            <a:t>STEP 5</a:t>
          </a:r>
          <a:endParaRPr lang="en-GY" b="1" dirty="0"/>
        </a:p>
      </dgm:t>
    </dgm:pt>
    <dgm:pt modelId="{D6EF3321-937B-4243-82D0-6A598788BFA0}" type="parTrans" cxnId="{AE2FEE64-4D5C-427C-AD84-9496415E4C33}">
      <dgm:prSet/>
      <dgm:spPr/>
      <dgm:t>
        <a:bodyPr/>
        <a:lstStyle/>
        <a:p>
          <a:endParaRPr lang="en-GY"/>
        </a:p>
      </dgm:t>
    </dgm:pt>
    <dgm:pt modelId="{C2BA6549-97A4-4967-B3B4-24F88AFA8C6E}" type="sibTrans" cxnId="{AE2FEE64-4D5C-427C-AD84-9496415E4C33}">
      <dgm:prSet/>
      <dgm:spPr/>
      <dgm:t>
        <a:bodyPr/>
        <a:lstStyle/>
        <a:p>
          <a:endParaRPr lang="en-GY"/>
        </a:p>
      </dgm:t>
    </dgm:pt>
    <dgm:pt modelId="{EF5A87F7-9184-4338-B681-103AE7020E8F}">
      <dgm:prSet/>
      <dgm:spPr/>
      <dgm:t>
        <a:bodyPr/>
        <a:lstStyle/>
        <a:p>
          <a:r>
            <a:rPr lang="en-US" b="1" dirty="0"/>
            <a:t>STEP 4</a:t>
          </a:r>
          <a:endParaRPr lang="en-GY" b="1" dirty="0"/>
        </a:p>
      </dgm:t>
    </dgm:pt>
    <dgm:pt modelId="{E72232AA-E8E0-4F91-95F7-EEAAE9E9898F}" type="parTrans" cxnId="{B8FDAA0F-D190-4376-A119-57FCFDD56D14}">
      <dgm:prSet/>
      <dgm:spPr/>
      <dgm:t>
        <a:bodyPr/>
        <a:lstStyle/>
        <a:p>
          <a:endParaRPr lang="en-GY"/>
        </a:p>
      </dgm:t>
    </dgm:pt>
    <dgm:pt modelId="{017BD5B4-86DF-45D3-B43E-ADA1A1723E2A}" type="sibTrans" cxnId="{B8FDAA0F-D190-4376-A119-57FCFDD56D14}">
      <dgm:prSet/>
      <dgm:spPr/>
      <dgm:t>
        <a:bodyPr/>
        <a:lstStyle/>
        <a:p>
          <a:endParaRPr lang="en-GY"/>
        </a:p>
      </dgm:t>
    </dgm:pt>
    <dgm:pt modelId="{003C26E8-68FD-4340-B203-8836F4FAE147}">
      <dgm:prSet/>
      <dgm:spPr/>
      <dgm:t>
        <a:bodyPr/>
        <a:lstStyle/>
        <a:p>
          <a:r>
            <a:rPr lang="en-US" b="1" dirty="0"/>
            <a:t>STEP 3</a:t>
          </a:r>
          <a:endParaRPr lang="en-GY" b="1" dirty="0"/>
        </a:p>
      </dgm:t>
    </dgm:pt>
    <dgm:pt modelId="{198A8EA5-D80D-4F3C-AF74-4B0A97A589E4}" type="parTrans" cxnId="{92C01AB1-C5D3-472C-A8F1-D9841AF51CAF}">
      <dgm:prSet/>
      <dgm:spPr/>
      <dgm:t>
        <a:bodyPr/>
        <a:lstStyle/>
        <a:p>
          <a:endParaRPr lang="en-GY"/>
        </a:p>
      </dgm:t>
    </dgm:pt>
    <dgm:pt modelId="{0E09E75A-FC67-4B75-AA88-36A7FA5E8FC9}" type="sibTrans" cxnId="{92C01AB1-C5D3-472C-A8F1-D9841AF51CAF}">
      <dgm:prSet/>
      <dgm:spPr/>
      <dgm:t>
        <a:bodyPr/>
        <a:lstStyle/>
        <a:p>
          <a:endParaRPr lang="en-GY"/>
        </a:p>
      </dgm:t>
    </dgm:pt>
    <dgm:pt modelId="{63D7A911-C7BD-4135-B458-BF039ED3972C}">
      <dgm:prSet/>
      <dgm:spPr/>
      <dgm:t>
        <a:bodyPr/>
        <a:lstStyle/>
        <a:p>
          <a:r>
            <a:rPr lang="en-US" b="1" dirty="0"/>
            <a:t>STEP 6</a:t>
          </a:r>
          <a:endParaRPr lang="en-GY" b="1" dirty="0"/>
        </a:p>
      </dgm:t>
    </dgm:pt>
    <dgm:pt modelId="{0DC05151-90C8-4CC0-B3A2-F6A5CC11B753}" type="parTrans" cxnId="{BCCC8F8C-D5B6-4C4E-A4E2-B00156461879}">
      <dgm:prSet/>
      <dgm:spPr/>
      <dgm:t>
        <a:bodyPr/>
        <a:lstStyle/>
        <a:p>
          <a:endParaRPr lang="en-GY"/>
        </a:p>
      </dgm:t>
    </dgm:pt>
    <dgm:pt modelId="{90728051-1B3B-477D-AD1E-63766DCA1D86}" type="sibTrans" cxnId="{BCCC8F8C-D5B6-4C4E-A4E2-B00156461879}">
      <dgm:prSet/>
      <dgm:spPr/>
      <dgm:t>
        <a:bodyPr/>
        <a:lstStyle/>
        <a:p>
          <a:endParaRPr lang="en-GY"/>
        </a:p>
      </dgm:t>
    </dgm:pt>
    <dgm:pt modelId="{7C88B815-0664-4BBE-B655-01EC3A0B432E}">
      <dgm:prSet custT="1"/>
      <dgm:spPr/>
      <dgm:t>
        <a:bodyPr/>
        <a:lstStyle/>
        <a:p>
          <a:r>
            <a:rPr lang="en-US" sz="2000" dirty="0"/>
            <a:t>03_clean.R – </a:t>
          </a:r>
          <a:r>
            <a:rPr lang="en-US" sz="1400" dirty="0"/>
            <a:t>cleaning &amp; duplicate handling</a:t>
          </a:r>
          <a:endParaRPr lang="en-GY" sz="2000" dirty="0"/>
        </a:p>
      </dgm:t>
    </dgm:pt>
    <dgm:pt modelId="{8CE89CC4-6CCA-4E0C-9112-CF4D19E7071A}" type="parTrans" cxnId="{68AAC3C9-981D-44C6-A21D-7A549EC897DD}">
      <dgm:prSet/>
      <dgm:spPr/>
      <dgm:t>
        <a:bodyPr/>
        <a:lstStyle/>
        <a:p>
          <a:endParaRPr lang="en-GY"/>
        </a:p>
      </dgm:t>
    </dgm:pt>
    <dgm:pt modelId="{EF9B6500-142F-47F1-9096-4E269271988A}" type="sibTrans" cxnId="{68AAC3C9-981D-44C6-A21D-7A549EC897DD}">
      <dgm:prSet/>
      <dgm:spPr/>
      <dgm:t>
        <a:bodyPr/>
        <a:lstStyle/>
        <a:p>
          <a:endParaRPr lang="en-GY"/>
        </a:p>
      </dgm:t>
    </dgm:pt>
    <dgm:pt modelId="{EA1D8C68-6BDF-434D-9436-952ACA7F23BF}">
      <dgm:prSet custT="1"/>
      <dgm:spPr/>
      <dgm:t>
        <a:bodyPr/>
        <a:lstStyle/>
        <a:p>
          <a:r>
            <a:rPr lang="en-US" sz="2000" dirty="0"/>
            <a:t>04_impute.R - </a:t>
          </a:r>
          <a:r>
            <a:rPr lang="en-US" sz="1400" dirty="0"/>
            <a:t>imputation</a:t>
          </a:r>
          <a:endParaRPr lang="en-GY" sz="2000" dirty="0"/>
        </a:p>
      </dgm:t>
    </dgm:pt>
    <dgm:pt modelId="{2337C6F9-F175-44BD-B2A2-13491EE2478B}" type="parTrans" cxnId="{0111AD90-5E23-46AF-BFEF-0C617D72709A}">
      <dgm:prSet/>
      <dgm:spPr/>
      <dgm:t>
        <a:bodyPr/>
        <a:lstStyle/>
        <a:p>
          <a:endParaRPr lang="en-GY"/>
        </a:p>
      </dgm:t>
    </dgm:pt>
    <dgm:pt modelId="{D896291E-03EE-41D3-AE3C-C28B77DCA8A2}" type="sibTrans" cxnId="{0111AD90-5E23-46AF-BFEF-0C617D72709A}">
      <dgm:prSet/>
      <dgm:spPr/>
      <dgm:t>
        <a:bodyPr/>
        <a:lstStyle/>
        <a:p>
          <a:endParaRPr lang="en-GY"/>
        </a:p>
      </dgm:t>
    </dgm:pt>
    <dgm:pt modelId="{0586F6F3-F6BC-42C3-A360-AC09FFF4B164}">
      <dgm:prSet custT="1"/>
      <dgm:spPr/>
      <dgm:t>
        <a:bodyPr/>
        <a:lstStyle/>
        <a:p>
          <a:r>
            <a:rPr lang="en-US" sz="2000" dirty="0"/>
            <a:t>05_dictionary.R – </a:t>
          </a:r>
          <a:r>
            <a:rPr lang="en-US" sz="1400" dirty="0"/>
            <a:t>data dictionary generation</a:t>
          </a:r>
          <a:endParaRPr lang="en-GY" sz="2000" dirty="0"/>
        </a:p>
      </dgm:t>
    </dgm:pt>
    <dgm:pt modelId="{53715672-8D56-419C-81FB-4CFC02B78AF9}" type="parTrans" cxnId="{E89E6177-7CE3-47B2-8484-8B6732BDEECC}">
      <dgm:prSet/>
      <dgm:spPr/>
      <dgm:t>
        <a:bodyPr/>
        <a:lstStyle/>
        <a:p>
          <a:endParaRPr lang="en-GY"/>
        </a:p>
      </dgm:t>
    </dgm:pt>
    <dgm:pt modelId="{9C11CA2E-7C3F-4DFD-9E96-9D8CB2E57155}" type="sibTrans" cxnId="{E89E6177-7CE3-47B2-8484-8B6732BDEECC}">
      <dgm:prSet/>
      <dgm:spPr/>
      <dgm:t>
        <a:bodyPr/>
        <a:lstStyle/>
        <a:p>
          <a:endParaRPr lang="en-GY"/>
        </a:p>
      </dgm:t>
    </dgm:pt>
    <dgm:pt modelId="{67B851F8-3514-4395-8791-E780F081A898}">
      <dgm:prSet custT="1"/>
      <dgm:spPr/>
      <dgm:t>
        <a:bodyPr/>
        <a:lstStyle/>
        <a:p>
          <a:r>
            <a:rPr lang="en-US" sz="2000" dirty="0"/>
            <a:t>06_export.R – </a:t>
          </a:r>
          <a:r>
            <a:rPr lang="en-US" sz="1400" dirty="0"/>
            <a:t>export outputs</a:t>
          </a:r>
          <a:endParaRPr lang="en-GY" sz="2000" dirty="0"/>
        </a:p>
      </dgm:t>
    </dgm:pt>
    <dgm:pt modelId="{9598DBF8-D8FC-41FD-A804-6F94BEBC7340}" type="parTrans" cxnId="{50F1EE99-FADD-4D08-8FCF-B8629C5B6877}">
      <dgm:prSet/>
      <dgm:spPr/>
      <dgm:t>
        <a:bodyPr/>
        <a:lstStyle/>
        <a:p>
          <a:endParaRPr lang="en-GY"/>
        </a:p>
      </dgm:t>
    </dgm:pt>
    <dgm:pt modelId="{7E482457-FE29-490C-86B8-91FF5D25ADB4}" type="sibTrans" cxnId="{50F1EE99-FADD-4D08-8FCF-B8629C5B6877}">
      <dgm:prSet/>
      <dgm:spPr/>
      <dgm:t>
        <a:bodyPr/>
        <a:lstStyle/>
        <a:p>
          <a:endParaRPr lang="en-GY"/>
        </a:p>
      </dgm:t>
    </dgm:pt>
    <dgm:pt modelId="{361F74F0-2D03-474D-B91B-FE875CF5ED9A}">
      <dgm:prSet/>
      <dgm:spPr/>
      <dgm:t>
        <a:bodyPr/>
        <a:lstStyle/>
        <a:p>
          <a:endParaRPr lang="en-GY"/>
        </a:p>
      </dgm:t>
    </dgm:pt>
    <dgm:pt modelId="{49CFA8C3-8FEF-44E5-9FA4-05F20D07420C}" type="parTrans" cxnId="{EFF10F31-9357-4ADC-BE39-8D525F333FBF}">
      <dgm:prSet/>
      <dgm:spPr/>
      <dgm:t>
        <a:bodyPr/>
        <a:lstStyle/>
        <a:p>
          <a:endParaRPr lang="en-GY"/>
        </a:p>
      </dgm:t>
    </dgm:pt>
    <dgm:pt modelId="{C5159945-39D9-477A-9D8E-4FFBE8A467F4}" type="sibTrans" cxnId="{EFF10F31-9357-4ADC-BE39-8D525F333FBF}">
      <dgm:prSet/>
      <dgm:spPr/>
      <dgm:t>
        <a:bodyPr/>
        <a:lstStyle/>
        <a:p>
          <a:endParaRPr lang="en-GY"/>
        </a:p>
      </dgm:t>
    </dgm:pt>
    <dgm:pt modelId="{66B85507-ED1F-4365-B000-A5A8BDF9129B}">
      <dgm:prSet custT="1"/>
      <dgm:spPr/>
      <dgm:t>
        <a:bodyPr/>
        <a:lstStyle/>
        <a:p>
          <a:r>
            <a:rPr lang="en-US" sz="2000" dirty="0"/>
            <a:t>00_config.R –</a:t>
          </a:r>
          <a:r>
            <a:rPr lang="en-US" sz="1400" dirty="0"/>
            <a:t> global paths and settings</a:t>
          </a:r>
          <a:endParaRPr lang="en-GY" sz="1400" dirty="0"/>
        </a:p>
      </dgm:t>
    </dgm:pt>
    <dgm:pt modelId="{45ABD367-49DE-4E22-8284-E58AFC079920}" type="parTrans" cxnId="{6915F89F-5863-4900-A1AE-3150933E998F}">
      <dgm:prSet/>
      <dgm:spPr/>
      <dgm:t>
        <a:bodyPr/>
        <a:lstStyle/>
        <a:p>
          <a:endParaRPr lang="en-GY"/>
        </a:p>
      </dgm:t>
    </dgm:pt>
    <dgm:pt modelId="{0796BBC6-76EA-474B-A4FB-0B20CBFC4AA1}" type="sibTrans" cxnId="{6915F89F-5863-4900-A1AE-3150933E998F}">
      <dgm:prSet/>
      <dgm:spPr/>
      <dgm:t>
        <a:bodyPr/>
        <a:lstStyle/>
        <a:p>
          <a:endParaRPr lang="en-GY"/>
        </a:p>
      </dgm:t>
    </dgm:pt>
    <dgm:pt modelId="{B28987B3-919C-45F4-95A1-F0E90EE1BE74}" type="pres">
      <dgm:prSet presAssocID="{E00F0641-6FE9-4B06-A486-203C921AF9F6}" presName="linearFlow" presStyleCnt="0">
        <dgm:presLayoutVars>
          <dgm:dir/>
          <dgm:animLvl val="lvl"/>
          <dgm:resizeHandles val="exact"/>
        </dgm:presLayoutVars>
      </dgm:prSet>
      <dgm:spPr/>
    </dgm:pt>
    <dgm:pt modelId="{E4FAB94E-C29E-4AC6-8631-D35743AEFFF4}" type="pres">
      <dgm:prSet presAssocID="{361F74F0-2D03-474D-B91B-FE875CF5ED9A}" presName="composite" presStyleCnt="0"/>
      <dgm:spPr/>
    </dgm:pt>
    <dgm:pt modelId="{B754CC4D-D8D5-45C0-B29A-A53032317F91}" type="pres">
      <dgm:prSet presAssocID="{361F74F0-2D03-474D-B91B-FE875CF5ED9A}" presName="parentText" presStyleLbl="alignNode1" presStyleIdx="0" presStyleCnt="8">
        <dgm:presLayoutVars>
          <dgm:chMax val="1"/>
          <dgm:bulletEnabled val="1"/>
        </dgm:presLayoutVars>
      </dgm:prSet>
      <dgm:spPr/>
    </dgm:pt>
    <dgm:pt modelId="{6D6E2A0C-1BA7-4A63-84A2-5A5FF93E87A8}" type="pres">
      <dgm:prSet presAssocID="{361F74F0-2D03-474D-B91B-FE875CF5ED9A}" presName="descendantText" presStyleLbl="alignAcc1" presStyleIdx="0" presStyleCnt="8">
        <dgm:presLayoutVars>
          <dgm:bulletEnabled val="1"/>
        </dgm:presLayoutVars>
      </dgm:prSet>
      <dgm:spPr/>
    </dgm:pt>
    <dgm:pt modelId="{BCD80044-DE74-4C0E-853E-59AB6D2B6096}" type="pres">
      <dgm:prSet presAssocID="{C5159945-39D9-477A-9D8E-4FFBE8A467F4}" presName="sp" presStyleCnt="0"/>
      <dgm:spPr/>
    </dgm:pt>
    <dgm:pt modelId="{7DAF7208-6CFC-499C-B241-6F6850B44715}" type="pres">
      <dgm:prSet presAssocID="{D319ED06-36C1-477D-B2C4-14829CE6AED6}" presName="composite" presStyleCnt="0"/>
      <dgm:spPr/>
    </dgm:pt>
    <dgm:pt modelId="{B95750CF-B3B9-4E5B-9E01-CAE67414321B}" type="pres">
      <dgm:prSet presAssocID="{D319ED06-36C1-477D-B2C4-14829CE6AED6}" presName="parentText" presStyleLbl="alignNode1" presStyleIdx="1" presStyleCnt="8">
        <dgm:presLayoutVars>
          <dgm:chMax val="1"/>
          <dgm:bulletEnabled val="1"/>
        </dgm:presLayoutVars>
      </dgm:prSet>
      <dgm:spPr/>
    </dgm:pt>
    <dgm:pt modelId="{2749BC35-B99E-4AF8-B81F-FC9C89E9AB83}" type="pres">
      <dgm:prSet presAssocID="{D319ED06-36C1-477D-B2C4-14829CE6AED6}" presName="descendantText" presStyleLbl="alignAcc1" presStyleIdx="1" presStyleCnt="8">
        <dgm:presLayoutVars>
          <dgm:bulletEnabled val="1"/>
        </dgm:presLayoutVars>
      </dgm:prSet>
      <dgm:spPr/>
    </dgm:pt>
    <dgm:pt modelId="{8838469F-8A58-400D-96A0-206970F57BFE}" type="pres">
      <dgm:prSet presAssocID="{650DF0D4-1E0B-468C-9D87-63548C9BB44B}" presName="sp" presStyleCnt="0"/>
      <dgm:spPr/>
    </dgm:pt>
    <dgm:pt modelId="{B5B048BA-DB10-452F-B74A-13944E75C1EF}" type="pres">
      <dgm:prSet presAssocID="{FD175BB3-DE6D-4A45-BDA6-9A6682EA910D}" presName="composite" presStyleCnt="0"/>
      <dgm:spPr/>
    </dgm:pt>
    <dgm:pt modelId="{89BAFE56-39DE-40A4-B59E-AF9C5C343566}" type="pres">
      <dgm:prSet presAssocID="{FD175BB3-DE6D-4A45-BDA6-9A6682EA910D}" presName="parentText" presStyleLbl="alignNode1" presStyleIdx="2" presStyleCnt="8">
        <dgm:presLayoutVars>
          <dgm:chMax val="1"/>
          <dgm:bulletEnabled val="1"/>
        </dgm:presLayoutVars>
      </dgm:prSet>
      <dgm:spPr/>
    </dgm:pt>
    <dgm:pt modelId="{D279EA2D-C7D4-4A2D-B832-CE671E9A5420}" type="pres">
      <dgm:prSet presAssocID="{FD175BB3-DE6D-4A45-BDA6-9A6682EA910D}" presName="descendantText" presStyleLbl="alignAcc1" presStyleIdx="2" presStyleCnt="8">
        <dgm:presLayoutVars>
          <dgm:bulletEnabled val="1"/>
        </dgm:presLayoutVars>
      </dgm:prSet>
      <dgm:spPr/>
    </dgm:pt>
    <dgm:pt modelId="{8D133DEE-951D-4B48-AAEE-B3D5B58CA56E}" type="pres">
      <dgm:prSet presAssocID="{846374F9-8997-4D60-A52E-041B13B70619}" presName="sp" presStyleCnt="0"/>
      <dgm:spPr/>
    </dgm:pt>
    <dgm:pt modelId="{81A5B30C-8061-4A02-A985-249375B9855D}" type="pres">
      <dgm:prSet presAssocID="{003C26E8-68FD-4340-B203-8836F4FAE147}" presName="composite" presStyleCnt="0"/>
      <dgm:spPr/>
    </dgm:pt>
    <dgm:pt modelId="{E1632E70-2FF3-409A-B038-7AEB0326704A}" type="pres">
      <dgm:prSet presAssocID="{003C26E8-68FD-4340-B203-8836F4FAE147}" presName="parentText" presStyleLbl="alignNode1" presStyleIdx="3" presStyleCnt="8">
        <dgm:presLayoutVars>
          <dgm:chMax val="1"/>
          <dgm:bulletEnabled val="1"/>
        </dgm:presLayoutVars>
      </dgm:prSet>
      <dgm:spPr/>
    </dgm:pt>
    <dgm:pt modelId="{EAE7CF5D-BE4F-4BB2-821E-27277B2EEBFB}" type="pres">
      <dgm:prSet presAssocID="{003C26E8-68FD-4340-B203-8836F4FAE147}" presName="descendantText" presStyleLbl="alignAcc1" presStyleIdx="3" presStyleCnt="8">
        <dgm:presLayoutVars>
          <dgm:bulletEnabled val="1"/>
        </dgm:presLayoutVars>
      </dgm:prSet>
      <dgm:spPr/>
    </dgm:pt>
    <dgm:pt modelId="{3CBF3577-2569-47F4-B3D8-7CD558CA837D}" type="pres">
      <dgm:prSet presAssocID="{0E09E75A-FC67-4B75-AA88-36A7FA5E8FC9}" presName="sp" presStyleCnt="0"/>
      <dgm:spPr/>
    </dgm:pt>
    <dgm:pt modelId="{7A193688-B83E-46A4-9E22-2906D5695288}" type="pres">
      <dgm:prSet presAssocID="{EF5A87F7-9184-4338-B681-103AE7020E8F}" presName="composite" presStyleCnt="0"/>
      <dgm:spPr/>
    </dgm:pt>
    <dgm:pt modelId="{600F4A9E-2A62-476E-9727-BFFBBFC2BF53}" type="pres">
      <dgm:prSet presAssocID="{EF5A87F7-9184-4338-B681-103AE7020E8F}" presName="parentText" presStyleLbl="alignNode1" presStyleIdx="4" presStyleCnt="8">
        <dgm:presLayoutVars>
          <dgm:chMax val="1"/>
          <dgm:bulletEnabled val="1"/>
        </dgm:presLayoutVars>
      </dgm:prSet>
      <dgm:spPr/>
    </dgm:pt>
    <dgm:pt modelId="{DAE9D0B7-60EC-4A80-BFC1-C54B7FDE7B39}" type="pres">
      <dgm:prSet presAssocID="{EF5A87F7-9184-4338-B681-103AE7020E8F}" presName="descendantText" presStyleLbl="alignAcc1" presStyleIdx="4" presStyleCnt="8">
        <dgm:presLayoutVars>
          <dgm:bulletEnabled val="1"/>
        </dgm:presLayoutVars>
      </dgm:prSet>
      <dgm:spPr/>
    </dgm:pt>
    <dgm:pt modelId="{CEAF9465-59E2-4ACF-85C6-7947AF0A899C}" type="pres">
      <dgm:prSet presAssocID="{017BD5B4-86DF-45D3-B43E-ADA1A1723E2A}" presName="sp" presStyleCnt="0"/>
      <dgm:spPr/>
    </dgm:pt>
    <dgm:pt modelId="{E3A258C4-B3A6-4DA3-82BE-2E707DA5BE27}" type="pres">
      <dgm:prSet presAssocID="{3BADAD2D-6184-474B-9930-EFCB1B5C7FE0}" presName="composite" presStyleCnt="0"/>
      <dgm:spPr/>
    </dgm:pt>
    <dgm:pt modelId="{87BEBA03-C076-4656-9A59-6931769357D3}" type="pres">
      <dgm:prSet presAssocID="{3BADAD2D-6184-474B-9930-EFCB1B5C7FE0}" presName="parentText" presStyleLbl="alignNode1" presStyleIdx="5" presStyleCnt="8">
        <dgm:presLayoutVars>
          <dgm:chMax val="1"/>
          <dgm:bulletEnabled val="1"/>
        </dgm:presLayoutVars>
      </dgm:prSet>
      <dgm:spPr/>
    </dgm:pt>
    <dgm:pt modelId="{E914C9C4-1E45-4BE2-B20B-6FFE9FEF7EBC}" type="pres">
      <dgm:prSet presAssocID="{3BADAD2D-6184-474B-9930-EFCB1B5C7FE0}" presName="descendantText" presStyleLbl="alignAcc1" presStyleIdx="5" presStyleCnt="8">
        <dgm:presLayoutVars>
          <dgm:bulletEnabled val="1"/>
        </dgm:presLayoutVars>
      </dgm:prSet>
      <dgm:spPr/>
    </dgm:pt>
    <dgm:pt modelId="{F6DC4926-054B-416A-8733-0F533C144A55}" type="pres">
      <dgm:prSet presAssocID="{C2BA6549-97A4-4967-B3B4-24F88AFA8C6E}" presName="sp" presStyleCnt="0"/>
      <dgm:spPr/>
    </dgm:pt>
    <dgm:pt modelId="{19A10A6E-31B9-4435-95B0-6831F76FB26E}" type="pres">
      <dgm:prSet presAssocID="{63D7A911-C7BD-4135-B458-BF039ED3972C}" presName="composite" presStyleCnt="0"/>
      <dgm:spPr/>
    </dgm:pt>
    <dgm:pt modelId="{71A5F4AA-3510-4A80-95AA-B3CAE0BDA320}" type="pres">
      <dgm:prSet presAssocID="{63D7A911-C7BD-4135-B458-BF039ED3972C}" presName="parentText" presStyleLbl="alignNode1" presStyleIdx="6" presStyleCnt="8">
        <dgm:presLayoutVars>
          <dgm:chMax val="1"/>
          <dgm:bulletEnabled val="1"/>
        </dgm:presLayoutVars>
      </dgm:prSet>
      <dgm:spPr/>
    </dgm:pt>
    <dgm:pt modelId="{CEEDEFDD-B88A-41A5-BB1B-D61F5FEED36F}" type="pres">
      <dgm:prSet presAssocID="{63D7A911-C7BD-4135-B458-BF039ED3972C}" presName="descendantText" presStyleLbl="alignAcc1" presStyleIdx="6" presStyleCnt="8">
        <dgm:presLayoutVars>
          <dgm:bulletEnabled val="1"/>
        </dgm:presLayoutVars>
      </dgm:prSet>
      <dgm:spPr/>
    </dgm:pt>
    <dgm:pt modelId="{3CCF01AA-A07D-41DA-AEC4-99C040515B4D}" type="pres">
      <dgm:prSet presAssocID="{90728051-1B3B-477D-AD1E-63766DCA1D86}" presName="sp" presStyleCnt="0"/>
      <dgm:spPr/>
    </dgm:pt>
    <dgm:pt modelId="{4C5AABE1-14B5-4E00-8A09-2622A5AF9465}" type="pres">
      <dgm:prSet presAssocID="{66732301-5E01-4D2E-8D29-5EA430D9DF9D}" presName="composite" presStyleCnt="0"/>
      <dgm:spPr/>
    </dgm:pt>
    <dgm:pt modelId="{7086D58B-66BB-48EF-9B71-F024F3911F29}" type="pres">
      <dgm:prSet presAssocID="{66732301-5E01-4D2E-8D29-5EA430D9DF9D}" presName="parentText" presStyleLbl="alignNode1" presStyleIdx="7" presStyleCnt="8">
        <dgm:presLayoutVars>
          <dgm:chMax val="1"/>
          <dgm:bulletEnabled val="1"/>
        </dgm:presLayoutVars>
      </dgm:prSet>
      <dgm:spPr/>
    </dgm:pt>
    <dgm:pt modelId="{9831EBFE-52E3-4421-8DB6-43CE44ABBB9E}" type="pres">
      <dgm:prSet presAssocID="{66732301-5E01-4D2E-8D29-5EA430D9DF9D}" presName="descendantText" presStyleLbl="alignAcc1" presStyleIdx="7" presStyleCnt="8">
        <dgm:presLayoutVars>
          <dgm:bulletEnabled val="1"/>
        </dgm:presLayoutVars>
      </dgm:prSet>
      <dgm:spPr/>
    </dgm:pt>
  </dgm:ptLst>
  <dgm:cxnLst>
    <dgm:cxn modelId="{4707E10C-15A1-485D-A514-3BF4270572AE}" type="presOf" srcId="{003C26E8-68FD-4340-B203-8836F4FAE147}" destId="{E1632E70-2FF3-409A-B038-7AEB0326704A}" srcOrd="0" destOrd="0" presId="urn:microsoft.com/office/officeart/2005/8/layout/chevron2"/>
    <dgm:cxn modelId="{55B7960D-E144-44A2-A0C9-00589393783B}" srcId="{E00F0641-6FE9-4B06-A486-203C921AF9F6}" destId="{FD175BB3-DE6D-4A45-BDA6-9A6682EA910D}" srcOrd="2" destOrd="0" parTransId="{70D492BF-6E7C-4E92-A656-BFF5B3D2F916}" sibTransId="{846374F9-8997-4D60-A52E-041B13B70619}"/>
    <dgm:cxn modelId="{B8FDAA0F-D190-4376-A119-57FCFDD56D14}" srcId="{E00F0641-6FE9-4B06-A486-203C921AF9F6}" destId="{EF5A87F7-9184-4338-B681-103AE7020E8F}" srcOrd="4" destOrd="0" parTransId="{E72232AA-E8E0-4F91-95F7-EEAAE9E9898F}" sibTransId="{017BD5B4-86DF-45D3-B43E-ADA1A1723E2A}"/>
    <dgm:cxn modelId="{BFFE4519-65D4-4246-A35E-B374922F42C3}" srcId="{FD175BB3-DE6D-4A45-BDA6-9A6682EA910D}" destId="{6A5213D9-4189-4405-8486-867A94BFBC61}" srcOrd="0" destOrd="0" parTransId="{F26735A8-CBF6-4158-AB2E-54F4DEB4F8AB}" sibTransId="{26E335D2-8120-4F42-9D49-FECEB251AE86}"/>
    <dgm:cxn modelId="{96917919-A110-49C4-9AA8-E3135AD3D8C4}" type="presOf" srcId="{EF5A87F7-9184-4338-B681-103AE7020E8F}" destId="{600F4A9E-2A62-476E-9727-BFFBBFC2BF53}" srcOrd="0" destOrd="0" presId="urn:microsoft.com/office/officeart/2005/8/layout/chevron2"/>
    <dgm:cxn modelId="{BBA4022B-CD44-4227-AF4C-FF284BE20CED}" type="presOf" srcId="{67B851F8-3514-4395-8791-E780F081A898}" destId="{CEEDEFDD-B88A-41A5-BB1B-D61F5FEED36F}" srcOrd="0" destOrd="0" presId="urn:microsoft.com/office/officeart/2005/8/layout/chevron2"/>
    <dgm:cxn modelId="{3567A42F-BDE8-4D63-B500-37A7F608BCD7}" srcId="{D319ED06-36C1-477D-B2C4-14829CE6AED6}" destId="{2CF8132D-0BBD-4431-A3B3-7DAC277FCC4E}" srcOrd="0" destOrd="0" parTransId="{F551AA26-A5A1-4ACC-81A3-D7035A0BACC5}" sibTransId="{4C7D462E-4211-47C3-B191-8732D9106D6B}"/>
    <dgm:cxn modelId="{EFF10F31-9357-4ADC-BE39-8D525F333FBF}" srcId="{E00F0641-6FE9-4B06-A486-203C921AF9F6}" destId="{361F74F0-2D03-474D-B91B-FE875CF5ED9A}" srcOrd="0" destOrd="0" parTransId="{49CFA8C3-8FEF-44E5-9FA4-05F20D07420C}" sibTransId="{C5159945-39D9-477A-9D8E-4FFBE8A467F4}"/>
    <dgm:cxn modelId="{97CCE23B-71E3-4771-8ED7-29C4DC968376}" type="presOf" srcId="{66732301-5E01-4D2E-8D29-5EA430D9DF9D}" destId="{7086D58B-66BB-48EF-9B71-F024F3911F29}" srcOrd="0" destOrd="0" presId="urn:microsoft.com/office/officeart/2005/8/layout/chevron2"/>
    <dgm:cxn modelId="{6CE3655F-9A42-496F-8B05-C6C99B200777}" srcId="{E00F0641-6FE9-4B06-A486-203C921AF9F6}" destId="{66732301-5E01-4D2E-8D29-5EA430D9DF9D}" srcOrd="7" destOrd="0" parTransId="{637D46E8-2F73-4C40-BBC5-B869C63E6A0A}" sibTransId="{AB3BC250-5061-40B2-B21C-A3993457BAA0}"/>
    <dgm:cxn modelId="{AE2FEE64-4D5C-427C-AD84-9496415E4C33}" srcId="{E00F0641-6FE9-4B06-A486-203C921AF9F6}" destId="{3BADAD2D-6184-474B-9930-EFCB1B5C7FE0}" srcOrd="5" destOrd="0" parTransId="{D6EF3321-937B-4243-82D0-6A598788BFA0}" sibTransId="{C2BA6549-97A4-4967-B3B4-24F88AFA8C6E}"/>
    <dgm:cxn modelId="{4EE63769-1301-457E-B6B0-A39CF74A905D}" type="presOf" srcId="{63D7A911-C7BD-4135-B458-BF039ED3972C}" destId="{71A5F4AA-3510-4A80-95AA-B3CAE0BDA320}" srcOrd="0" destOrd="0" presId="urn:microsoft.com/office/officeart/2005/8/layout/chevron2"/>
    <dgm:cxn modelId="{E89E6177-7CE3-47B2-8484-8B6732BDEECC}" srcId="{3BADAD2D-6184-474B-9930-EFCB1B5C7FE0}" destId="{0586F6F3-F6BC-42C3-A360-AC09FFF4B164}" srcOrd="0" destOrd="0" parTransId="{53715672-8D56-419C-81FB-4CFC02B78AF9}" sibTransId="{9C11CA2E-7C3F-4DFD-9E96-9D8CB2E57155}"/>
    <dgm:cxn modelId="{DE95B757-F4E6-4765-A3B2-B9AA5C177B36}" type="presOf" srcId="{E00F0641-6FE9-4B06-A486-203C921AF9F6}" destId="{B28987B3-919C-45F4-95A1-F0E90EE1BE74}" srcOrd="0" destOrd="0" presId="urn:microsoft.com/office/officeart/2005/8/layout/chevron2"/>
    <dgm:cxn modelId="{87037B59-7E64-405D-A778-E7A9BA9C00AF}" type="presOf" srcId="{6A5213D9-4189-4405-8486-867A94BFBC61}" destId="{D279EA2D-C7D4-4A2D-B832-CE671E9A5420}" srcOrd="0" destOrd="0" presId="urn:microsoft.com/office/officeart/2005/8/layout/chevron2"/>
    <dgm:cxn modelId="{7E5AD77E-FFA0-477B-9B42-9415C97EE1E7}" srcId="{66732301-5E01-4D2E-8D29-5EA430D9DF9D}" destId="{9FE5993A-D9AF-4AEC-B763-794BAA96F210}" srcOrd="0" destOrd="0" parTransId="{6B701CC5-C354-4BE9-9B70-5BF4D8693D1F}" sibTransId="{802CE2D0-F916-405C-933D-88E22EE99DBD}"/>
    <dgm:cxn modelId="{BCCC8F8C-D5B6-4C4E-A4E2-B00156461879}" srcId="{E00F0641-6FE9-4B06-A486-203C921AF9F6}" destId="{63D7A911-C7BD-4135-B458-BF039ED3972C}" srcOrd="6" destOrd="0" parTransId="{0DC05151-90C8-4CC0-B3A2-F6A5CC11B753}" sibTransId="{90728051-1B3B-477D-AD1E-63766DCA1D86}"/>
    <dgm:cxn modelId="{E0A7C38C-8371-4D9B-B0EF-8E384BE8F288}" srcId="{E00F0641-6FE9-4B06-A486-203C921AF9F6}" destId="{D319ED06-36C1-477D-B2C4-14829CE6AED6}" srcOrd="1" destOrd="0" parTransId="{2B2997D2-C3E2-49C2-AFB1-3628A410B9E9}" sibTransId="{650DF0D4-1E0B-468C-9D87-63548C9BB44B}"/>
    <dgm:cxn modelId="{0111AD90-5E23-46AF-BFEF-0C617D72709A}" srcId="{EF5A87F7-9184-4338-B681-103AE7020E8F}" destId="{EA1D8C68-6BDF-434D-9436-952ACA7F23BF}" srcOrd="0" destOrd="0" parTransId="{2337C6F9-F175-44BD-B2A2-13491EE2478B}" sibTransId="{D896291E-03EE-41D3-AE3C-C28B77DCA8A2}"/>
    <dgm:cxn modelId="{067F1698-2FF4-479F-8140-CEDA6FAB0793}" type="presOf" srcId="{7C88B815-0664-4BBE-B655-01EC3A0B432E}" destId="{EAE7CF5D-BE4F-4BB2-821E-27277B2EEBFB}" srcOrd="0" destOrd="0" presId="urn:microsoft.com/office/officeart/2005/8/layout/chevron2"/>
    <dgm:cxn modelId="{50F1EE99-FADD-4D08-8FCF-B8629C5B6877}" srcId="{63D7A911-C7BD-4135-B458-BF039ED3972C}" destId="{67B851F8-3514-4395-8791-E780F081A898}" srcOrd="0" destOrd="0" parTransId="{9598DBF8-D8FC-41FD-A804-6F94BEBC7340}" sibTransId="{7E482457-FE29-490C-86B8-91FF5D25ADB4}"/>
    <dgm:cxn modelId="{2E8A0B9A-437B-42FD-B32D-638943457946}" type="presOf" srcId="{EA1D8C68-6BDF-434D-9436-952ACA7F23BF}" destId="{DAE9D0B7-60EC-4A80-BFC1-C54B7FDE7B39}" srcOrd="0" destOrd="0" presId="urn:microsoft.com/office/officeart/2005/8/layout/chevron2"/>
    <dgm:cxn modelId="{6915F89F-5863-4900-A1AE-3150933E998F}" srcId="{361F74F0-2D03-474D-B91B-FE875CF5ED9A}" destId="{66B85507-ED1F-4365-B000-A5A8BDF9129B}" srcOrd="0" destOrd="0" parTransId="{45ABD367-49DE-4E22-8284-E58AFC079920}" sibTransId="{0796BBC6-76EA-474B-A4FB-0B20CBFC4AA1}"/>
    <dgm:cxn modelId="{92C01AB1-C5D3-472C-A8F1-D9841AF51CAF}" srcId="{E00F0641-6FE9-4B06-A486-203C921AF9F6}" destId="{003C26E8-68FD-4340-B203-8836F4FAE147}" srcOrd="3" destOrd="0" parTransId="{198A8EA5-D80D-4F3C-AF74-4B0A97A589E4}" sibTransId="{0E09E75A-FC67-4B75-AA88-36A7FA5E8FC9}"/>
    <dgm:cxn modelId="{1CDAE5B2-F58C-4698-86E7-E2C86EF5F69E}" type="presOf" srcId="{361F74F0-2D03-474D-B91B-FE875CF5ED9A}" destId="{B754CC4D-D8D5-45C0-B29A-A53032317F91}" srcOrd="0" destOrd="0" presId="urn:microsoft.com/office/officeart/2005/8/layout/chevron2"/>
    <dgm:cxn modelId="{5E86B4B7-76C3-4160-92F2-D4E759224E88}" type="presOf" srcId="{3BADAD2D-6184-474B-9930-EFCB1B5C7FE0}" destId="{87BEBA03-C076-4656-9A59-6931769357D3}" srcOrd="0" destOrd="0" presId="urn:microsoft.com/office/officeart/2005/8/layout/chevron2"/>
    <dgm:cxn modelId="{AAC892C0-AF66-4B42-A250-6782B17367D0}" type="presOf" srcId="{66B85507-ED1F-4365-B000-A5A8BDF9129B}" destId="{6D6E2A0C-1BA7-4A63-84A2-5A5FF93E87A8}" srcOrd="0" destOrd="0" presId="urn:microsoft.com/office/officeart/2005/8/layout/chevron2"/>
    <dgm:cxn modelId="{68AAC3C9-981D-44C6-A21D-7A549EC897DD}" srcId="{003C26E8-68FD-4340-B203-8836F4FAE147}" destId="{7C88B815-0664-4BBE-B655-01EC3A0B432E}" srcOrd="0" destOrd="0" parTransId="{8CE89CC4-6CCA-4E0C-9112-CF4D19E7071A}" sibTransId="{EF9B6500-142F-47F1-9096-4E269271988A}"/>
    <dgm:cxn modelId="{362285CD-FA20-4DEF-ABAE-49381FFE9A5B}" type="presOf" srcId="{D319ED06-36C1-477D-B2C4-14829CE6AED6}" destId="{B95750CF-B3B9-4E5B-9E01-CAE67414321B}" srcOrd="0" destOrd="0" presId="urn:microsoft.com/office/officeart/2005/8/layout/chevron2"/>
    <dgm:cxn modelId="{47E5AED4-6B6B-4480-A051-61FD02C63FC6}" type="presOf" srcId="{0586F6F3-F6BC-42C3-A360-AC09FFF4B164}" destId="{E914C9C4-1E45-4BE2-B20B-6FFE9FEF7EBC}" srcOrd="0" destOrd="0" presId="urn:microsoft.com/office/officeart/2005/8/layout/chevron2"/>
    <dgm:cxn modelId="{D4826ADE-DF25-4135-89B1-61F5E113A54B}" type="presOf" srcId="{FD175BB3-DE6D-4A45-BDA6-9A6682EA910D}" destId="{89BAFE56-39DE-40A4-B59E-AF9C5C343566}" srcOrd="0" destOrd="0" presId="urn:microsoft.com/office/officeart/2005/8/layout/chevron2"/>
    <dgm:cxn modelId="{2C7F85EF-77B9-4D7A-B2EA-63EC59E63F1C}" type="presOf" srcId="{9FE5993A-D9AF-4AEC-B763-794BAA96F210}" destId="{9831EBFE-52E3-4421-8DB6-43CE44ABBB9E}" srcOrd="0" destOrd="0" presId="urn:microsoft.com/office/officeart/2005/8/layout/chevron2"/>
    <dgm:cxn modelId="{5C1963F3-38B9-410D-B002-2D099576114C}" type="presOf" srcId="{2CF8132D-0BBD-4431-A3B3-7DAC277FCC4E}" destId="{2749BC35-B99E-4AF8-B81F-FC9C89E9AB83}" srcOrd="0" destOrd="0" presId="urn:microsoft.com/office/officeart/2005/8/layout/chevron2"/>
    <dgm:cxn modelId="{153CBFE2-46CF-43FE-A9A7-5E11DF279D2E}" type="presParOf" srcId="{B28987B3-919C-45F4-95A1-F0E90EE1BE74}" destId="{E4FAB94E-C29E-4AC6-8631-D35743AEFFF4}" srcOrd="0" destOrd="0" presId="urn:microsoft.com/office/officeart/2005/8/layout/chevron2"/>
    <dgm:cxn modelId="{8B0B9108-B01F-4EF4-93AC-57D49D10EDC2}" type="presParOf" srcId="{E4FAB94E-C29E-4AC6-8631-D35743AEFFF4}" destId="{B754CC4D-D8D5-45C0-B29A-A53032317F91}" srcOrd="0" destOrd="0" presId="urn:microsoft.com/office/officeart/2005/8/layout/chevron2"/>
    <dgm:cxn modelId="{B3F1A462-D08E-4B1A-8721-4CA032DD49A0}" type="presParOf" srcId="{E4FAB94E-C29E-4AC6-8631-D35743AEFFF4}" destId="{6D6E2A0C-1BA7-4A63-84A2-5A5FF93E87A8}" srcOrd="1" destOrd="0" presId="urn:microsoft.com/office/officeart/2005/8/layout/chevron2"/>
    <dgm:cxn modelId="{28CC20BB-4143-4277-9C65-CAE96EBEA65D}" type="presParOf" srcId="{B28987B3-919C-45F4-95A1-F0E90EE1BE74}" destId="{BCD80044-DE74-4C0E-853E-59AB6D2B6096}" srcOrd="1" destOrd="0" presId="urn:microsoft.com/office/officeart/2005/8/layout/chevron2"/>
    <dgm:cxn modelId="{FD262B99-D9BC-4816-963A-77F069553B89}" type="presParOf" srcId="{B28987B3-919C-45F4-95A1-F0E90EE1BE74}" destId="{7DAF7208-6CFC-499C-B241-6F6850B44715}" srcOrd="2" destOrd="0" presId="urn:microsoft.com/office/officeart/2005/8/layout/chevron2"/>
    <dgm:cxn modelId="{F2F6A394-E13E-49DA-9F40-EEB0D71B43D8}" type="presParOf" srcId="{7DAF7208-6CFC-499C-B241-6F6850B44715}" destId="{B95750CF-B3B9-4E5B-9E01-CAE67414321B}" srcOrd="0" destOrd="0" presId="urn:microsoft.com/office/officeart/2005/8/layout/chevron2"/>
    <dgm:cxn modelId="{8B06BFD8-09AA-42CD-9772-D97E97AA7E35}" type="presParOf" srcId="{7DAF7208-6CFC-499C-B241-6F6850B44715}" destId="{2749BC35-B99E-4AF8-B81F-FC9C89E9AB83}" srcOrd="1" destOrd="0" presId="urn:microsoft.com/office/officeart/2005/8/layout/chevron2"/>
    <dgm:cxn modelId="{AC49B6C6-6E85-4E44-83A0-42108590707E}" type="presParOf" srcId="{B28987B3-919C-45F4-95A1-F0E90EE1BE74}" destId="{8838469F-8A58-400D-96A0-206970F57BFE}" srcOrd="3" destOrd="0" presId="urn:microsoft.com/office/officeart/2005/8/layout/chevron2"/>
    <dgm:cxn modelId="{951A7EBA-B614-42DB-B7ED-CFD3F2102999}" type="presParOf" srcId="{B28987B3-919C-45F4-95A1-F0E90EE1BE74}" destId="{B5B048BA-DB10-452F-B74A-13944E75C1EF}" srcOrd="4" destOrd="0" presId="urn:microsoft.com/office/officeart/2005/8/layout/chevron2"/>
    <dgm:cxn modelId="{341FB5A4-1147-4904-8671-24A9C6F9E4AA}" type="presParOf" srcId="{B5B048BA-DB10-452F-B74A-13944E75C1EF}" destId="{89BAFE56-39DE-40A4-B59E-AF9C5C343566}" srcOrd="0" destOrd="0" presId="urn:microsoft.com/office/officeart/2005/8/layout/chevron2"/>
    <dgm:cxn modelId="{F8E8F531-B4E2-43EF-96B4-1CEA85B1F6FB}" type="presParOf" srcId="{B5B048BA-DB10-452F-B74A-13944E75C1EF}" destId="{D279EA2D-C7D4-4A2D-B832-CE671E9A5420}" srcOrd="1" destOrd="0" presId="urn:microsoft.com/office/officeart/2005/8/layout/chevron2"/>
    <dgm:cxn modelId="{B4F295E4-66D2-4E0B-95BC-787551C5B3EA}" type="presParOf" srcId="{B28987B3-919C-45F4-95A1-F0E90EE1BE74}" destId="{8D133DEE-951D-4B48-AAEE-B3D5B58CA56E}" srcOrd="5" destOrd="0" presId="urn:microsoft.com/office/officeart/2005/8/layout/chevron2"/>
    <dgm:cxn modelId="{EC3D6E5F-67A1-4AA7-853B-E46E9D66E4B4}" type="presParOf" srcId="{B28987B3-919C-45F4-95A1-F0E90EE1BE74}" destId="{81A5B30C-8061-4A02-A985-249375B9855D}" srcOrd="6" destOrd="0" presId="urn:microsoft.com/office/officeart/2005/8/layout/chevron2"/>
    <dgm:cxn modelId="{DB931137-E3CC-4B06-96C6-3157413D620D}" type="presParOf" srcId="{81A5B30C-8061-4A02-A985-249375B9855D}" destId="{E1632E70-2FF3-409A-B038-7AEB0326704A}" srcOrd="0" destOrd="0" presId="urn:microsoft.com/office/officeart/2005/8/layout/chevron2"/>
    <dgm:cxn modelId="{DA1958F8-632A-49DC-8180-20B26A458EA9}" type="presParOf" srcId="{81A5B30C-8061-4A02-A985-249375B9855D}" destId="{EAE7CF5D-BE4F-4BB2-821E-27277B2EEBFB}" srcOrd="1" destOrd="0" presId="urn:microsoft.com/office/officeart/2005/8/layout/chevron2"/>
    <dgm:cxn modelId="{013D25FD-2970-4BA1-9ACA-43D5FFCF1A2C}" type="presParOf" srcId="{B28987B3-919C-45F4-95A1-F0E90EE1BE74}" destId="{3CBF3577-2569-47F4-B3D8-7CD558CA837D}" srcOrd="7" destOrd="0" presId="urn:microsoft.com/office/officeart/2005/8/layout/chevron2"/>
    <dgm:cxn modelId="{7616954A-6552-42B6-A3E0-F0584D72B406}" type="presParOf" srcId="{B28987B3-919C-45F4-95A1-F0E90EE1BE74}" destId="{7A193688-B83E-46A4-9E22-2906D5695288}" srcOrd="8" destOrd="0" presId="urn:microsoft.com/office/officeart/2005/8/layout/chevron2"/>
    <dgm:cxn modelId="{A1CB90B0-598C-4716-A564-E2435356B50A}" type="presParOf" srcId="{7A193688-B83E-46A4-9E22-2906D5695288}" destId="{600F4A9E-2A62-476E-9727-BFFBBFC2BF53}" srcOrd="0" destOrd="0" presId="urn:microsoft.com/office/officeart/2005/8/layout/chevron2"/>
    <dgm:cxn modelId="{3CFCBC71-B9D9-488D-85C2-252FD8E52D7C}" type="presParOf" srcId="{7A193688-B83E-46A4-9E22-2906D5695288}" destId="{DAE9D0B7-60EC-4A80-BFC1-C54B7FDE7B39}" srcOrd="1" destOrd="0" presId="urn:microsoft.com/office/officeart/2005/8/layout/chevron2"/>
    <dgm:cxn modelId="{CB34ABE4-A8AF-4B43-A408-71673621581B}" type="presParOf" srcId="{B28987B3-919C-45F4-95A1-F0E90EE1BE74}" destId="{CEAF9465-59E2-4ACF-85C6-7947AF0A899C}" srcOrd="9" destOrd="0" presId="urn:microsoft.com/office/officeart/2005/8/layout/chevron2"/>
    <dgm:cxn modelId="{5AF05666-CF96-4CB6-B36D-5A5AF6B5A2B3}" type="presParOf" srcId="{B28987B3-919C-45F4-95A1-F0E90EE1BE74}" destId="{E3A258C4-B3A6-4DA3-82BE-2E707DA5BE27}" srcOrd="10" destOrd="0" presId="urn:microsoft.com/office/officeart/2005/8/layout/chevron2"/>
    <dgm:cxn modelId="{9C02E608-3E44-4ACA-AADD-9D1A2161BFD7}" type="presParOf" srcId="{E3A258C4-B3A6-4DA3-82BE-2E707DA5BE27}" destId="{87BEBA03-C076-4656-9A59-6931769357D3}" srcOrd="0" destOrd="0" presId="urn:microsoft.com/office/officeart/2005/8/layout/chevron2"/>
    <dgm:cxn modelId="{1D2DF422-A45A-46FC-A4CA-B994BEAD3E0A}" type="presParOf" srcId="{E3A258C4-B3A6-4DA3-82BE-2E707DA5BE27}" destId="{E914C9C4-1E45-4BE2-B20B-6FFE9FEF7EBC}" srcOrd="1" destOrd="0" presId="urn:microsoft.com/office/officeart/2005/8/layout/chevron2"/>
    <dgm:cxn modelId="{E3601573-1D56-4B89-90BB-0B6DCC21208E}" type="presParOf" srcId="{B28987B3-919C-45F4-95A1-F0E90EE1BE74}" destId="{F6DC4926-054B-416A-8733-0F533C144A55}" srcOrd="11" destOrd="0" presId="urn:microsoft.com/office/officeart/2005/8/layout/chevron2"/>
    <dgm:cxn modelId="{1F215419-6A94-48B2-B747-3A1C3C2F3F06}" type="presParOf" srcId="{B28987B3-919C-45F4-95A1-F0E90EE1BE74}" destId="{19A10A6E-31B9-4435-95B0-6831F76FB26E}" srcOrd="12" destOrd="0" presId="urn:microsoft.com/office/officeart/2005/8/layout/chevron2"/>
    <dgm:cxn modelId="{0E81F4F9-7793-48FC-A14E-37A680B57E92}" type="presParOf" srcId="{19A10A6E-31B9-4435-95B0-6831F76FB26E}" destId="{71A5F4AA-3510-4A80-95AA-B3CAE0BDA320}" srcOrd="0" destOrd="0" presId="urn:microsoft.com/office/officeart/2005/8/layout/chevron2"/>
    <dgm:cxn modelId="{4266E65D-C626-4999-B55B-9943F394B097}" type="presParOf" srcId="{19A10A6E-31B9-4435-95B0-6831F76FB26E}" destId="{CEEDEFDD-B88A-41A5-BB1B-D61F5FEED36F}" srcOrd="1" destOrd="0" presId="urn:microsoft.com/office/officeart/2005/8/layout/chevron2"/>
    <dgm:cxn modelId="{7BE8D63A-C9B8-4877-BD4C-65C9591CD703}" type="presParOf" srcId="{B28987B3-919C-45F4-95A1-F0E90EE1BE74}" destId="{3CCF01AA-A07D-41DA-AEC4-99C040515B4D}" srcOrd="13" destOrd="0" presId="urn:microsoft.com/office/officeart/2005/8/layout/chevron2"/>
    <dgm:cxn modelId="{863B03EC-799A-4A42-8EE6-2971C5D0FA6A}" type="presParOf" srcId="{B28987B3-919C-45F4-95A1-F0E90EE1BE74}" destId="{4C5AABE1-14B5-4E00-8A09-2622A5AF9465}" srcOrd="14" destOrd="0" presId="urn:microsoft.com/office/officeart/2005/8/layout/chevron2"/>
    <dgm:cxn modelId="{47DDD756-1BE4-43B8-9E24-EF0370E2235A}" type="presParOf" srcId="{4C5AABE1-14B5-4E00-8A09-2622A5AF9465}" destId="{7086D58B-66BB-48EF-9B71-F024F3911F29}" srcOrd="0" destOrd="0" presId="urn:microsoft.com/office/officeart/2005/8/layout/chevron2"/>
    <dgm:cxn modelId="{DA6364E7-9B51-4EC0-A290-6DB2950BAAA4}" type="presParOf" srcId="{4C5AABE1-14B5-4E00-8A09-2622A5AF9465}" destId="{9831EBFE-52E3-4421-8DB6-43CE44ABBB9E}"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54CC4D-D8D5-45C0-B29A-A53032317F91}">
      <dsp:nvSpPr>
        <dsp:cNvPr id="0" name=""/>
        <dsp:cNvSpPr/>
      </dsp:nvSpPr>
      <dsp:spPr>
        <a:xfrm rot="5400000">
          <a:off x="-64887" y="67263"/>
          <a:ext cx="432585" cy="3028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endParaRPr lang="en-GY" sz="800" kern="1200"/>
        </a:p>
      </dsp:txBody>
      <dsp:txXfrm rot="-5400000">
        <a:off x="2" y="153780"/>
        <a:ext cx="302809" cy="129776"/>
      </dsp:txXfrm>
    </dsp:sp>
    <dsp:sp modelId="{6D6E2A0C-1BA7-4A63-84A2-5A5FF93E87A8}">
      <dsp:nvSpPr>
        <dsp:cNvPr id="0" name=""/>
        <dsp:cNvSpPr/>
      </dsp:nvSpPr>
      <dsp:spPr>
        <a:xfrm rot="5400000">
          <a:off x="2410953" y="-2105767"/>
          <a:ext cx="281180" cy="4497467"/>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00_config.R –</a:t>
          </a:r>
          <a:r>
            <a:rPr lang="en-US" sz="1400" kern="1200" dirty="0"/>
            <a:t> global paths and settings</a:t>
          </a:r>
          <a:endParaRPr lang="en-GY" sz="1400" kern="1200" dirty="0"/>
        </a:p>
      </dsp:txBody>
      <dsp:txXfrm rot="-5400000">
        <a:off x="302810" y="16102"/>
        <a:ext cx="4483741" cy="253728"/>
      </dsp:txXfrm>
    </dsp:sp>
    <dsp:sp modelId="{B95750CF-B3B9-4E5B-9E01-CAE67414321B}">
      <dsp:nvSpPr>
        <dsp:cNvPr id="0" name=""/>
        <dsp:cNvSpPr/>
      </dsp:nvSpPr>
      <dsp:spPr>
        <a:xfrm rot="5400000">
          <a:off x="-64887" y="420150"/>
          <a:ext cx="432585" cy="3028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STEP 1</a:t>
          </a:r>
          <a:endParaRPr lang="en-GY" sz="800" b="1" kern="1200" dirty="0"/>
        </a:p>
      </dsp:txBody>
      <dsp:txXfrm rot="-5400000">
        <a:off x="2" y="506667"/>
        <a:ext cx="302809" cy="129776"/>
      </dsp:txXfrm>
    </dsp:sp>
    <dsp:sp modelId="{2749BC35-B99E-4AF8-B81F-FC9C89E9AB83}">
      <dsp:nvSpPr>
        <dsp:cNvPr id="0" name=""/>
        <dsp:cNvSpPr/>
      </dsp:nvSpPr>
      <dsp:spPr>
        <a:xfrm rot="5400000">
          <a:off x="2410953" y="-1752880"/>
          <a:ext cx="281180" cy="4497467"/>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01_ingest.R – </a:t>
          </a:r>
          <a:r>
            <a:rPr lang="en-US" sz="1400" kern="1200" dirty="0"/>
            <a:t>data ingestion &amp; validation</a:t>
          </a:r>
          <a:endParaRPr lang="en-GY" sz="2000" kern="1200" dirty="0"/>
        </a:p>
      </dsp:txBody>
      <dsp:txXfrm rot="-5400000">
        <a:off x="302810" y="368989"/>
        <a:ext cx="4483741" cy="253728"/>
      </dsp:txXfrm>
    </dsp:sp>
    <dsp:sp modelId="{89BAFE56-39DE-40A4-B59E-AF9C5C343566}">
      <dsp:nvSpPr>
        <dsp:cNvPr id="0" name=""/>
        <dsp:cNvSpPr/>
      </dsp:nvSpPr>
      <dsp:spPr>
        <a:xfrm rot="5400000">
          <a:off x="-64887" y="773037"/>
          <a:ext cx="432585" cy="3028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STEP 2</a:t>
          </a:r>
          <a:endParaRPr lang="en-GY" sz="800" b="1" kern="1200" dirty="0"/>
        </a:p>
      </dsp:txBody>
      <dsp:txXfrm rot="-5400000">
        <a:off x="2" y="859554"/>
        <a:ext cx="302809" cy="129776"/>
      </dsp:txXfrm>
    </dsp:sp>
    <dsp:sp modelId="{D279EA2D-C7D4-4A2D-B832-CE671E9A5420}">
      <dsp:nvSpPr>
        <dsp:cNvPr id="0" name=""/>
        <dsp:cNvSpPr/>
      </dsp:nvSpPr>
      <dsp:spPr>
        <a:xfrm rot="5400000">
          <a:off x="2410953" y="-1399993"/>
          <a:ext cx="281180" cy="4497467"/>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02_diagnose.R- </a:t>
          </a:r>
          <a:r>
            <a:rPr lang="en-US" sz="1400" kern="1200" dirty="0"/>
            <a:t>diagnostics &amp; logging</a:t>
          </a:r>
          <a:endParaRPr lang="en-GY" sz="2000" kern="1200" dirty="0"/>
        </a:p>
      </dsp:txBody>
      <dsp:txXfrm rot="-5400000">
        <a:off x="302810" y="721876"/>
        <a:ext cx="4483741" cy="253728"/>
      </dsp:txXfrm>
    </dsp:sp>
    <dsp:sp modelId="{E1632E70-2FF3-409A-B038-7AEB0326704A}">
      <dsp:nvSpPr>
        <dsp:cNvPr id="0" name=""/>
        <dsp:cNvSpPr/>
      </dsp:nvSpPr>
      <dsp:spPr>
        <a:xfrm rot="5400000">
          <a:off x="-64887" y="1125924"/>
          <a:ext cx="432585" cy="3028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STEP 3</a:t>
          </a:r>
          <a:endParaRPr lang="en-GY" sz="800" b="1" kern="1200" dirty="0"/>
        </a:p>
      </dsp:txBody>
      <dsp:txXfrm rot="-5400000">
        <a:off x="2" y="1212441"/>
        <a:ext cx="302809" cy="129776"/>
      </dsp:txXfrm>
    </dsp:sp>
    <dsp:sp modelId="{EAE7CF5D-BE4F-4BB2-821E-27277B2EEBFB}">
      <dsp:nvSpPr>
        <dsp:cNvPr id="0" name=""/>
        <dsp:cNvSpPr/>
      </dsp:nvSpPr>
      <dsp:spPr>
        <a:xfrm rot="5400000">
          <a:off x="2410953" y="-1047106"/>
          <a:ext cx="281180" cy="4497467"/>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03_clean.R – </a:t>
          </a:r>
          <a:r>
            <a:rPr lang="en-US" sz="1400" kern="1200" dirty="0"/>
            <a:t>cleaning &amp; duplicate handling</a:t>
          </a:r>
          <a:endParaRPr lang="en-GY" sz="2000" kern="1200" dirty="0"/>
        </a:p>
      </dsp:txBody>
      <dsp:txXfrm rot="-5400000">
        <a:off x="302810" y="1074763"/>
        <a:ext cx="4483741" cy="253728"/>
      </dsp:txXfrm>
    </dsp:sp>
    <dsp:sp modelId="{600F4A9E-2A62-476E-9727-BFFBBFC2BF53}">
      <dsp:nvSpPr>
        <dsp:cNvPr id="0" name=""/>
        <dsp:cNvSpPr/>
      </dsp:nvSpPr>
      <dsp:spPr>
        <a:xfrm rot="5400000">
          <a:off x="-64887" y="1478811"/>
          <a:ext cx="432585" cy="3028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STEP 4</a:t>
          </a:r>
          <a:endParaRPr lang="en-GY" sz="800" b="1" kern="1200" dirty="0"/>
        </a:p>
      </dsp:txBody>
      <dsp:txXfrm rot="-5400000">
        <a:off x="2" y="1565328"/>
        <a:ext cx="302809" cy="129776"/>
      </dsp:txXfrm>
    </dsp:sp>
    <dsp:sp modelId="{DAE9D0B7-60EC-4A80-BFC1-C54B7FDE7B39}">
      <dsp:nvSpPr>
        <dsp:cNvPr id="0" name=""/>
        <dsp:cNvSpPr/>
      </dsp:nvSpPr>
      <dsp:spPr>
        <a:xfrm rot="5400000">
          <a:off x="2410953" y="-694219"/>
          <a:ext cx="281180" cy="4497467"/>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04_impute.R - </a:t>
          </a:r>
          <a:r>
            <a:rPr lang="en-US" sz="1400" kern="1200" dirty="0"/>
            <a:t>imputation</a:t>
          </a:r>
          <a:endParaRPr lang="en-GY" sz="2000" kern="1200" dirty="0"/>
        </a:p>
      </dsp:txBody>
      <dsp:txXfrm rot="-5400000">
        <a:off x="302810" y="1427650"/>
        <a:ext cx="4483741" cy="253728"/>
      </dsp:txXfrm>
    </dsp:sp>
    <dsp:sp modelId="{87BEBA03-C076-4656-9A59-6931769357D3}">
      <dsp:nvSpPr>
        <dsp:cNvPr id="0" name=""/>
        <dsp:cNvSpPr/>
      </dsp:nvSpPr>
      <dsp:spPr>
        <a:xfrm rot="5400000">
          <a:off x="-64887" y="1831698"/>
          <a:ext cx="432585" cy="3028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STEP 5</a:t>
          </a:r>
          <a:endParaRPr lang="en-GY" sz="800" b="1" kern="1200" dirty="0"/>
        </a:p>
      </dsp:txBody>
      <dsp:txXfrm rot="-5400000">
        <a:off x="2" y="1918215"/>
        <a:ext cx="302809" cy="129776"/>
      </dsp:txXfrm>
    </dsp:sp>
    <dsp:sp modelId="{E914C9C4-1E45-4BE2-B20B-6FFE9FEF7EBC}">
      <dsp:nvSpPr>
        <dsp:cNvPr id="0" name=""/>
        <dsp:cNvSpPr/>
      </dsp:nvSpPr>
      <dsp:spPr>
        <a:xfrm rot="5400000">
          <a:off x="2410953" y="-341332"/>
          <a:ext cx="281180" cy="4497467"/>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05_dictionary.R – </a:t>
          </a:r>
          <a:r>
            <a:rPr lang="en-US" sz="1400" kern="1200" dirty="0"/>
            <a:t>data dictionary generation</a:t>
          </a:r>
          <a:endParaRPr lang="en-GY" sz="2000" kern="1200" dirty="0"/>
        </a:p>
      </dsp:txBody>
      <dsp:txXfrm rot="-5400000">
        <a:off x="302810" y="1780537"/>
        <a:ext cx="4483741" cy="253728"/>
      </dsp:txXfrm>
    </dsp:sp>
    <dsp:sp modelId="{71A5F4AA-3510-4A80-95AA-B3CAE0BDA320}">
      <dsp:nvSpPr>
        <dsp:cNvPr id="0" name=""/>
        <dsp:cNvSpPr/>
      </dsp:nvSpPr>
      <dsp:spPr>
        <a:xfrm rot="5400000">
          <a:off x="-64887" y="2184585"/>
          <a:ext cx="432585" cy="3028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STEP 6</a:t>
          </a:r>
          <a:endParaRPr lang="en-GY" sz="800" b="1" kern="1200" dirty="0"/>
        </a:p>
      </dsp:txBody>
      <dsp:txXfrm rot="-5400000">
        <a:off x="2" y="2271102"/>
        <a:ext cx="302809" cy="129776"/>
      </dsp:txXfrm>
    </dsp:sp>
    <dsp:sp modelId="{CEEDEFDD-B88A-41A5-BB1B-D61F5FEED36F}">
      <dsp:nvSpPr>
        <dsp:cNvPr id="0" name=""/>
        <dsp:cNvSpPr/>
      </dsp:nvSpPr>
      <dsp:spPr>
        <a:xfrm rot="5400000">
          <a:off x="2410953" y="11554"/>
          <a:ext cx="281180" cy="4497467"/>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06_export.R – </a:t>
          </a:r>
          <a:r>
            <a:rPr lang="en-US" sz="1400" kern="1200" dirty="0"/>
            <a:t>export outputs</a:t>
          </a:r>
          <a:endParaRPr lang="en-GY" sz="2000" kern="1200" dirty="0"/>
        </a:p>
      </dsp:txBody>
      <dsp:txXfrm rot="-5400000">
        <a:off x="302810" y="2133423"/>
        <a:ext cx="4483741" cy="253728"/>
      </dsp:txXfrm>
    </dsp:sp>
    <dsp:sp modelId="{7086D58B-66BB-48EF-9B71-F024F3911F29}">
      <dsp:nvSpPr>
        <dsp:cNvPr id="0" name=""/>
        <dsp:cNvSpPr/>
      </dsp:nvSpPr>
      <dsp:spPr>
        <a:xfrm rot="5400000">
          <a:off x="-64887" y="2537472"/>
          <a:ext cx="432585" cy="3028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STEP 7</a:t>
          </a:r>
          <a:endParaRPr lang="en-GY" sz="800" b="1" kern="1200" dirty="0"/>
        </a:p>
      </dsp:txBody>
      <dsp:txXfrm rot="-5400000">
        <a:off x="2" y="2623989"/>
        <a:ext cx="302809" cy="129776"/>
      </dsp:txXfrm>
    </dsp:sp>
    <dsp:sp modelId="{9831EBFE-52E3-4421-8DB6-43CE44ABBB9E}">
      <dsp:nvSpPr>
        <dsp:cNvPr id="0" name=""/>
        <dsp:cNvSpPr/>
      </dsp:nvSpPr>
      <dsp:spPr>
        <a:xfrm rot="5400000">
          <a:off x="2410953" y="364441"/>
          <a:ext cx="281180" cy="4497467"/>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07_report.Rmd – </a:t>
          </a:r>
          <a:r>
            <a:rPr lang="en-US" sz="1400" kern="1200" dirty="0"/>
            <a:t>automated word report</a:t>
          </a:r>
          <a:endParaRPr lang="en-GY" sz="2000" kern="1200" dirty="0"/>
        </a:p>
      </dsp:txBody>
      <dsp:txXfrm rot="-5400000">
        <a:off x="302810" y="2486310"/>
        <a:ext cx="4483741" cy="25372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6A649F-0235-4F80-836D-BD90284FBBC5}" type="datetimeFigureOut">
              <a:rPr lang="en-GY" smtClean="0"/>
              <a:t>19/05/2026</a:t>
            </a:fld>
            <a:endParaRPr lang="en-GY"/>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5B4401-7920-4864-9216-E6B6B878A0D8}" type="slidenum">
              <a:rPr lang="en-GY" smtClean="0"/>
              <a:t>‹#›</a:t>
            </a:fld>
            <a:endParaRPr lang="en-GY"/>
          </a:p>
        </p:txBody>
      </p:sp>
    </p:spTree>
    <p:extLst>
      <p:ext uri="{BB962C8B-B14F-4D97-AF65-F5344CB8AC3E}">
        <p14:creationId xmlns:p14="http://schemas.microsoft.com/office/powerpoint/2010/main" val="769482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Y"/>
          </a:p>
        </p:txBody>
      </p:sp>
      <p:sp>
        <p:nvSpPr>
          <p:cNvPr id="3" name="Notes Placeholder 2"/>
          <p:cNvSpPr>
            <a:spLocks noGrp="1"/>
          </p:cNvSpPr>
          <p:nvPr>
            <p:ph type="body" idx="1"/>
          </p:nvPr>
        </p:nvSpPr>
        <p:spPr/>
        <p:txBody>
          <a:bodyPr/>
          <a:lstStyle/>
          <a:p>
            <a:r>
              <a:rPr lang="en-GY" sz="1200" kern="1200" dirty="0">
                <a:solidFill>
                  <a:schemeClr val="tx1"/>
                </a:solidFill>
                <a:effectLst/>
                <a:latin typeface="+mn-lt"/>
                <a:ea typeface="+mn-ea"/>
                <a:cs typeface="+mn-cs"/>
              </a:rPr>
              <a:t>This presentation covers the development of a structured healthcare data cleaning pipeline built in R to transform a messy dataset into an analysis-ready dataset.”</a:t>
            </a:r>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1</a:t>
            </a:fld>
            <a:endParaRPr lang="en-GY"/>
          </a:p>
        </p:txBody>
      </p:sp>
    </p:spTree>
    <p:extLst>
      <p:ext uri="{BB962C8B-B14F-4D97-AF65-F5344CB8AC3E}">
        <p14:creationId xmlns:p14="http://schemas.microsoft.com/office/powerpoint/2010/main" val="2109407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Y" sz="1200" kern="1200" dirty="0">
                <a:solidFill>
                  <a:schemeClr val="tx1"/>
                </a:solidFill>
                <a:effectLst/>
                <a:latin typeface="+mn-lt"/>
                <a:ea typeface="+mn-ea"/>
                <a:cs typeface="+mn-cs"/>
              </a:rPr>
              <a:t>“The dataset contained several intentional data quality issues including duplicates, inconsistent formatting, missing values, and mixed data types.”</a:t>
            </a:r>
          </a:p>
          <a:p>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2</a:t>
            </a:fld>
            <a:endParaRPr lang="en-GY"/>
          </a:p>
        </p:txBody>
      </p:sp>
    </p:spTree>
    <p:extLst>
      <p:ext uri="{BB962C8B-B14F-4D97-AF65-F5344CB8AC3E}">
        <p14:creationId xmlns:p14="http://schemas.microsoft.com/office/powerpoint/2010/main" val="2132058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Y"/>
          </a:p>
        </p:txBody>
      </p:sp>
      <p:sp>
        <p:nvSpPr>
          <p:cNvPr id="3" name="Notes Placeholder 2"/>
          <p:cNvSpPr>
            <a:spLocks noGrp="1"/>
          </p:cNvSpPr>
          <p:nvPr>
            <p:ph type="body" idx="1"/>
          </p:nvPr>
        </p:nvSpPr>
        <p:spPr/>
        <p:txBody>
          <a:bodyPr/>
          <a:lstStyle/>
          <a:p>
            <a:r>
              <a:rPr lang="en-GY" sz="1200" kern="1200" dirty="0">
                <a:solidFill>
                  <a:schemeClr val="tx1"/>
                </a:solidFill>
                <a:effectLst/>
                <a:latin typeface="+mn-lt"/>
                <a:ea typeface="+mn-ea"/>
                <a:cs typeface="+mn-cs"/>
              </a:rPr>
              <a:t>The goal was not only to clean the data, but to create a </a:t>
            </a:r>
            <a:r>
              <a:rPr lang="en-US" sz="1200" kern="1200" dirty="0">
                <a:solidFill>
                  <a:schemeClr val="tx1"/>
                </a:solidFill>
                <a:effectLst/>
                <a:latin typeface="+mn-lt"/>
                <a:ea typeface="+mn-ea"/>
                <a:cs typeface="+mn-cs"/>
              </a:rPr>
              <a:t>modular </a:t>
            </a:r>
            <a:r>
              <a:rPr lang="en-GY" sz="1200" kern="1200" dirty="0">
                <a:solidFill>
                  <a:schemeClr val="tx1"/>
                </a:solidFill>
                <a:effectLst/>
                <a:latin typeface="+mn-lt"/>
                <a:ea typeface="+mn-ea"/>
                <a:cs typeface="+mn-cs"/>
              </a:rPr>
              <a:t>reproducible pipeline that could run end-to-end.</a:t>
            </a:r>
            <a:endParaRPr lang="en-US" sz="1200" kern="1200" dirty="0">
              <a:solidFill>
                <a:schemeClr val="tx1"/>
              </a:solidFill>
              <a:effectLst/>
              <a:latin typeface="+mn-lt"/>
              <a:ea typeface="+mn-ea"/>
              <a:cs typeface="+mn-cs"/>
            </a:endParaRPr>
          </a:p>
          <a:p>
            <a:r>
              <a:rPr lang="en-US" dirty="0"/>
              <a:t>Generate analysis-ready datasets and automated reporting outputs.</a:t>
            </a:r>
          </a:p>
          <a:p>
            <a:endParaRPr lang="en-US" dirty="0"/>
          </a:p>
          <a:p>
            <a:r>
              <a:rPr lang="en-US" dirty="0"/>
              <a:t>Additional supporting validation and auditability steps were implemented to improve reproducibility and transparency of the pipeline.”</a:t>
            </a:r>
          </a:p>
          <a:p>
            <a:endParaRPr lang="en-US" dirty="0"/>
          </a:p>
          <a:p>
            <a:r>
              <a:rPr lang="en-US" dirty="0"/>
              <a:t>Support reproducibility, auditability, and multi-format exports.</a:t>
            </a:r>
          </a:p>
          <a:p>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3</a:t>
            </a:fld>
            <a:endParaRPr lang="en-GY"/>
          </a:p>
        </p:txBody>
      </p:sp>
    </p:spTree>
    <p:extLst>
      <p:ext uri="{BB962C8B-B14F-4D97-AF65-F5344CB8AC3E}">
        <p14:creationId xmlns:p14="http://schemas.microsoft.com/office/powerpoint/2010/main" val="421853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Y"/>
          </a:p>
        </p:txBody>
      </p:sp>
      <p:sp>
        <p:nvSpPr>
          <p:cNvPr id="3" name="Notes Placeholder 2"/>
          <p:cNvSpPr>
            <a:spLocks noGrp="1"/>
          </p:cNvSpPr>
          <p:nvPr>
            <p:ph type="body" idx="1"/>
          </p:nvPr>
        </p:nvSpPr>
        <p:spPr/>
        <p:txBody>
          <a:bodyPr/>
          <a:lstStyle/>
          <a:p>
            <a:r>
              <a:rPr lang="en-GY" sz="1200" kern="1200" dirty="0">
                <a:solidFill>
                  <a:schemeClr val="tx1"/>
                </a:solidFill>
                <a:effectLst/>
                <a:latin typeface="+mn-lt"/>
                <a:ea typeface="+mn-ea"/>
                <a:cs typeface="+mn-cs"/>
              </a:rPr>
              <a:t>Modular pipeline structure</a:t>
            </a:r>
          </a:p>
          <a:p>
            <a:r>
              <a:rPr lang="en-GY" sz="1200" kern="1200" dirty="0">
                <a:solidFill>
                  <a:schemeClr val="tx1"/>
                </a:solidFill>
                <a:effectLst/>
                <a:latin typeface="+mn-lt"/>
                <a:ea typeface="+mn-ea"/>
                <a:cs typeface="+mn-cs"/>
              </a:rPr>
              <a:t>Each script performs one responsibility</a:t>
            </a:r>
          </a:p>
          <a:p>
            <a:endParaRPr lang="en-GY" sz="1200" kern="1200" dirty="0">
              <a:solidFill>
                <a:schemeClr val="tx1"/>
              </a:solidFill>
              <a:effectLst/>
              <a:latin typeface="+mn-lt"/>
              <a:ea typeface="+mn-ea"/>
              <a:cs typeface="+mn-cs"/>
            </a:endParaRPr>
          </a:p>
          <a:p>
            <a:r>
              <a:rPr lang="en-GY" sz="1200" kern="1200" dirty="0">
                <a:solidFill>
                  <a:schemeClr val="tx1"/>
                </a:solidFill>
                <a:effectLst/>
                <a:latin typeface="+mn-lt"/>
                <a:ea typeface="+mn-ea"/>
                <a:cs typeface="+mn-cs"/>
              </a:rPr>
              <a:t>“The project was divided into separate stages to improve readability, maintenance, and reproducibility.”</a:t>
            </a:r>
          </a:p>
          <a:p>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4</a:t>
            </a:fld>
            <a:endParaRPr lang="en-GY"/>
          </a:p>
        </p:txBody>
      </p:sp>
    </p:spTree>
    <p:extLst>
      <p:ext uri="{BB962C8B-B14F-4D97-AF65-F5344CB8AC3E}">
        <p14:creationId xmlns:p14="http://schemas.microsoft.com/office/powerpoint/2010/main" val="3836750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Y"/>
          </a:p>
        </p:txBody>
      </p:sp>
      <p:sp>
        <p:nvSpPr>
          <p:cNvPr id="3" name="Notes Placeholder 2"/>
          <p:cNvSpPr>
            <a:spLocks noGrp="1"/>
          </p:cNvSpPr>
          <p:nvPr>
            <p:ph type="body" idx="1"/>
          </p:nvPr>
        </p:nvSpPr>
        <p:spPr/>
        <p:txBody>
          <a:bodyPr/>
          <a:lstStyle/>
          <a:p>
            <a:r>
              <a:rPr lang="en-GY" sz="1200" kern="1200" dirty="0">
                <a:solidFill>
                  <a:schemeClr val="tx1"/>
                </a:solidFill>
                <a:effectLst/>
                <a:latin typeface="+mn-lt"/>
                <a:ea typeface="+mn-ea"/>
                <a:cs typeface="+mn-cs"/>
              </a:rPr>
              <a:t>These issues prevented reliable analysis and required structured cleaning and standardisation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dirty="0"/>
              <a:t>Missing Age values</a:t>
            </a:r>
          </a:p>
          <a:p>
            <a:r>
              <a:rPr lang="en-US" dirty="0"/>
              <a:t>Inconsistent Age format</a:t>
            </a:r>
          </a:p>
          <a:p>
            <a:r>
              <a:rPr lang="en-US" dirty="0"/>
              <a:t>Phone number formatting inconsistencies</a:t>
            </a:r>
          </a:p>
          <a:p>
            <a:endParaRPr lang="en-US" dirty="0"/>
          </a:p>
          <a:p>
            <a:r>
              <a:rPr lang="en-US" dirty="0"/>
              <a:t>Were additional issue found in the data set</a:t>
            </a:r>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5</a:t>
            </a:fld>
            <a:endParaRPr lang="en-GY"/>
          </a:p>
        </p:txBody>
      </p:sp>
    </p:spTree>
    <p:extLst>
      <p:ext uri="{BB962C8B-B14F-4D97-AF65-F5344CB8AC3E}">
        <p14:creationId xmlns:p14="http://schemas.microsoft.com/office/powerpoint/2010/main" val="3803467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names </a:t>
            </a:r>
            <a:r>
              <a:rPr lang="en-US" dirty="0" err="1"/>
              <a:t>standardised</a:t>
            </a:r>
            <a:endParaRPr lang="en-US" dirty="0"/>
          </a:p>
          <a:p>
            <a:r>
              <a:rPr lang="en-US" dirty="0"/>
              <a:t>Gender, Condition, Medication </a:t>
            </a:r>
            <a:r>
              <a:rPr lang="en-US" dirty="0" err="1"/>
              <a:t>normalised</a:t>
            </a:r>
            <a:endParaRPr lang="en-US" dirty="0"/>
          </a:p>
          <a:p>
            <a:r>
              <a:rPr lang="en-US" dirty="0"/>
              <a:t>Dates parsed into standard formats</a:t>
            </a:r>
          </a:p>
          <a:p>
            <a:endParaRPr lang="en-US" dirty="0"/>
          </a:p>
          <a:p>
            <a:r>
              <a:rPr lang="en-US" dirty="0"/>
              <a:t>Additionally </a:t>
            </a:r>
          </a:p>
          <a:p>
            <a:r>
              <a:rPr lang="en-US" dirty="0"/>
              <a:t>Age was cleaned </a:t>
            </a:r>
          </a:p>
          <a:p>
            <a:r>
              <a:rPr lang="en-US" dirty="0"/>
              <a:t>Phone numbers cleaned to digits-only</a:t>
            </a:r>
          </a:p>
          <a:p>
            <a:r>
              <a:rPr lang="en-US" dirty="0"/>
              <a:t>Duplicate visits resolved using Patient Name + Visit Date</a:t>
            </a:r>
          </a:p>
          <a:p>
            <a:r>
              <a:rPr lang="en-US" dirty="0"/>
              <a:t>Cleaning audit logs and duplicate summaries generated</a:t>
            </a:r>
          </a:p>
          <a:p>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6</a:t>
            </a:fld>
            <a:endParaRPr lang="en-GY"/>
          </a:p>
        </p:txBody>
      </p:sp>
    </p:spTree>
    <p:extLst>
      <p:ext uri="{BB962C8B-B14F-4D97-AF65-F5344CB8AC3E}">
        <p14:creationId xmlns:p14="http://schemas.microsoft.com/office/powerpoint/2010/main" val="2936557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Y" sz="1200" kern="1200" dirty="0">
                <a:solidFill>
                  <a:schemeClr val="tx1"/>
                </a:solidFill>
                <a:effectLst/>
                <a:latin typeface="+mn-lt"/>
                <a:ea typeface="+mn-ea"/>
                <a:cs typeface="+mn-cs"/>
              </a:rPr>
              <a:t>Missing ages were replaced using the median because it provides stable values without being heavily affected by outliers</a:t>
            </a:r>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7</a:t>
            </a:fld>
            <a:endParaRPr lang="en-GY"/>
          </a:p>
        </p:txBody>
      </p:sp>
    </p:spTree>
    <p:extLst>
      <p:ext uri="{BB962C8B-B14F-4D97-AF65-F5344CB8AC3E}">
        <p14:creationId xmlns:p14="http://schemas.microsoft.com/office/powerpoint/2010/main" val="3840254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compares the level of missing data before and after the cleaning process for each variable in the dataset.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cleaning, several variables contained high levels of missingness. Email had the largest number of missing values, followed by Cholesterol, Phone Number, Blood Pressure, and Age. Whilst the variables leading were not the scoped variables, these missing values reduced the reliability and completeness of the dataset for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cleaning and imputation stages, missing values in Age were fully resolved through median imputation, while other variables showed reductions where invalid entries and blank values were </a:t>
            </a:r>
            <a:r>
              <a:rPr lang="en-US" dirty="0" err="1"/>
              <a:t>standardised</a:t>
            </a:r>
            <a:r>
              <a:rPr lang="en-US" dirty="0"/>
              <a:t> into proper missing values. Some missingness still remains in variables such as Email and Phone Number because no reliable information was available to safely replace those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this chart demonstrates the impact of the cleaning pipeline by showing improved data completeness and more consistent handling of missing information across the dataset.</a:t>
            </a:r>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8</a:t>
            </a:fld>
            <a:endParaRPr lang="en-GY"/>
          </a:p>
        </p:txBody>
      </p:sp>
    </p:spTree>
    <p:extLst>
      <p:ext uri="{BB962C8B-B14F-4D97-AF65-F5344CB8AC3E}">
        <p14:creationId xmlns:p14="http://schemas.microsoft.com/office/powerpoint/2010/main" val="428418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C6154-635E-3915-9BC8-051A8641C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26794-5C34-C2A5-96E3-16B2D771D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7E4EF-76B9-AAA3-9F63-64BE38D7945B}"/>
              </a:ext>
            </a:extLst>
          </p:cNvPr>
          <p:cNvSpPr>
            <a:spLocks noGrp="1"/>
          </p:cNvSpPr>
          <p:nvPr>
            <p:ph type="body" idx="1"/>
          </p:nvPr>
        </p:nvSpPr>
        <p:spPr/>
        <p:txBody>
          <a:bodyPr/>
          <a:lstStyle/>
          <a:p>
            <a:r>
              <a:rPr lang="en-GY" sz="1200" kern="1200" dirty="0">
                <a:solidFill>
                  <a:schemeClr val="tx1"/>
                </a:solidFill>
                <a:effectLst/>
                <a:latin typeface="+mn-lt"/>
                <a:ea typeface="+mn-ea"/>
                <a:cs typeface="+mn-cs"/>
              </a:rPr>
              <a:t>Multi-format export capability</a:t>
            </a:r>
          </a:p>
          <a:p>
            <a:r>
              <a:rPr lang="en-GY" sz="1200" kern="1200" dirty="0">
                <a:solidFill>
                  <a:schemeClr val="tx1"/>
                </a:solidFill>
                <a:effectLst/>
                <a:latin typeface="+mn-lt"/>
                <a:ea typeface="+mn-ea"/>
                <a:cs typeface="+mn-cs"/>
              </a:rPr>
              <a:t>Automated reporting</a:t>
            </a:r>
            <a:endParaRPr lang="en-US" sz="1200" kern="1200" dirty="0">
              <a:solidFill>
                <a:schemeClr val="tx1"/>
              </a:solidFill>
              <a:effectLst/>
              <a:latin typeface="+mn-lt"/>
              <a:ea typeface="+mn-ea"/>
              <a:cs typeface="+mn-cs"/>
            </a:endParaRPr>
          </a:p>
          <a:p>
            <a:endParaRPr lang="en-GY" sz="1200" kern="1200" dirty="0">
              <a:solidFill>
                <a:schemeClr val="tx1"/>
              </a:solidFill>
              <a:effectLst/>
              <a:latin typeface="+mn-lt"/>
              <a:ea typeface="+mn-ea"/>
              <a:cs typeface="+mn-cs"/>
            </a:endParaRPr>
          </a:p>
          <a:p>
            <a:r>
              <a:rPr lang="en-GY" sz="1200" kern="1200" dirty="0">
                <a:solidFill>
                  <a:schemeClr val="tx1"/>
                </a:solidFill>
                <a:effectLst/>
                <a:latin typeface="+mn-lt"/>
                <a:ea typeface="+mn-ea"/>
                <a:cs typeface="+mn-cs"/>
              </a:rPr>
              <a:t>“The cleaned dataset was exported into multiple formats to support different analytical environments.”</a:t>
            </a:r>
          </a:p>
          <a:p>
            <a:endParaRPr lang="en-GY" dirty="0"/>
          </a:p>
        </p:txBody>
      </p:sp>
      <p:sp>
        <p:nvSpPr>
          <p:cNvPr id="4" name="Slide Number Placeholder 3">
            <a:extLst>
              <a:ext uri="{FF2B5EF4-FFF2-40B4-BE49-F238E27FC236}">
                <a16:creationId xmlns:a16="http://schemas.microsoft.com/office/drawing/2014/main" id="{B4D0EA87-1780-179C-1955-8793DA89847B}"/>
              </a:ext>
            </a:extLst>
          </p:cNvPr>
          <p:cNvSpPr>
            <a:spLocks noGrp="1"/>
          </p:cNvSpPr>
          <p:nvPr>
            <p:ph type="sldNum" sz="quarter" idx="5"/>
          </p:nvPr>
        </p:nvSpPr>
        <p:spPr/>
        <p:txBody>
          <a:bodyPr/>
          <a:lstStyle/>
          <a:p>
            <a:fld id="{0C5B4401-7920-4864-9216-E6B6B878A0D8}" type="slidenum">
              <a:rPr lang="en-GY" smtClean="0"/>
              <a:t>9</a:t>
            </a:fld>
            <a:endParaRPr lang="en-GY"/>
          </a:p>
        </p:txBody>
      </p:sp>
    </p:spTree>
    <p:extLst>
      <p:ext uri="{BB962C8B-B14F-4D97-AF65-F5344CB8AC3E}">
        <p14:creationId xmlns:p14="http://schemas.microsoft.com/office/powerpoint/2010/main" val="2086864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Y" sz="1200" kern="1200" dirty="0">
              <a:solidFill>
                <a:schemeClr val="tx1"/>
              </a:solidFill>
              <a:effectLst/>
              <a:latin typeface="+mn-lt"/>
              <a:ea typeface="+mn-ea"/>
              <a:cs typeface="+mn-cs"/>
            </a:endParaRPr>
          </a:p>
          <a:p>
            <a:r>
              <a:rPr lang="en-GY" sz="1200" kern="1200" dirty="0">
                <a:solidFill>
                  <a:schemeClr val="tx1"/>
                </a:solidFill>
                <a:effectLst/>
                <a:latin typeface="+mn-lt"/>
                <a:ea typeface="+mn-ea"/>
                <a:cs typeface="+mn-cs"/>
              </a:rPr>
              <a:t>“One major success was achieving a complete automated workflow from ingestion to reporting.”</a:t>
            </a:r>
          </a:p>
          <a:p>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10</a:t>
            </a:fld>
            <a:endParaRPr lang="en-GY"/>
          </a:p>
        </p:txBody>
      </p:sp>
    </p:spTree>
    <p:extLst>
      <p:ext uri="{BB962C8B-B14F-4D97-AF65-F5344CB8AC3E}">
        <p14:creationId xmlns:p14="http://schemas.microsoft.com/office/powerpoint/2010/main" val="942569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Handling duplicate patient identities</a:t>
            </a:r>
          </a:p>
          <a:p>
            <a:r>
              <a:rPr lang="en-US" dirty="0"/>
              <a:t>- Deciding which records to retain</a:t>
            </a:r>
          </a:p>
          <a:p>
            <a:r>
              <a:rPr lang="en-US" dirty="0"/>
              <a:t>- Structuring pipeline stages correctly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Y" sz="1200" kern="1200" dirty="0">
                <a:solidFill>
                  <a:schemeClr val="tx1"/>
                </a:solidFill>
                <a:effectLst/>
                <a:latin typeface="+mn-lt"/>
                <a:ea typeface="+mn-ea"/>
                <a:cs typeface="+mn-cs"/>
              </a:rPr>
              <a:t>This stage required the most critical decision-making because duplicate records did not always contain matching supporting information.”</a:t>
            </a:r>
          </a:p>
          <a:p>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11</a:t>
            </a:fld>
            <a:endParaRPr lang="en-GY"/>
          </a:p>
        </p:txBody>
      </p:sp>
    </p:spTree>
    <p:extLst>
      <p:ext uri="{BB962C8B-B14F-4D97-AF65-F5344CB8AC3E}">
        <p14:creationId xmlns:p14="http://schemas.microsoft.com/office/powerpoint/2010/main" val="416214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Y" sz="1200" kern="1200" dirty="0">
                <a:solidFill>
                  <a:schemeClr val="tx1"/>
                </a:solidFill>
                <a:effectLst/>
                <a:latin typeface="+mn-lt"/>
                <a:ea typeface="+mn-ea"/>
                <a:cs typeface="+mn-cs"/>
              </a:rPr>
              <a:t>Most of the project time was spent resolving data quality and structural pipeline issues.”</a:t>
            </a:r>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12</a:t>
            </a:fld>
            <a:endParaRPr lang="en-GY"/>
          </a:p>
        </p:txBody>
      </p:sp>
    </p:spTree>
    <p:extLst>
      <p:ext uri="{BB962C8B-B14F-4D97-AF65-F5344CB8AC3E}">
        <p14:creationId xmlns:p14="http://schemas.microsoft.com/office/powerpoint/2010/main" val="4207687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Y" sz="1200" kern="1200" dirty="0">
                <a:solidFill>
                  <a:schemeClr val="tx1"/>
                </a:solidFill>
                <a:effectLst/>
                <a:latin typeface="+mn-lt"/>
                <a:ea typeface="+mn-ea"/>
                <a:cs typeface="+mn-cs"/>
              </a:rPr>
              <a:t>With more time, I would focus on improving identity resolution accuracy and expanding downstream analysis</a:t>
            </a:r>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13</a:t>
            </a:fld>
            <a:endParaRPr lang="en-GY"/>
          </a:p>
        </p:txBody>
      </p:sp>
    </p:spTree>
    <p:extLst>
      <p:ext uri="{BB962C8B-B14F-4D97-AF65-F5344CB8AC3E}">
        <p14:creationId xmlns:p14="http://schemas.microsoft.com/office/powerpoint/2010/main" val="548203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Y" sz="1200" kern="1200" dirty="0">
                <a:solidFill>
                  <a:schemeClr val="tx1"/>
                </a:solidFill>
                <a:effectLst/>
                <a:latin typeface="+mn-lt"/>
                <a:ea typeface="+mn-ea"/>
                <a:cs typeface="+mn-cs"/>
              </a:rPr>
              <a:t>Thank you for listening. I welcome any questions or feedback</a:t>
            </a:r>
            <a:endParaRPr lang="en-GY" dirty="0"/>
          </a:p>
        </p:txBody>
      </p:sp>
      <p:sp>
        <p:nvSpPr>
          <p:cNvPr id="4" name="Slide Number Placeholder 3"/>
          <p:cNvSpPr>
            <a:spLocks noGrp="1"/>
          </p:cNvSpPr>
          <p:nvPr>
            <p:ph type="sldNum" sz="quarter" idx="5"/>
          </p:nvPr>
        </p:nvSpPr>
        <p:spPr/>
        <p:txBody>
          <a:bodyPr/>
          <a:lstStyle/>
          <a:p>
            <a:fld id="{0C5B4401-7920-4864-9216-E6B6B878A0D8}" type="slidenum">
              <a:rPr lang="en-GY" smtClean="0"/>
              <a:t>14</a:t>
            </a:fld>
            <a:endParaRPr lang="en-GY"/>
          </a:p>
        </p:txBody>
      </p:sp>
    </p:spTree>
    <p:extLst>
      <p:ext uri="{BB962C8B-B14F-4D97-AF65-F5344CB8AC3E}">
        <p14:creationId xmlns:p14="http://schemas.microsoft.com/office/powerpoint/2010/main" val="1423632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6923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6219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528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0885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5576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5502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3253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6909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4579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4340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1632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Y"/>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5/19/2026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43888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emf"/><Relationship Id="rId11" Type="http://schemas.openxmlformats.org/officeDocument/2006/relationships/package" Target="../embeddings/Microsoft_Word_Document.docx"/><Relationship Id="rId5" Type="http://schemas.openxmlformats.org/officeDocument/2006/relationships/oleObject" Target="../embeddings/oleObject2.bin"/><Relationship Id="rId10" Type="http://schemas.openxmlformats.org/officeDocument/2006/relationships/image" Target="../media/image7.emf"/><Relationship Id="rId4" Type="http://schemas.openxmlformats.org/officeDocument/2006/relationships/image" Target="../media/image4.emf"/><Relationship Id="rId9" Type="http://schemas.openxmlformats.org/officeDocument/2006/relationships/package" Target="../embeddings/Microsoft_Excel_Worksheet.xlsx"/></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B9A1D-4A98-45A0-FC69-E2676BB81B62}"/>
              </a:ext>
            </a:extLst>
          </p:cNvPr>
          <p:cNvSpPr>
            <a:spLocks noGrp="1"/>
          </p:cNvSpPr>
          <p:nvPr>
            <p:ph type="title"/>
          </p:nvPr>
        </p:nvSpPr>
        <p:spPr>
          <a:xfrm>
            <a:off x="457200" y="1966393"/>
            <a:ext cx="8229600" cy="2076218"/>
          </a:xfrm>
        </p:spPr>
        <p:txBody>
          <a:bodyPr>
            <a:noAutofit/>
          </a:bodyPr>
          <a:lstStyle/>
          <a:p>
            <a:pPr algn="ctr"/>
            <a:r>
              <a:rPr lang="en-US" sz="5400" b="1" dirty="0"/>
              <a:t>Healthcare Data Cleaning Pipeline</a:t>
            </a:r>
            <a:br>
              <a:rPr lang="en-US" sz="5400" dirty="0"/>
            </a:br>
            <a:endParaRPr lang="en-GY" sz="5400" dirty="0"/>
          </a:p>
        </p:txBody>
      </p:sp>
      <p:sp>
        <p:nvSpPr>
          <p:cNvPr id="3" name="Content Placeholder 2">
            <a:extLst>
              <a:ext uri="{FF2B5EF4-FFF2-40B4-BE49-F238E27FC236}">
                <a16:creationId xmlns:a16="http://schemas.microsoft.com/office/drawing/2014/main" id="{B01104F0-D9CD-6997-0DF8-46748DF36C80}"/>
              </a:ext>
            </a:extLst>
          </p:cNvPr>
          <p:cNvSpPr>
            <a:spLocks noGrp="1"/>
          </p:cNvSpPr>
          <p:nvPr>
            <p:ph idx="1"/>
          </p:nvPr>
        </p:nvSpPr>
        <p:spPr>
          <a:xfrm>
            <a:off x="457200" y="4366870"/>
            <a:ext cx="8229600" cy="1374281"/>
          </a:xfrm>
        </p:spPr>
        <p:txBody>
          <a:bodyPr>
            <a:normAutofit/>
          </a:bodyPr>
          <a:lstStyle/>
          <a:p>
            <a:r>
              <a:rPr lang="en-US" sz="1800" dirty="0"/>
              <a:t>Name: Tynisha Niles</a:t>
            </a:r>
          </a:p>
          <a:p>
            <a:r>
              <a:rPr lang="en-US" sz="1800" dirty="0"/>
              <a:t>Role: Data Analyst</a:t>
            </a:r>
          </a:p>
          <a:p>
            <a:r>
              <a:rPr lang="en-US" sz="1800" dirty="0"/>
              <a:t>Date: May 15, 2026</a:t>
            </a:r>
            <a:endParaRPr lang="en-GY" sz="1800" dirty="0"/>
          </a:p>
        </p:txBody>
      </p:sp>
    </p:spTree>
    <p:extLst>
      <p:ext uri="{BB962C8B-B14F-4D97-AF65-F5344CB8AC3E}">
        <p14:creationId xmlns:p14="http://schemas.microsoft.com/office/powerpoint/2010/main" val="97077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4A6BD-3439-0DE8-D636-626F98C9F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82F4A-4334-40C1-20F8-20BABAF82D67}"/>
              </a:ext>
            </a:extLst>
          </p:cNvPr>
          <p:cNvSpPr>
            <a:spLocks noGrp="1"/>
          </p:cNvSpPr>
          <p:nvPr>
            <p:ph type="title"/>
          </p:nvPr>
        </p:nvSpPr>
        <p:spPr/>
        <p:txBody>
          <a:bodyPr/>
          <a:lstStyle/>
          <a:p>
            <a:r>
              <a:t>The Dataset</a:t>
            </a:r>
          </a:p>
        </p:txBody>
      </p:sp>
      <p:sp>
        <p:nvSpPr>
          <p:cNvPr id="3" name="Content Placeholder 2">
            <a:extLst>
              <a:ext uri="{FF2B5EF4-FFF2-40B4-BE49-F238E27FC236}">
                <a16:creationId xmlns:a16="http://schemas.microsoft.com/office/drawing/2014/main" id="{154F9462-17C4-5E44-E5AF-3789E4F5066F}"/>
              </a:ext>
            </a:extLst>
          </p:cNvPr>
          <p:cNvSpPr>
            <a:spLocks noGrp="1"/>
          </p:cNvSpPr>
          <p:nvPr>
            <p:ph idx="1"/>
          </p:nvPr>
        </p:nvSpPr>
        <p:spPr>
          <a:xfrm>
            <a:off x="822960" y="1737361"/>
            <a:ext cx="7543801" cy="4834035"/>
          </a:xfrm>
        </p:spPr>
        <p:txBody>
          <a:bodyPr>
            <a:normAutofit/>
          </a:bodyPr>
          <a:lstStyle/>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b="1" dirty="0"/>
          </a:p>
          <a:p>
            <a:pPr marL="0" indent="0">
              <a:buNone/>
            </a:pPr>
            <a:endParaRPr dirty="0"/>
          </a:p>
        </p:txBody>
      </p:sp>
      <p:graphicFrame>
        <p:nvGraphicFramePr>
          <p:cNvPr id="4" name="Table 3">
            <a:extLst>
              <a:ext uri="{FF2B5EF4-FFF2-40B4-BE49-F238E27FC236}">
                <a16:creationId xmlns:a16="http://schemas.microsoft.com/office/drawing/2014/main" id="{F61A0455-B732-0018-D206-EFEBD7BE231D}"/>
              </a:ext>
            </a:extLst>
          </p:cNvPr>
          <p:cNvGraphicFramePr>
            <a:graphicFrameLocks noGrp="1"/>
          </p:cNvGraphicFramePr>
          <p:nvPr>
            <p:extLst>
              <p:ext uri="{D42A27DB-BD31-4B8C-83A1-F6EECF244321}">
                <p14:modId xmlns:p14="http://schemas.microsoft.com/office/powerpoint/2010/main" val="1338396981"/>
              </p:ext>
            </p:extLst>
          </p:nvPr>
        </p:nvGraphicFramePr>
        <p:xfrm>
          <a:off x="822960" y="1911350"/>
          <a:ext cx="7543800" cy="3484880"/>
        </p:xfrm>
        <a:graphic>
          <a:graphicData uri="http://schemas.openxmlformats.org/drawingml/2006/table">
            <a:tbl>
              <a:tblPr firstRow="1" bandRow="1">
                <a:tableStyleId>{5C22544A-7EE6-4342-B048-85BDC9FD1C3A}</a:tableStyleId>
              </a:tblPr>
              <a:tblGrid>
                <a:gridCol w="2777490">
                  <a:extLst>
                    <a:ext uri="{9D8B030D-6E8A-4147-A177-3AD203B41FA5}">
                      <a16:colId xmlns:a16="http://schemas.microsoft.com/office/drawing/2014/main" val="3061944719"/>
                    </a:ext>
                  </a:extLst>
                </a:gridCol>
                <a:gridCol w="4766310">
                  <a:extLst>
                    <a:ext uri="{9D8B030D-6E8A-4147-A177-3AD203B41FA5}">
                      <a16:colId xmlns:a16="http://schemas.microsoft.com/office/drawing/2014/main" val="3069582421"/>
                    </a:ext>
                  </a:extLst>
                </a:gridCol>
              </a:tblGrid>
              <a:tr h="370840">
                <a:tc>
                  <a:txBody>
                    <a:bodyPr/>
                    <a:lstStyle/>
                    <a:p>
                      <a:endParaRPr lang="en-GY" dirty="0"/>
                    </a:p>
                  </a:txBody>
                  <a:tcPr/>
                </a:tc>
                <a:tc>
                  <a:txBody>
                    <a:bodyPr/>
                    <a:lstStyle/>
                    <a:p>
                      <a:endParaRPr lang="en-GY"/>
                    </a:p>
                  </a:txBody>
                  <a:tcPr/>
                </a:tc>
                <a:extLst>
                  <a:ext uri="{0D108BD9-81ED-4DB2-BD59-A6C34878D82A}">
                    <a16:rowId xmlns:a16="http://schemas.microsoft.com/office/drawing/2014/main" val="1276063763"/>
                  </a:ext>
                </a:extLst>
              </a:tr>
              <a:tr h="370840">
                <a:tc>
                  <a:txBody>
                    <a:bodyPr/>
                    <a:lstStyle/>
                    <a:p>
                      <a:r>
                        <a:rPr lang="en-US" b="1" dirty="0"/>
                        <a:t> What it is</a:t>
                      </a:r>
                      <a:endParaRPr lang="en-GY"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Healthcare patient dataset containing demographic, visit, and medical information. Includes inconsistencies, duplicates, and missing values.</a:t>
                      </a:r>
                    </a:p>
                    <a:p>
                      <a:endParaRPr lang="en-GY" dirty="0"/>
                    </a:p>
                  </a:txBody>
                  <a:tcPr/>
                </a:tc>
                <a:extLst>
                  <a:ext uri="{0D108BD9-81ED-4DB2-BD59-A6C34878D82A}">
                    <a16:rowId xmlns:a16="http://schemas.microsoft.com/office/drawing/2014/main" val="920286165"/>
                  </a:ext>
                </a:extLst>
              </a:tr>
              <a:tr h="370840">
                <a:tc>
                  <a:txBody>
                    <a:bodyPr/>
                    <a:lstStyle/>
                    <a:p>
                      <a:r>
                        <a:rPr lang="en-US" b="1" dirty="0"/>
                        <a:t> Source</a:t>
                      </a:r>
                      <a:endParaRPr lang="en-GY" dirty="0"/>
                    </a:p>
                  </a:txBody>
                  <a:tcPr/>
                </a:tc>
                <a:tc>
                  <a:txBody>
                    <a:bodyPr/>
                    <a:lstStyle/>
                    <a:p>
                      <a:r>
                        <a:rPr lang="en-US" dirty="0"/>
                        <a:t>Provided as part of the healthcare data cleaning assignment</a:t>
                      </a:r>
                      <a:endParaRPr lang="en-GY" dirty="0"/>
                    </a:p>
                  </a:txBody>
                  <a:tcPr/>
                </a:tc>
                <a:extLst>
                  <a:ext uri="{0D108BD9-81ED-4DB2-BD59-A6C34878D82A}">
                    <a16:rowId xmlns:a16="http://schemas.microsoft.com/office/drawing/2014/main" val="1099923769"/>
                  </a:ext>
                </a:extLst>
              </a:tr>
              <a:tr h="370840">
                <a:tc>
                  <a:txBody>
                    <a:bodyPr/>
                    <a:lstStyle/>
                    <a:p>
                      <a:r>
                        <a:rPr lang="en-US" b="1" dirty="0"/>
                        <a:t> Raw dataset size</a:t>
                      </a:r>
                      <a:endParaRPr lang="en-GY" dirty="0"/>
                    </a:p>
                  </a:txBody>
                  <a:tcPr/>
                </a:tc>
                <a:tc>
                  <a:txBody>
                    <a:bodyPr/>
                    <a:lstStyle/>
                    <a:p>
                      <a:r>
                        <a:rPr lang="en-US" dirty="0"/>
                        <a:t>approximately 1000 observations and 10 variables</a:t>
                      </a:r>
                      <a:endParaRPr lang="en-GY" dirty="0"/>
                    </a:p>
                  </a:txBody>
                  <a:tcPr/>
                </a:tc>
                <a:extLst>
                  <a:ext uri="{0D108BD9-81ED-4DB2-BD59-A6C34878D82A}">
                    <a16:rowId xmlns:a16="http://schemas.microsoft.com/office/drawing/2014/main" val="1255711376"/>
                  </a:ext>
                </a:extLst>
              </a:tr>
              <a:tr h="370840">
                <a:tc>
                  <a:txBody>
                    <a:bodyPr/>
                    <a:lstStyle/>
                    <a:p>
                      <a:r>
                        <a:rPr lang="en-US" b="1" dirty="0"/>
                        <a:t>Date of download/access</a:t>
                      </a:r>
                      <a:endParaRPr lang="en-GY" dirty="0"/>
                    </a:p>
                  </a:txBody>
                  <a:tcPr/>
                </a:tc>
                <a:tc>
                  <a:txBody>
                    <a:bodyPr/>
                    <a:lstStyle/>
                    <a:p>
                      <a:r>
                        <a:rPr lang="en-US" dirty="0"/>
                        <a:t>Tuesday, April 21, 2026</a:t>
                      </a:r>
                      <a:endParaRPr lang="en-GY" dirty="0"/>
                    </a:p>
                  </a:txBody>
                  <a:tcPr/>
                </a:tc>
                <a:extLst>
                  <a:ext uri="{0D108BD9-81ED-4DB2-BD59-A6C34878D82A}">
                    <a16:rowId xmlns:a16="http://schemas.microsoft.com/office/drawing/2014/main" val="688296296"/>
                  </a:ext>
                </a:extLst>
              </a:tr>
            </a:tbl>
          </a:graphicData>
        </a:graphic>
      </p:graphicFrame>
    </p:spTree>
    <p:extLst>
      <p:ext uri="{BB962C8B-B14F-4D97-AF65-F5344CB8AC3E}">
        <p14:creationId xmlns:p14="http://schemas.microsoft.com/office/powerpoint/2010/main" val="3805546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a:t>
            </a:r>
          </a:p>
        </p:txBody>
      </p:sp>
      <p:sp>
        <p:nvSpPr>
          <p:cNvPr id="3" name="Content Placeholder 2"/>
          <p:cNvSpPr>
            <a:spLocks noGrp="1"/>
          </p:cNvSpPr>
          <p:nvPr>
            <p:ph idx="1"/>
          </p:nvPr>
        </p:nvSpPr>
        <p:spPr>
          <a:xfrm>
            <a:off x="822959" y="1845734"/>
            <a:ext cx="7543801" cy="4330214"/>
          </a:xfrm>
        </p:spPr>
        <p:txBody>
          <a:bodyPr>
            <a:normAutofit/>
          </a:bodyPr>
          <a:lstStyle/>
          <a:p>
            <a:r>
              <a:rPr dirty="0"/>
              <a:t>To transform a messy healthcare dataset into a clean, analysis-ready dataset using a structured pipeline.</a:t>
            </a:r>
          </a:p>
          <a:p>
            <a:pPr marL="0" indent="0">
              <a:buNone/>
            </a:pPr>
            <a:endParaRPr dirty="0"/>
          </a:p>
          <a:p>
            <a:r>
              <a:rPr dirty="0"/>
              <a:t>Scoped variables:</a:t>
            </a:r>
          </a:p>
          <a:p>
            <a:pPr>
              <a:buFont typeface="Wingdings" panose="05000000000000000000" pitchFamily="2" charset="2"/>
              <a:buChar char="ü"/>
            </a:pPr>
            <a:r>
              <a:rPr dirty="0"/>
              <a:t>Patient Name</a:t>
            </a:r>
          </a:p>
          <a:p>
            <a:pPr>
              <a:buFont typeface="Wingdings" panose="05000000000000000000" pitchFamily="2" charset="2"/>
              <a:buChar char="ü"/>
            </a:pPr>
            <a:r>
              <a:rPr dirty="0"/>
              <a:t> Gender</a:t>
            </a:r>
          </a:p>
          <a:p>
            <a:pPr>
              <a:buFont typeface="Wingdings" panose="05000000000000000000" pitchFamily="2" charset="2"/>
              <a:buChar char="ü"/>
            </a:pPr>
            <a:r>
              <a:rPr dirty="0"/>
              <a:t> Condition</a:t>
            </a:r>
          </a:p>
          <a:p>
            <a:pPr>
              <a:buFont typeface="Wingdings" panose="05000000000000000000" pitchFamily="2" charset="2"/>
              <a:buChar char="ü"/>
            </a:pPr>
            <a:r>
              <a:rPr dirty="0"/>
              <a:t> Medication</a:t>
            </a:r>
          </a:p>
          <a:p>
            <a:pPr>
              <a:buFont typeface="Wingdings" panose="05000000000000000000" pitchFamily="2" charset="2"/>
              <a:buChar char="ü"/>
            </a:pPr>
            <a:r>
              <a:rPr dirty="0"/>
              <a:t> Visit Date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D1EB2-6788-FC97-C345-DAF0B1AA6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958DC-4F24-EC90-1C94-39FBE7D4AC85}"/>
              </a:ext>
            </a:extLst>
          </p:cNvPr>
          <p:cNvSpPr>
            <a:spLocks noGrp="1"/>
          </p:cNvSpPr>
          <p:nvPr>
            <p:ph type="title"/>
          </p:nvPr>
        </p:nvSpPr>
        <p:spPr/>
        <p:txBody>
          <a:bodyPr/>
          <a:lstStyle/>
          <a:p>
            <a:r>
              <a:rPr dirty="0"/>
              <a:t>Pipeline Architecture</a:t>
            </a:r>
          </a:p>
        </p:txBody>
      </p:sp>
      <p:graphicFrame>
        <p:nvGraphicFramePr>
          <p:cNvPr id="4" name="Content Placeholder 3">
            <a:extLst>
              <a:ext uri="{FF2B5EF4-FFF2-40B4-BE49-F238E27FC236}">
                <a16:creationId xmlns:a16="http://schemas.microsoft.com/office/drawing/2014/main" id="{E9995181-0501-6F7F-ACFF-9B946A6967CA}"/>
              </a:ext>
            </a:extLst>
          </p:cNvPr>
          <p:cNvGraphicFramePr>
            <a:graphicFrameLocks noGrp="1"/>
          </p:cNvGraphicFramePr>
          <p:nvPr>
            <p:ph idx="1"/>
            <p:extLst>
              <p:ext uri="{D42A27DB-BD31-4B8C-83A1-F6EECF244321}">
                <p14:modId xmlns:p14="http://schemas.microsoft.com/office/powerpoint/2010/main" val="956695702"/>
              </p:ext>
            </p:extLst>
          </p:nvPr>
        </p:nvGraphicFramePr>
        <p:xfrm>
          <a:off x="2146432" y="2478505"/>
          <a:ext cx="4800277" cy="2907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5BA08D0B-B8C8-827E-7E1C-99733F7AD9B9}"/>
              </a:ext>
            </a:extLst>
          </p:cNvPr>
          <p:cNvSpPr txBox="1"/>
          <p:nvPr/>
        </p:nvSpPr>
        <p:spPr>
          <a:xfrm>
            <a:off x="1716767" y="2101238"/>
            <a:ext cx="1379095" cy="369332"/>
          </a:xfrm>
          <a:prstGeom prst="rect">
            <a:avLst/>
          </a:prstGeom>
          <a:noFill/>
        </p:spPr>
        <p:txBody>
          <a:bodyPr wrap="square" rtlCol="0">
            <a:spAutoFit/>
          </a:bodyPr>
          <a:lstStyle/>
          <a:p>
            <a:r>
              <a:rPr lang="en-US" dirty="0"/>
              <a:t>RAW DATA</a:t>
            </a:r>
            <a:endParaRPr lang="en-GY" dirty="0"/>
          </a:p>
        </p:txBody>
      </p:sp>
      <p:sp>
        <p:nvSpPr>
          <p:cNvPr id="6" name="TextBox 5">
            <a:extLst>
              <a:ext uri="{FF2B5EF4-FFF2-40B4-BE49-F238E27FC236}">
                <a16:creationId xmlns:a16="http://schemas.microsoft.com/office/drawing/2014/main" id="{2D764794-054C-F874-65B3-F943C1BA5576}"/>
              </a:ext>
            </a:extLst>
          </p:cNvPr>
          <p:cNvSpPr txBox="1"/>
          <p:nvPr/>
        </p:nvSpPr>
        <p:spPr>
          <a:xfrm>
            <a:off x="1519332" y="5393986"/>
            <a:ext cx="2038662" cy="369332"/>
          </a:xfrm>
          <a:prstGeom prst="rect">
            <a:avLst/>
          </a:prstGeom>
          <a:noFill/>
        </p:spPr>
        <p:txBody>
          <a:bodyPr wrap="square" rtlCol="0">
            <a:spAutoFit/>
          </a:bodyPr>
          <a:lstStyle/>
          <a:p>
            <a:r>
              <a:rPr lang="en-US" dirty="0"/>
              <a:t>CLEANED DATA</a:t>
            </a:r>
            <a:endParaRPr lang="en-GY" dirty="0"/>
          </a:p>
        </p:txBody>
      </p:sp>
    </p:spTree>
    <p:extLst>
      <p:ext uri="{BB962C8B-B14F-4D97-AF65-F5344CB8AC3E}">
        <p14:creationId xmlns:p14="http://schemas.microsoft.com/office/powerpoint/2010/main" val="3265367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Top Data Quality Issues</a:t>
            </a:r>
          </a:p>
        </p:txBody>
      </p:sp>
      <p:sp>
        <p:nvSpPr>
          <p:cNvPr id="3" name="Content Placeholder 2"/>
          <p:cNvSpPr>
            <a:spLocks noGrp="1"/>
          </p:cNvSpPr>
          <p:nvPr>
            <p:ph idx="1"/>
          </p:nvPr>
        </p:nvSpPr>
        <p:spPr>
          <a:xfrm>
            <a:off x="822959" y="2087458"/>
            <a:ext cx="7940041" cy="3069166"/>
          </a:xfrm>
        </p:spPr>
        <p:txBody>
          <a:bodyPr/>
          <a:lstStyle/>
          <a:p>
            <a:pPr>
              <a:buFont typeface="Arial" panose="020B0604020202020204" pitchFamily="34" charset="0"/>
              <a:buChar char="•"/>
            </a:pPr>
            <a:r>
              <a:rPr lang="en-US" dirty="0"/>
              <a:t>   Patient identifier inconsistencies in </a:t>
            </a:r>
            <a:r>
              <a:rPr lang="en-US" i="1" dirty="0" err="1"/>
              <a:t>Patient.Name</a:t>
            </a:r>
            <a:endParaRPr lang="en-US" i="1" dirty="0"/>
          </a:p>
          <a:p>
            <a:pPr>
              <a:buFont typeface="Arial" panose="020B0604020202020204" pitchFamily="34" charset="0"/>
              <a:buChar char="•"/>
            </a:pPr>
            <a:r>
              <a:rPr lang="en-US" dirty="0"/>
              <a:t>   Multiple date formats in </a:t>
            </a:r>
            <a:r>
              <a:rPr lang="en-US" i="1" dirty="0" err="1"/>
              <a:t>Visit.Date</a:t>
            </a:r>
            <a:endParaRPr lang="en-US" i="1" dirty="0"/>
          </a:p>
          <a:p>
            <a:pPr>
              <a:buFont typeface="Arial" panose="020B0604020202020204" pitchFamily="34" charset="0"/>
              <a:buChar char="•"/>
            </a:pPr>
            <a:r>
              <a:rPr lang="en-US" dirty="0"/>
              <a:t>   Free-text diagnosis inconsistencies in </a:t>
            </a:r>
            <a:r>
              <a:rPr lang="en-US" i="1" dirty="0"/>
              <a:t>Condition</a:t>
            </a:r>
          </a:p>
          <a:p>
            <a:pPr>
              <a:buFont typeface="Arial" panose="020B0604020202020204" pitchFamily="34" charset="0"/>
              <a:buChar char="•"/>
            </a:pPr>
            <a:r>
              <a:rPr lang="en-US" dirty="0"/>
              <a:t>   Near-duplicate patient records requiring resolution</a:t>
            </a:r>
          </a:p>
          <a:p>
            <a:pPr>
              <a:buFont typeface="Arial" panose="020B0604020202020204" pitchFamily="34" charset="0"/>
              <a:buChar char="•"/>
            </a:pPr>
            <a:r>
              <a:rPr lang="en-US" dirty="0"/>
              <a:t>   Inconsistent categorical coding in </a:t>
            </a:r>
            <a:r>
              <a:rPr lang="en-US" i="1" dirty="0"/>
              <a:t>Gender</a:t>
            </a:r>
            <a:r>
              <a:rPr lang="en-US" dirty="0"/>
              <a:t> and </a:t>
            </a:r>
            <a:r>
              <a:rPr lang="en-US" i="1" dirty="0"/>
              <a:t>Medication</a:t>
            </a:r>
            <a:endParaRPr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2DFEC-01EE-8812-2864-18F0944A4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A167A-05F2-FBB8-6373-0C20A3CA7A8D}"/>
              </a:ext>
            </a:extLst>
          </p:cNvPr>
          <p:cNvSpPr>
            <a:spLocks noGrp="1"/>
          </p:cNvSpPr>
          <p:nvPr>
            <p:ph type="title"/>
          </p:nvPr>
        </p:nvSpPr>
        <p:spPr/>
        <p:txBody>
          <a:bodyPr/>
          <a:lstStyle/>
          <a:p>
            <a:r>
              <a:t>How You Cleaned It</a:t>
            </a:r>
          </a:p>
        </p:txBody>
      </p:sp>
      <p:graphicFrame>
        <p:nvGraphicFramePr>
          <p:cNvPr id="4" name="Content Placeholder 3">
            <a:extLst>
              <a:ext uri="{FF2B5EF4-FFF2-40B4-BE49-F238E27FC236}">
                <a16:creationId xmlns:a16="http://schemas.microsoft.com/office/drawing/2014/main" id="{D423EEDC-CC5B-07DB-F14F-6894969942F1}"/>
              </a:ext>
            </a:extLst>
          </p:cNvPr>
          <p:cNvGraphicFramePr>
            <a:graphicFrameLocks noGrp="1"/>
          </p:cNvGraphicFramePr>
          <p:nvPr>
            <p:ph idx="1"/>
            <p:extLst>
              <p:ext uri="{D42A27DB-BD31-4B8C-83A1-F6EECF244321}">
                <p14:modId xmlns:p14="http://schemas.microsoft.com/office/powerpoint/2010/main" val="4107009946"/>
              </p:ext>
            </p:extLst>
          </p:nvPr>
        </p:nvGraphicFramePr>
        <p:xfrm>
          <a:off x="452788" y="1846263"/>
          <a:ext cx="8238423" cy="3768474"/>
        </p:xfrm>
        <a:graphic>
          <a:graphicData uri="http://schemas.openxmlformats.org/drawingml/2006/table">
            <a:tbl>
              <a:tblPr firstRow="1" bandRow="1">
                <a:tableStyleId>{5C22544A-7EE6-4342-B048-85BDC9FD1C3A}</a:tableStyleId>
              </a:tblPr>
              <a:tblGrid>
                <a:gridCol w="3092213">
                  <a:extLst>
                    <a:ext uri="{9D8B030D-6E8A-4147-A177-3AD203B41FA5}">
                      <a16:colId xmlns:a16="http://schemas.microsoft.com/office/drawing/2014/main" val="3901641270"/>
                    </a:ext>
                  </a:extLst>
                </a:gridCol>
                <a:gridCol w="5146210">
                  <a:extLst>
                    <a:ext uri="{9D8B030D-6E8A-4147-A177-3AD203B41FA5}">
                      <a16:colId xmlns:a16="http://schemas.microsoft.com/office/drawing/2014/main" val="2799488444"/>
                    </a:ext>
                  </a:extLst>
                </a:gridCol>
              </a:tblGrid>
              <a:tr h="414540">
                <a:tc>
                  <a:txBody>
                    <a:bodyPr/>
                    <a:lstStyle/>
                    <a:p>
                      <a:pPr algn="ctr"/>
                      <a:r>
                        <a:rPr lang="en-US" dirty="0"/>
                        <a:t>Issue</a:t>
                      </a:r>
                      <a:endParaRPr lang="en-GY" dirty="0"/>
                    </a:p>
                  </a:txBody>
                  <a:tcPr/>
                </a:tc>
                <a:tc>
                  <a:txBody>
                    <a:bodyPr/>
                    <a:lstStyle/>
                    <a:p>
                      <a:pPr algn="ctr"/>
                      <a:r>
                        <a:rPr lang="en-US" dirty="0"/>
                        <a:t>Cleaning Action</a:t>
                      </a:r>
                      <a:endParaRPr lang="en-GY" dirty="0"/>
                    </a:p>
                  </a:txBody>
                  <a:tcPr/>
                </a:tc>
                <a:extLst>
                  <a:ext uri="{0D108BD9-81ED-4DB2-BD59-A6C34878D82A}">
                    <a16:rowId xmlns:a16="http://schemas.microsoft.com/office/drawing/2014/main" val="4096757118"/>
                  </a:ext>
                </a:extLst>
              </a:tr>
              <a:tr h="748183">
                <a:tc>
                  <a:txBody>
                    <a:bodyPr/>
                    <a:lstStyle/>
                    <a:p>
                      <a:pPr>
                        <a:lnSpc>
                          <a:spcPct val="107000"/>
                        </a:lnSpc>
                        <a:spcAft>
                          <a:spcPts val="800"/>
                        </a:spcAft>
                        <a:buNone/>
                      </a:pPr>
                      <a:r>
                        <a:rPr lang="en-US" sz="1800" kern="100" dirty="0">
                          <a:effectLst/>
                          <a:latin typeface="+mn-lt"/>
                          <a:ea typeface="Aptos" panose="020B0004020202020204" pitchFamily="34" charset="0"/>
                          <a:cs typeface="Times New Roman" panose="02020603050405020304" pitchFamily="18" charset="0"/>
                        </a:rPr>
                        <a:t>Patient identifier inconsistency</a:t>
                      </a:r>
                      <a:endParaRPr lang="en-GY" sz="1800" kern="100" dirty="0">
                        <a:effectLst/>
                        <a:latin typeface="+mn-lt"/>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800" kern="100" dirty="0">
                          <a:effectLst/>
                          <a:latin typeface="Calibri" panose="020F0502020204030204" pitchFamily="34" charset="0"/>
                          <a:ea typeface="Calibri" panose="020F0502020204030204" pitchFamily="34" charset="0"/>
                          <a:cs typeface="Calibri" panose="020F0502020204030204" pitchFamily="34" charset="0"/>
                        </a:rPr>
                        <a:t>Standardized patient.name using lower case conversion, trimming and punctuation removal.</a:t>
                      </a:r>
                      <a:endParaRPr lang="en-GY" sz="1800" kern="100" dirty="0">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826677912"/>
                  </a:ext>
                </a:extLst>
              </a:tr>
              <a:tr h="719694">
                <a:tc>
                  <a:txBody>
                    <a:bodyPr/>
                    <a:lstStyle/>
                    <a:p>
                      <a:pPr>
                        <a:lnSpc>
                          <a:spcPct val="107000"/>
                        </a:lnSpc>
                        <a:spcAft>
                          <a:spcPts val="800"/>
                        </a:spcAft>
                        <a:buNone/>
                      </a:pPr>
                      <a:r>
                        <a:rPr lang="en-US" sz="1800" kern="100" dirty="0">
                          <a:effectLst/>
                          <a:latin typeface="+mn-lt"/>
                          <a:ea typeface="Aptos" panose="020B0004020202020204" pitchFamily="34" charset="0"/>
                          <a:cs typeface="Times New Roman" panose="02020603050405020304" pitchFamily="18" charset="0"/>
                        </a:rPr>
                        <a:t>Multiple visit data formats</a:t>
                      </a:r>
                      <a:endParaRPr lang="en-GY" sz="1800" kern="100" dirty="0">
                        <a:effectLst/>
                        <a:latin typeface="+mn-lt"/>
                        <a:ea typeface="Aptos" panose="020B0004020202020204" pitchFamily="34" charset="0"/>
                        <a:cs typeface="Times New Roman" panose="02020603050405020304" pitchFamily="18" charset="0"/>
                      </a:endParaRPr>
                    </a:p>
                  </a:txBody>
                  <a:tcPr/>
                </a:tc>
                <a:tc>
                  <a:txBody>
                    <a:bodyPr/>
                    <a:lstStyle/>
                    <a:p>
                      <a:r>
                        <a:rPr lang="en-US" sz="1800" kern="1200" dirty="0">
                          <a:solidFill>
                            <a:schemeClr val="dk1"/>
                          </a:solidFill>
                          <a:effectLst/>
                          <a:latin typeface="+mn-lt"/>
                          <a:ea typeface="+mn-ea"/>
                          <a:cs typeface="+mn-cs"/>
                        </a:rPr>
                        <a:t>Parsed dates into a consistent date format using parsed_date_time()</a:t>
                      </a:r>
                      <a:endParaRPr lang="en-GY" sz="1800" kern="1200" dirty="0">
                        <a:solidFill>
                          <a:schemeClr val="dk1"/>
                        </a:solidFill>
                        <a:effectLst/>
                        <a:latin typeface="+mn-lt"/>
                        <a:ea typeface="+mn-ea"/>
                        <a:cs typeface="+mn-cs"/>
                      </a:endParaRPr>
                    </a:p>
                  </a:txBody>
                  <a:tcPr/>
                </a:tc>
                <a:extLst>
                  <a:ext uri="{0D108BD9-81ED-4DB2-BD59-A6C34878D82A}">
                    <a16:rowId xmlns:a16="http://schemas.microsoft.com/office/drawing/2014/main" val="1437724545"/>
                  </a:ext>
                </a:extLst>
              </a:tr>
              <a:tr h="748183">
                <a:tc>
                  <a:txBody>
                    <a:bodyPr/>
                    <a:lstStyle/>
                    <a:p>
                      <a:pPr>
                        <a:lnSpc>
                          <a:spcPct val="107000"/>
                        </a:lnSpc>
                        <a:spcAft>
                          <a:spcPts val="800"/>
                        </a:spcAft>
                        <a:buNone/>
                      </a:pPr>
                      <a:r>
                        <a:rPr lang="en-US" sz="1800" kern="100" dirty="0">
                          <a:effectLst/>
                          <a:latin typeface="+mn-lt"/>
                          <a:ea typeface="Aptos" panose="020B0004020202020204" pitchFamily="34" charset="0"/>
                          <a:cs typeface="Times New Roman" panose="02020603050405020304" pitchFamily="18" charset="0"/>
                        </a:rPr>
                        <a:t>Inconsistent diagnosis formatting</a:t>
                      </a:r>
                      <a:endParaRPr lang="en-GY" sz="1800" kern="100" dirty="0">
                        <a:effectLst/>
                        <a:latin typeface="+mn-lt"/>
                        <a:ea typeface="Aptos" panose="020B0004020202020204" pitchFamily="34" charset="0"/>
                        <a:cs typeface="Times New Roman" panose="02020603050405020304" pitchFamily="18" charset="0"/>
                      </a:endParaRPr>
                    </a:p>
                  </a:txBody>
                  <a:tcPr/>
                </a:tc>
                <a:tc>
                  <a:txBody>
                    <a:bodyPr/>
                    <a:lstStyle/>
                    <a:p>
                      <a:r>
                        <a:rPr lang="en-US" sz="1800" kern="1200" dirty="0">
                          <a:solidFill>
                            <a:schemeClr val="dk1"/>
                          </a:solidFill>
                          <a:effectLst/>
                          <a:latin typeface="+mn-lt"/>
                          <a:ea typeface="+mn-ea"/>
                          <a:cs typeface="+mn-cs"/>
                        </a:rPr>
                        <a:t>Standardized condition values into consistent categorical labels.</a:t>
                      </a:r>
                      <a:endParaRPr lang="en-GY" sz="1800" kern="1200" dirty="0">
                        <a:solidFill>
                          <a:schemeClr val="dk1"/>
                        </a:solidFill>
                        <a:effectLst/>
                        <a:latin typeface="+mn-lt"/>
                        <a:ea typeface="+mn-ea"/>
                        <a:cs typeface="+mn-cs"/>
                      </a:endParaRPr>
                    </a:p>
                  </a:txBody>
                  <a:tcPr/>
                </a:tc>
                <a:extLst>
                  <a:ext uri="{0D108BD9-81ED-4DB2-BD59-A6C34878D82A}">
                    <a16:rowId xmlns:a16="http://schemas.microsoft.com/office/drawing/2014/main" val="159756891"/>
                  </a:ext>
                </a:extLst>
              </a:tr>
              <a:tr h="719694">
                <a:tc>
                  <a:txBody>
                    <a:bodyPr/>
                    <a:lstStyle/>
                    <a:p>
                      <a:pPr>
                        <a:lnSpc>
                          <a:spcPct val="107000"/>
                        </a:lnSpc>
                        <a:spcAft>
                          <a:spcPts val="800"/>
                        </a:spcAft>
                        <a:buNone/>
                      </a:pPr>
                      <a:r>
                        <a:rPr lang="en-US" sz="1800" kern="100" dirty="0">
                          <a:effectLst/>
                          <a:latin typeface="+mn-lt"/>
                          <a:ea typeface="Aptos" panose="020B0004020202020204" pitchFamily="34" charset="0"/>
                          <a:cs typeface="Times New Roman" panose="02020603050405020304" pitchFamily="18" charset="0"/>
                        </a:rPr>
                        <a:t>Duplicate Patient records</a:t>
                      </a:r>
                    </a:p>
                  </a:txBody>
                  <a:tcPr/>
                </a:tc>
                <a:tc>
                  <a:txBody>
                    <a:bodyPr/>
                    <a:lstStyle/>
                    <a:p>
                      <a:r>
                        <a:rPr lang="en-US" sz="1800" kern="1200" dirty="0">
                          <a:solidFill>
                            <a:schemeClr val="dk1"/>
                          </a:solidFill>
                          <a:effectLst/>
                          <a:latin typeface="+mn-lt"/>
                          <a:ea typeface="+mn-ea"/>
                          <a:cs typeface="+mn-cs"/>
                        </a:rPr>
                        <a:t>Grouped by patient name and visit date and retained one consistent record.</a:t>
                      </a:r>
                      <a:endParaRPr lang="en-GY" sz="1800" kern="1200" dirty="0">
                        <a:solidFill>
                          <a:schemeClr val="dk1"/>
                        </a:solidFill>
                        <a:effectLst/>
                        <a:latin typeface="+mn-lt"/>
                        <a:ea typeface="+mn-ea"/>
                        <a:cs typeface="+mn-cs"/>
                      </a:endParaRPr>
                    </a:p>
                  </a:txBody>
                  <a:tcPr/>
                </a:tc>
                <a:extLst>
                  <a:ext uri="{0D108BD9-81ED-4DB2-BD59-A6C34878D82A}">
                    <a16:rowId xmlns:a16="http://schemas.microsoft.com/office/drawing/2014/main" val="2355297429"/>
                  </a:ext>
                </a:extLst>
              </a:tr>
              <a:tr h="418180">
                <a:tc>
                  <a:txBody>
                    <a:bodyPr/>
                    <a:lstStyle/>
                    <a:p>
                      <a:pPr>
                        <a:lnSpc>
                          <a:spcPct val="107000"/>
                        </a:lnSpc>
                        <a:spcAft>
                          <a:spcPts val="800"/>
                        </a:spcAft>
                        <a:buNone/>
                      </a:pPr>
                      <a:r>
                        <a:rPr lang="en-US" sz="1800" kern="100" dirty="0">
                          <a:effectLst/>
                          <a:latin typeface="+mn-lt"/>
                          <a:ea typeface="Aptos" panose="020B0004020202020204" pitchFamily="34" charset="0"/>
                          <a:cs typeface="Times New Roman" panose="02020603050405020304" pitchFamily="18" charset="0"/>
                        </a:rPr>
                        <a:t>Inconsistent categorical casing </a:t>
                      </a:r>
                      <a:endParaRPr lang="en-GY" sz="1800" kern="100" dirty="0">
                        <a:effectLst/>
                        <a:latin typeface="+mn-lt"/>
                        <a:ea typeface="Aptos" panose="020B0004020202020204" pitchFamily="34" charset="0"/>
                        <a:cs typeface="Times New Roman" panose="02020603050405020304" pitchFamily="18" charset="0"/>
                      </a:endParaRPr>
                    </a:p>
                  </a:txBody>
                  <a:tcPr/>
                </a:tc>
                <a:tc>
                  <a:txBody>
                    <a:bodyPr/>
                    <a:lstStyle/>
                    <a:p>
                      <a:r>
                        <a:rPr lang="en-US" sz="1800" kern="1200" dirty="0">
                          <a:solidFill>
                            <a:schemeClr val="dk1"/>
                          </a:solidFill>
                          <a:effectLst/>
                          <a:latin typeface="+mn-lt"/>
                          <a:ea typeface="+mn-ea"/>
                          <a:cs typeface="+mn-cs"/>
                        </a:rPr>
                        <a:t>Standardized gender and medication formatting.</a:t>
                      </a:r>
                      <a:endParaRPr lang="en-GY" sz="1800" kern="1200" dirty="0">
                        <a:solidFill>
                          <a:schemeClr val="dk1"/>
                        </a:solidFill>
                        <a:effectLst/>
                        <a:latin typeface="+mn-lt"/>
                        <a:ea typeface="+mn-ea"/>
                        <a:cs typeface="+mn-cs"/>
                      </a:endParaRPr>
                    </a:p>
                  </a:txBody>
                  <a:tcPr/>
                </a:tc>
                <a:extLst>
                  <a:ext uri="{0D108BD9-81ED-4DB2-BD59-A6C34878D82A}">
                    <a16:rowId xmlns:a16="http://schemas.microsoft.com/office/drawing/2014/main" val="2573934096"/>
                  </a:ext>
                </a:extLst>
              </a:tr>
            </a:tbl>
          </a:graphicData>
        </a:graphic>
      </p:graphicFrame>
    </p:spTree>
    <p:extLst>
      <p:ext uri="{BB962C8B-B14F-4D97-AF65-F5344CB8AC3E}">
        <p14:creationId xmlns:p14="http://schemas.microsoft.com/office/powerpoint/2010/main" val="1872911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Imputation</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   </a:t>
            </a:r>
            <a:r>
              <a:rPr dirty="0"/>
              <a:t>Variable: Age</a:t>
            </a:r>
          </a:p>
          <a:p>
            <a:pPr>
              <a:buFont typeface="Arial" panose="020B0604020202020204" pitchFamily="34" charset="0"/>
              <a:buChar char="•"/>
            </a:pPr>
            <a:r>
              <a:rPr lang="en-US" dirty="0"/>
              <a:t>   </a:t>
            </a:r>
            <a:r>
              <a:rPr dirty="0"/>
              <a:t>Method: Median imputation</a:t>
            </a:r>
          </a:p>
          <a:p>
            <a:pPr>
              <a:buFont typeface="Arial" panose="020B0604020202020204" pitchFamily="34" charset="0"/>
              <a:buChar char="•"/>
            </a:pPr>
            <a:r>
              <a:rPr lang="en-US" dirty="0"/>
              <a:t>   </a:t>
            </a:r>
            <a:r>
              <a:rPr dirty="0"/>
              <a:t>Reason: Robust to outliers and maintains realistic values</a:t>
            </a:r>
            <a:endParaRPr lang="en-US" dirty="0"/>
          </a:p>
          <a:p>
            <a:pPr>
              <a:buFont typeface="Arial" panose="020B0604020202020204" pitchFamily="34" charset="0"/>
              <a:buChar char="•"/>
            </a:pPr>
            <a:r>
              <a:rPr lang="en-US" dirty="0"/>
              <a:t>   Imputation tracking variables created</a:t>
            </a:r>
          </a:p>
          <a:p>
            <a:pPr>
              <a:buFont typeface="Arial" panose="020B0604020202020204" pitchFamily="34" charset="0"/>
              <a:buChar char="•"/>
            </a:pPr>
            <a:r>
              <a:rPr lang="en-US" dirty="0"/>
              <a:t>   Imputation summary exported automatically</a:t>
            </a:r>
          </a:p>
          <a:p>
            <a:pPr>
              <a:buFont typeface="Arial" panose="020B0604020202020204" pitchFamily="34" charset="0"/>
              <a:buChar char="•"/>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Chart That Tells a Story</a:t>
            </a:r>
          </a:p>
        </p:txBody>
      </p:sp>
      <p:sp>
        <p:nvSpPr>
          <p:cNvPr id="3" name="Content Placeholder 2"/>
          <p:cNvSpPr>
            <a:spLocks noGrp="1"/>
          </p:cNvSpPr>
          <p:nvPr>
            <p:ph idx="1"/>
          </p:nvPr>
        </p:nvSpPr>
        <p:spPr>
          <a:xfrm>
            <a:off x="822959" y="1845734"/>
            <a:ext cx="7543801" cy="4364566"/>
          </a:xfrm>
        </p:spPr>
        <p:txBody>
          <a:bodyPr>
            <a:normAutofit/>
          </a:bodyPr>
          <a:lstStyle/>
          <a:p>
            <a:pPr marL="0" indent="0">
              <a:buNone/>
            </a:pPr>
            <a:endParaRPr dirty="0"/>
          </a:p>
          <a:p>
            <a:endParaRPr dirty="0"/>
          </a:p>
          <a:p>
            <a:endParaRPr lang="en-US" dirty="0"/>
          </a:p>
          <a:p>
            <a:endParaRPr lang="en-US" dirty="0"/>
          </a:p>
          <a:p>
            <a:endParaRPr lang="en-US" dirty="0"/>
          </a:p>
          <a:p>
            <a:endParaRPr lang="en-US" dirty="0"/>
          </a:p>
          <a:p>
            <a:endParaRPr lang="en-US" dirty="0"/>
          </a:p>
        </p:txBody>
      </p:sp>
      <p:pic>
        <p:nvPicPr>
          <p:cNvPr id="5" name="Picture">
            <a:extLst>
              <a:ext uri="{FF2B5EF4-FFF2-40B4-BE49-F238E27FC236}">
                <a16:creationId xmlns:a16="http://schemas.microsoft.com/office/drawing/2014/main" id="{47AF724F-9436-1793-55E4-E77B854BBB97}"/>
              </a:ext>
            </a:extLst>
          </p:cNvPr>
          <p:cNvPicPr/>
          <p:nvPr/>
        </p:nvPicPr>
        <p:blipFill>
          <a:blip r:embed="rId3"/>
          <a:stretch>
            <a:fillRect/>
          </a:stretch>
        </p:blipFill>
        <p:spPr bwMode="auto">
          <a:xfrm>
            <a:off x="3028950" y="1845734"/>
            <a:ext cx="3276600" cy="2173816"/>
          </a:xfrm>
          <a:prstGeom prst="rect">
            <a:avLst/>
          </a:prstGeom>
          <a:noFill/>
          <a:ln w="9525">
            <a:noFill/>
            <a:headEnd/>
            <a:tailEnd/>
          </a:ln>
        </p:spPr>
      </p:pic>
      <p:pic>
        <p:nvPicPr>
          <p:cNvPr id="4" name="Picture">
            <a:extLst>
              <a:ext uri="{FF2B5EF4-FFF2-40B4-BE49-F238E27FC236}">
                <a16:creationId xmlns:a16="http://schemas.microsoft.com/office/drawing/2014/main" id="{45F1B7F8-8DB2-55DC-DB23-807D8855C60B}"/>
              </a:ext>
            </a:extLst>
          </p:cNvPr>
          <p:cNvPicPr/>
          <p:nvPr/>
        </p:nvPicPr>
        <p:blipFill>
          <a:blip r:embed="rId4"/>
          <a:stretch>
            <a:fillRect/>
          </a:stretch>
        </p:blipFill>
        <p:spPr bwMode="auto">
          <a:xfrm>
            <a:off x="822960" y="1845734"/>
            <a:ext cx="6816089" cy="4516966"/>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E3C17-AC62-7A9C-AE11-300F47711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234AA-3943-6881-1732-9E2F9A69CA03}"/>
              </a:ext>
            </a:extLst>
          </p:cNvPr>
          <p:cNvSpPr>
            <a:spLocks noGrp="1"/>
          </p:cNvSpPr>
          <p:nvPr>
            <p:ph type="title"/>
          </p:nvPr>
        </p:nvSpPr>
        <p:spPr/>
        <p:txBody>
          <a:bodyPr/>
          <a:lstStyle/>
          <a:p>
            <a:r>
              <a:t>Outputs</a:t>
            </a:r>
          </a:p>
        </p:txBody>
      </p:sp>
      <p:sp>
        <p:nvSpPr>
          <p:cNvPr id="3" name="Content Placeholder 2">
            <a:extLst>
              <a:ext uri="{FF2B5EF4-FFF2-40B4-BE49-F238E27FC236}">
                <a16:creationId xmlns:a16="http://schemas.microsoft.com/office/drawing/2014/main" id="{A1000D8F-115D-FD16-A9C6-1C28ECF8C536}"/>
              </a:ext>
            </a:extLst>
          </p:cNvPr>
          <p:cNvSpPr>
            <a:spLocks noGrp="1"/>
          </p:cNvSpPr>
          <p:nvPr>
            <p:ph idx="1"/>
          </p:nvPr>
        </p:nvSpPr>
        <p:spPr/>
        <p:txBody>
          <a:bodyPr/>
          <a:lstStyle/>
          <a:p>
            <a:pPr marL="0" indent="0">
              <a:buNone/>
            </a:pPr>
            <a:endParaRPr lang="en-US" dirty="0"/>
          </a:p>
          <a:p>
            <a:pPr>
              <a:buFont typeface="Arial" panose="020B0604020202020204" pitchFamily="34" charset="0"/>
              <a:buChar char="•"/>
            </a:pPr>
            <a:r>
              <a:rPr lang="en-US" dirty="0"/>
              <a:t>   .xlsx export with data dictionary</a:t>
            </a:r>
          </a:p>
          <a:p>
            <a:pPr>
              <a:buFont typeface="Arial" panose="020B0604020202020204" pitchFamily="34" charset="0"/>
              <a:buChar char="•"/>
            </a:pPr>
            <a:r>
              <a:rPr lang="en-US" dirty="0"/>
              <a:t>   .sav export (SPSS)</a:t>
            </a:r>
          </a:p>
          <a:p>
            <a:pPr>
              <a:buFont typeface="Arial" panose="020B0604020202020204" pitchFamily="34" charset="0"/>
              <a:buChar char="•"/>
            </a:pPr>
            <a:r>
              <a:rPr lang="en-US" dirty="0"/>
              <a:t>   .</a:t>
            </a:r>
            <a:r>
              <a:rPr lang="en-US" dirty="0" err="1"/>
              <a:t>dta</a:t>
            </a:r>
            <a:r>
              <a:rPr lang="en-US" dirty="0"/>
              <a:t> export (Stata)</a:t>
            </a:r>
          </a:p>
          <a:p>
            <a:pPr>
              <a:buFont typeface="Arial" panose="020B0604020202020204" pitchFamily="34" charset="0"/>
              <a:buChar char="•"/>
            </a:pPr>
            <a:r>
              <a:rPr lang="en-US" dirty="0"/>
              <a:t>   .</a:t>
            </a:r>
            <a:r>
              <a:rPr lang="en-US" dirty="0" err="1"/>
              <a:t>rds</a:t>
            </a:r>
            <a:r>
              <a:rPr lang="en-US" dirty="0"/>
              <a:t> export</a:t>
            </a:r>
          </a:p>
          <a:p>
            <a:pPr>
              <a:buFont typeface="Arial" panose="020B0604020202020204" pitchFamily="34" charset="0"/>
              <a:buChar char="•"/>
            </a:pPr>
            <a:r>
              <a:rPr lang="en-US" dirty="0"/>
              <a:t>   Automated Word report </a:t>
            </a:r>
          </a:p>
          <a:p>
            <a:pPr marL="0" indent="0">
              <a:buNone/>
            </a:pPr>
            <a:endParaRPr lang="en-US" dirty="0"/>
          </a:p>
          <a:p>
            <a:endParaRPr dirty="0"/>
          </a:p>
          <a:p>
            <a:pPr marL="0" indent="0">
              <a:buNone/>
            </a:pPr>
            <a:endParaRPr dirty="0"/>
          </a:p>
        </p:txBody>
      </p:sp>
      <p:graphicFrame>
        <p:nvGraphicFramePr>
          <p:cNvPr id="4" name="Object 3">
            <a:extLst>
              <a:ext uri="{FF2B5EF4-FFF2-40B4-BE49-F238E27FC236}">
                <a16:creationId xmlns:a16="http://schemas.microsoft.com/office/drawing/2014/main" id="{8BF5BEA3-44D2-B57D-1D09-192708499463}"/>
              </a:ext>
            </a:extLst>
          </p:cNvPr>
          <p:cNvGraphicFramePr>
            <a:graphicFrameLocks noChangeAspect="1"/>
          </p:cNvGraphicFramePr>
          <p:nvPr>
            <p:extLst>
              <p:ext uri="{D42A27DB-BD31-4B8C-83A1-F6EECF244321}">
                <p14:modId xmlns:p14="http://schemas.microsoft.com/office/powerpoint/2010/main" val="1543333236"/>
              </p:ext>
            </p:extLst>
          </p:nvPr>
        </p:nvGraphicFramePr>
        <p:xfrm>
          <a:off x="2859205" y="3296726"/>
          <a:ext cx="679608" cy="573419"/>
        </p:xfrm>
        <a:graphic>
          <a:graphicData uri="http://schemas.openxmlformats.org/presentationml/2006/ole">
            <mc:AlternateContent xmlns:mc="http://schemas.openxmlformats.org/markup-compatibility/2006">
              <mc:Choice xmlns:v="urn:schemas-microsoft-com:vml" Requires="v">
                <p:oleObj name="Packager Shell Object" showAsIcon="1" r:id="rId3" imgW="914570" imgH="771690" progId="Package">
                  <p:embed/>
                </p:oleObj>
              </mc:Choice>
              <mc:Fallback>
                <p:oleObj name="Packager Shell Object" showAsIcon="1" r:id="rId3" imgW="914570" imgH="771690" progId="Package">
                  <p:embed/>
                  <p:pic>
                    <p:nvPicPr>
                      <p:cNvPr id="0" name=""/>
                      <p:cNvPicPr/>
                      <p:nvPr/>
                    </p:nvPicPr>
                    <p:blipFill>
                      <a:blip r:embed="rId4"/>
                      <a:stretch>
                        <a:fillRect/>
                      </a:stretch>
                    </p:blipFill>
                    <p:spPr>
                      <a:xfrm>
                        <a:off x="2859205" y="3296726"/>
                        <a:ext cx="679608" cy="573419"/>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887736C3-579D-ED98-DF2A-FEF5F013E614}"/>
              </a:ext>
            </a:extLst>
          </p:cNvPr>
          <p:cNvGraphicFramePr>
            <a:graphicFrameLocks noChangeAspect="1"/>
          </p:cNvGraphicFramePr>
          <p:nvPr>
            <p:extLst>
              <p:ext uri="{D42A27DB-BD31-4B8C-83A1-F6EECF244321}">
                <p14:modId xmlns:p14="http://schemas.microsoft.com/office/powerpoint/2010/main" val="717107319"/>
              </p:ext>
            </p:extLst>
          </p:nvPr>
        </p:nvGraphicFramePr>
        <p:xfrm>
          <a:off x="2097711" y="3580024"/>
          <a:ext cx="679608" cy="573419"/>
        </p:xfrm>
        <a:graphic>
          <a:graphicData uri="http://schemas.openxmlformats.org/presentationml/2006/ole">
            <mc:AlternateContent xmlns:mc="http://schemas.openxmlformats.org/markup-compatibility/2006">
              <mc:Choice xmlns:v="urn:schemas-microsoft-com:vml" Requires="v">
                <p:oleObj name="Packager Shell Object" showAsIcon="1" r:id="rId5" imgW="914570" imgH="771690" progId="Package">
                  <p:embed/>
                </p:oleObj>
              </mc:Choice>
              <mc:Fallback>
                <p:oleObj name="Packager Shell Object" showAsIcon="1" r:id="rId5" imgW="914570" imgH="771690" progId="Package">
                  <p:embed/>
                  <p:pic>
                    <p:nvPicPr>
                      <p:cNvPr id="0" name=""/>
                      <p:cNvPicPr/>
                      <p:nvPr/>
                    </p:nvPicPr>
                    <p:blipFill>
                      <a:blip r:embed="rId6"/>
                      <a:stretch>
                        <a:fillRect/>
                      </a:stretch>
                    </p:blipFill>
                    <p:spPr>
                      <a:xfrm>
                        <a:off x="2097711" y="3580024"/>
                        <a:ext cx="679608" cy="573419"/>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4FC83D4-38C8-6790-A048-0F8F1F2FDF1B}"/>
              </a:ext>
            </a:extLst>
          </p:cNvPr>
          <p:cNvGraphicFramePr>
            <a:graphicFrameLocks noChangeAspect="1"/>
          </p:cNvGraphicFramePr>
          <p:nvPr>
            <p:extLst>
              <p:ext uri="{D42A27DB-BD31-4B8C-83A1-F6EECF244321}">
                <p14:modId xmlns:p14="http://schemas.microsoft.com/office/powerpoint/2010/main" val="1712028627"/>
              </p:ext>
            </p:extLst>
          </p:nvPr>
        </p:nvGraphicFramePr>
        <p:xfrm>
          <a:off x="3272681" y="2793442"/>
          <a:ext cx="532263" cy="449097"/>
        </p:xfrm>
        <a:graphic>
          <a:graphicData uri="http://schemas.openxmlformats.org/presentationml/2006/ole">
            <mc:AlternateContent xmlns:mc="http://schemas.openxmlformats.org/markup-compatibility/2006">
              <mc:Choice xmlns:v="urn:schemas-microsoft-com:vml" Requires="v">
                <p:oleObj name="Packager Shell Object" showAsIcon="1" r:id="rId7" imgW="914570" imgH="771690" progId="Package">
                  <p:embed/>
                </p:oleObj>
              </mc:Choice>
              <mc:Fallback>
                <p:oleObj name="Packager Shell Object" showAsIcon="1" r:id="rId7" imgW="914570" imgH="771690" progId="Package">
                  <p:embed/>
                  <p:pic>
                    <p:nvPicPr>
                      <p:cNvPr id="0" name=""/>
                      <p:cNvPicPr/>
                      <p:nvPr/>
                    </p:nvPicPr>
                    <p:blipFill>
                      <a:blip r:embed="rId8"/>
                      <a:stretch>
                        <a:fillRect/>
                      </a:stretch>
                    </p:blipFill>
                    <p:spPr>
                      <a:xfrm>
                        <a:off x="3272681" y="2793442"/>
                        <a:ext cx="532263" cy="449097"/>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0E29F489-12DA-F13F-2DF0-3187E0015275}"/>
              </a:ext>
            </a:extLst>
          </p:cNvPr>
          <p:cNvGraphicFramePr>
            <a:graphicFrameLocks noChangeAspect="1"/>
          </p:cNvGraphicFramePr>
          <p:nvPr>
            <p:extLst>
              <p:ext uri="{D42A27DB-BD31-4B8C-83A1-F6EECF244321}">
                <p14:modId xmlns:p14="http://schemas.microsoft.com/office/powerpoint/2010/main" val="127216904"/>
              </p:ext>
            </p:extLst>
          </p:nvPr>
        </p:nvGraphicFramePr>
        <p:xfrm>
          <a:off x="4572000" y="2195287"/>
          <a:ext cx="708926" cy="598156"/>
        </p:xfrm>
        <a:graphic>
          <a:graphicData uri="http://schemas.openxmlformats.org/presentationml/2006/ole">
            <mc:AlternateContent xmlns:mc="http://schemas.openxmlformats.org/markup-compatibility/2006">
              <mc:Choice xmlns:v="urn:schemas-microsoft-com:vml" Requires="v">
                <p:oleObj name="Worksheet" showAsIcon="1" r:id="rId9" imgW="914570" imgH="771690" progId="Excel.Sheet.12">
                  <p:embed/>
                </p:oleObj>
              </mc:Choice>
              <mc:Fallback>
                <p:oleObj name="Worksheet" showAsIcon="1" r:id="rId9" imgW="914570" imgH="771690" progId="Excel.Sheet.12">
                  <p:embed/>
                  <p:pic>
                    <p:nvPicPr>
                      <p:cNvPr id="0" name=""/>
                      <p:cNvPicPr/>
                      <p:nvPr/>
                    </p:nvPicPr>
                    <p:blipFill>
                      <a:blip r:embed="rId10"/>
                      <a:stretch>
                        <a:fillRect/>
                      </a:stretch>
                    </p:blipFill>
                    <p:spPr>
                      <a:xfrm>
                        <a:off x="4572000" y="2195287"/>
                        <a:ext cx="708926" cy="598156"/>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72BE34EE-93AD-616F-4505-D71616E12D1A}"/>
              </a:ext>
            </a:extLst>
          </p:cNvPr>
          <p:cNvGraphicFramePr>
            <a:graphicFrameLocks noChangeAspect="1"/>
          </p:cNvGraphicFramePr>
          <p:nvPr>
            <p:extLst>
              <p:ext uri="{D42A27DB-BD31-4B8C-83A1-F6EECF244321}">
                <p14:modId xmlns:p14="http://schemas.microsoft.com/office/powerpoint/2010/main" val="4063968632"/>
              </p:ext>
            </p:extLst>
          </p:nvPr>
        </p:nvGraphicFramePr>
        <p:xfrm>
          <a:off x="3785939" y="4106718"/>
          <a:ext cx="532264" cy="449098"/>
        </p:xfrm>
        <a:graphic>
          <a:graphicData uri="http://schemas.openxmlformats.org/presentationml/2006/ole">
            <mc:AlternateContent xmlns:mc="http://schemas.openxmlformats.org/markup-compatibility/2006">
              <mc:Choice xmlns:v="urn:schemas-microsoft-com:vml" Requires="v">
                <p:oleObj name="Document" showAsIcon="1" r:id="rId11" imgW="914570" imgH="771690" progId="Word.Document.12">
                  <p:embed/>
                </p:oleObj>
              </mc:Choice>
              <mc:Fallback>
                <p:oleObj name="Document" showAsIcon="1" r:id="rId11" imgW="914570" imgH="771690" progId="Word.Document.12">
                  <p:embed/>
                  <p:pic>
                    <p:nvPicPr>
                      <p:cNvPr id="0" name=""/>
                      <p:cNvPicPr/>
                      <p:nvPr/>
                    </p:nvPicPr>
                    <p:blipFill>
                      <a:blip r:embed="rId12"/>
                      <a:stretch>
                        <a:fillRect/>
                      </a:stretch>
                    </p:blipFill>
                    <p:spPr>
                      <a:xfrm>
                        <a:off x="3785939" y="4106718"/>
                        <a:ext cx="532264" cy="449098"/>
                      </a:xfrm>
                      <a:prstGeom prst="rect">
                        <a:avLst/>
                      </a:prstGeom>
                    </p:spPr>
                  </p:pic>
                </p:oleObj>
              </mc:Fallback>
            </mc:AlternateContent>
          </a:graphicData>
        </a:graphic>
      </p:graphicFrame>
    </p:spTree>
    <p:extLst>
      <p:ext uri="{BB962C8B-B14F-4D97-AF65-F5344CB8AC3E}">
        <p14:creationId xmlns:p14="http://schemas.microsoft.com/office/powerpoint/2010/main" val="2241275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Went Well</a:t>
            </a:r>
          </a:p>
        </p:txBody>
      </p:sp>
      <p:sp>
        <p:nvSpPr>
          <p:cNvPr id="3" name="Content Placeholder 2"/>
          <p:cNvSpPr>
            <a:spLocks noGrp="1"/>
          </p:cNvSpPr>
          <p:nvPr>
            <p:ph idx="1"/>
          </p:nvPr>
        </p:nvSpPr>
        <p:spPr/>
        <p:txBody>
          <a:bodyPr/>
          <a:lstStyle/>
          <a:p>
            <a:pPr>
              <a:buFont typeface="Arial" panose="020B0604020202020204" pitchFamily="34" charset="0"/>
              <a:buChar char="•"/>
            </a:pPr>
            <a:r>
              <a:rPr dirty="0"/>
              <a:t> </a:t>
            </a:r>
            <a:r>
              <a:rPr lang="en-US" dirty="0"/>
              <a:t>  </a:t>
            </a:r>
            <a:r>
              <a:rPr dirty="0"/>
              <a:t>Successfully built a modular</a:t>
            </a:r>
            <a:r>
              <a:rPr lang="en-US" dirty="0"/>
              <a:t> and reproducible</a:t>
            </a:r>
            <a:r>
              <a:rPr dirty="0"/>
              <a:t> pipeline</a:t>
            </a:r>
          </a:p>
          <a:p>
            <a:pPr>
              <a:buFont typeface="Arial" panose="020B0604020202020204" pitchFamily="34" charset="0"/>
              <a:buChar char="•"/>
            </a:pPr>
            <a:r>
              <a:rPr dirty="0"/>
              <a:t> </a:t>
            </a:r>
            <a:r>
              <a:rPr lang="en-US" dirty="0"/>
              <a:t>  </a:t>
            </a:r>
            <a:r>
              <a:rPr dirty="0"/>
              <a:t>Resolved duplicate identity issues</a:t>
            </a:r>
          </a:p>
          <a:p>
            <a:pPr>
              <a:buFont typeface="Arial" panose="020B0604020202020204" pitchFamily="34" charset="0"/>
              <a:buChar char="•"/>
            </a:pPr>
            <a:r>
              <a:rPr dirty="0"/>
              <a:t> </a:t>
            </a:r>
            <a:r>
              <a:rPr lang="en-US" dirty="0"/>
              <a:t>  </a:t>
            </a:r>
            <a:r>
              <a:rPr dirty="0"/>
              <a:t>Automated reporting with R Markdown</a:t>
            </a:r>
          </a:p>
          <a:p>
            <a:pPr>
              <a:buFont typeface="Arial" panose="020B0604020202020204" pitchFamily="34" charset="0"/>
              <a:buChar char="•"/>
            </a:pPr>
            <a:r>
              <a:rPr lang="en-US" dirty="0"/>
              <a:t>   GitHub version control maintained throughout project</a:t>
            </a:r>
          </a:p>
          <a:p>
            <a:pPr>
              <a:buFont typeface="Arial" panose="020B0604020202020204" pitchFamily="34" charset="0"/>
              <a:buChar char="•"/>
            </a:pPr>
            <a:r>
              <a:rPr lang="en-US" dirty="0"/>
              <a:t>   Improved documentation and auditability after interim feedback</a:t>
            </a:r>
          </a:p>
          <a:p>
            <a:pPr>
              <a:buFont typeface="Arial" panose="020B0604020202020204" pitchFamily="34" charset="0"/>
              <a:buChar char="•"/>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5AB15-2455-B159-34AD-914632866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C1EE8-8E40-AE58-EB06-D9268DACD8A8}"/>
              </a:ext>
            </a:extLst>
          </p:cNvPr>
          <p:cNvSpPr>
            <a:spLocks noGrp="1"/>
          </p:cNvSpPr>
          <p:nvPr>
            <p:ph type="title"/>
          </p:nvPr>
        </p:nvSpPr>
        <p:spPr/>
        <p:txBody>
          <a:bodyPr/>
          <a:lstStyle/>
          <a:p>
            <a:r>
              <a:t>What Was Hard</a:t>
            </a:r>
          </a:p>
        </p:txBody>
      </p:sp>
      <p:sp>
        <p:nvSpPr>
          <p:cNvPr id="3" name="Content Placeholder 2">
            <a:extLst>
              <a:ext uri="{FF2B5EF4-FFF2-40B4-BE49-F238E27FC236}">
                <a16:creationId xmlns:a16="http://schemas.microsoft.com/office/drawing/2014/main" id="{24468ABC-93D5-577A-B62B-2DF0DFDE7476}"/>
              </a:ext>
            </a:extLst>
          </p:cNvPr>
          <p:cNvSpPr>
            <a:spLocks noGrp="1"/>
          </p:cNvSpPr>
          <p:nvPr>
            <p:ph idx="1"/>
          </p:nvPr>
        </p:nvSpPr>
        <p:spPr>
          <a:xfrm>
            <a:off x="800099" y="1989219"/>
            <a:ext cx="7543801" cy="3510905"/>
          </a:xfrm>
        </p:spPr>
        <p:txBody>
          <a:bodyPr>
            <a:normAutofit fontScale="55000" lnSpcReduction="20000"/>
          </a:bodyPr>
          <a:lstStyle/>
          <a:p>
            <a:pPr marL="182563" lvl="1" indent="-182563">
              <a:buFont typeface="Arial" panose="020B0604020202020204" pitchFamily="34" charset="0"/>
              <a:buChar char="•"/>
            </a:pPr>
            <a:r>
              <a:rPr lang="en-GY" sz="2000" dirty="0"/>
              <a:t>Resolving duplicate patient identities with conflicting information</a:t>
            </a:r>
            <a:r>
              <a:rPr lang="en-US" sz="2000" dirty="0"/>
              <a:t> while preserving traceability</a:t>
            </a:r>
            <a:r>
              <a:rPr lang="en-US" dirty="0"/>
              <a:t>.</a:t>
            </a:r>
            <a:endParaRPr lang="en-GY" dirty="0"/>
          </a:p>
          <a:p>
            <a:pPr>
              <a:buFont typeface="Arial" panose="020B0604020202020204" pitchFamily="34" charset="0"/>
              <a:buChar char="•"/>
            </a:pPr>
            <a:r>
              <a:rPr lang="en-US" dirty="0"/>
              <a:t>   </a:t>
            </a:r>
            <a:r>
              <a:rPr lang="en-GY" dirty="0"/>
              <a:t>Deciding how to handle missing values</a:t>
            </a:r>
          </a:p>
          <a:p>
            <a:pPr>
              <a:buFont typeface="Arial" panose="020B0604020202020204" pitchFamily="34" charset="0"/>
              <a:buChar char="•"/>
            </a:pPr>
            <a:r>
              <a:rPr lang="en-US" dirty="0"/>
              <a:t>   </a:t>
            </a:r>
            <a:r>
              <a:rPr lang="en-GY" dirty="0"/>
              <a:t>Separating cleaning from imputation logically</a:t>
            </a:r>
          </a:p>
          <a:p>
            <a:pPr>
              <a:buFont typeface="Arial" panose="020B0604020202020204" pitchFamily="34" charset="0"/>
              <a:buChar char="•"/>
            </a:pPr>
            <a:r>
              <a:rPr lang="en-US" dirty="0"/>
              <a:t>   </a:t>
            </a:r>
            <a:r>
              <a:rPr lang="en-GY" dirty="0"/>
              <a:t>Managing pipeline dependencies and file paths</a:t>
            </a:r>
            <a:endParaRPr lang="en-US" dirty="0"/>
          </a:p>
          <a:p>
            <a:pPr>
              <a:buFont typeface="Arial" panose="020B0604020202020204" pitchFamily="34" charset="0"/>
              <a:buChar char="•"/>
            </a:pPr>
            <a:r>
              <a:rPr lang="en-US" dirty="0"/>
              <a:t>   Debugging dynamic data dictionary generation</a:t>
            </a:r>
          </a:p>
          <a:p>
            <a:pPr>
              <a:buFont typeface="Arial" panose="020B0604020202020204" pitchFamily="34" charset="0"/>
              <a:buChar char="•"/>
            </a:pPr>
            <a:r>
              <a:rPr lang="en-US" dirty="0"/>
              <a:t>   Fixing R Markdown rendering errors</a:t>
            </a:r>
          </a:p>
          <a:p>
            <a:pPr>
              <a:buFont typeface="Arial" panose="020B0604020202020204" pitchFamily="34" charset="0"/>
              <a:buChar char="•"/>
            </a:pPr>
            <a:r>
              <a:rPr lang="en-US" dirty="0"/>
              <a:t>   Balancing technical work with documentation requirements</a:t>
            </a:r>
          </a:p>
          <a:p>
            <a:pPr>
              <a:buFont typeface="Arial" panose="020B0604020202020204" pitchFamily="34" charset="0"/>
              <a:buChar char="•"/>
            </a:pPr>
            <a:endParaRPr lang="en-US" dirty="0"/>
          </a:p>
          <a:p>
            <a:pPr>
              <a:buFont typeface="Arial" panose="020B0604020202020204" pitchFamily="34" charset="0"/>
              <a:buChar char="•"/>
            </a:pPr>
            <a:endParaRPr lang="en-US" dirty="0"/>
          </a:p>
          <a:p>
            <a:r>
              <a:rPr lang="en-GY" b="1" dirty="0"/>
              <a:t>What you would do differently</a:t>
            </a:r>
            <a:r>
              <a:rPr lang="en-GY" dirty="0"/>
              <a:t>:</a:t>
            </a:r>
          </a:p>
          <a:p>
            <a:pPr>
              <a:buFont typeface="Arial" panose="020B0604020202020204" pitchFamily="34" charset="0"/>
              <a:buChar char="•"/>
            </a:pPr>
            <a:r>
              <a:rPr lang="en-US" dirty="0"/>
              <a:t>   </a:t>
            </a:r>
            <a:r>
              <a:rPr lang="en-GY" dirty="0"/>
              <a:t>Explore probabilistic/fuzzy identity matching</a:t>
            </a:r>
            <a:r>
              <a:rPr lang="en-US" dirty="0"/>
              <a:t> (wasn’t allowed)</a:t>
            </a:r>
            <a:endParaRPr lang="en-GY" dirty="0"/>
          </a:p>
          <a:p>
            <a:pPr>
              <a:buFont typeface="Arial" panose="020B0604020202020204" pitchFamily="34" charset="0"/>
              <a:buChar char="•"/>
            </a:pPr>
            <a:r>
              <a:rPr lang="en-US" dirty="0"/>
              <a:t>   </a:t>
            </a:r>
            <a:r>
              <a:rPr lang="en-GY" dirty="0"/>
              <a:t>Add automated validation checks</a:t>
            </a:r>
          </a:p>
          <a:p>
            <a:pPr>
              <a:buFont typeface="Arial" panose="020B0604020202020204" pitchFamily="34" charset="0"/>
              <a:buChar char="•"/>
            </a:pPr>
            <a:endParaRPr lang="en-GY" dirty="0"/>
          </a:p>
          <a:p>
            <a:endParaRPr dirty="0"/>
          </a:p>
        </p:txBody>
      </p:sp>
    </p:spTree>
    <p:extLst>
      <p:ext uri="{BB962C8B-B14F-4D97-AF65-F5344CB8AC3E}">
        <p14:creationId xmlns:p14="http://schemas.microsoft.com/office/powerpoint/2010/main" val="1869089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Time Breakdown</a:t>
            </a:r>
          </a:p>
        </p:txBody>
      </p:sp>
      <p:sp>
        <p:nvSpPr>
          <p:cNvPr id="3" name="Content Placeholder 2"/>
          <p:cNvSpPr>
            <a:spLocks noGrp="1"/>
          </p:cNvSpPr>
          <p:nvPr>
            <p:ph idx="1"/>
          </p:nvPr>
        </p:nvSpPr>
        <p:spPr/>
        <p:txBody>
          <a:bodyPr/>
          <a:lstStyle/>
          <a:p>
            <a:r>
              <a:rPr dirty="0"/>
              <a:t>- </a:t>
            </a:r>
            <a:endParaRPr lang="en-US" dirty="0"/>
          </a:p>
          <a:p>
            <a:endParaRPr lang="en-US" dirty="0"/>
          </a:p>
          <a:p>
            <a:endParaRPr lang="en-US" dirty="0"/>
          </a:p>
          <a:p>
            <a:endParaRPr lang="en-US" dirty="0"/>
          </a:p>
          <a:p>
            <a:endParaRPr lang="en-US" dirty="0"/>
          </a:p>
          <a:p>
            <a:endParaRPr lang="en-US" dirty="0"/>
          </a:p>
        </p:txBody>
      </p:sp>
      <p:graphicFrame>
        <p:nvGraphicFramePr>
          <p:cNvPr id="4" name="Table 3">
            <a:extLst>
              <a:ext uri="{FF2B5EF4-FFF2-40B4-BE49-F238E27FC236}">
                <a16:creationId xmlns:a16="http://schemas.microsoft.com/office/drawing/2014/main" id="{F32A4996-A310-02C1-CB58-703D31567F4F}"/>
              </a:ext>
            </a:extLst>
          </p:cNvPr>
          <p:cNvGraphicFramePr>
            <a:graphicFrameLocks noGrp="1"/>
          </p:cNvGraphicFramePr>
          <p:nvPr>
            <p:extLst>
              <p:ext uri="{D42A27DB-BD31-4B8C-83A1-F6EECF244321}">
                <p14:modId xmlns:p14="http://schemas.microsoft.com/office/powerpoint/2010/main" val="1721487519"/>
              </p:ext>
            </p:extLst>
          </p:nvPr>
        </p:nvGraphicFramePr>
        <p:xfrm>
          <a:off x="497305" y="2022642"/>
          <a:ext cx="8053137" cy="1483360"/>
        </p:xfrm>
        <a:graphic>
          <a:graphicData uri="http://schemas.openxmlformats.org/drawingml/2006/table">
            <a:tbl>
              <a:tblPr firstRow="1" bandRow="1">
                <a:tableStyleId>{5C22544A-7EE6-4342-B048-85BDC9FD1C3A}</a:tableStyleId>
              </a:tblPr>
              <a:tblGrid>
                <a:gridCol w="6545179">
                  <a:extLst>
                    <a:ext uri="{9D8B030D-6E8A-4147-A177-3AD203B41FA5}">
                      <a16:colId xmlns:a16="http://schemas.microsoft.com/office/drawing/2014/main" val="1783995090"/>
                    </a:ext>
                  </a:extLst>
                </a:gridCol>
                <a:gridCol w="1507958">
                  <a:extLst>
                    <a:ext uri="{9D8B030D-6E8A-4147-A177-3AD203B41FA5}">
                      <a16:colId xmlns:a16="http://schemas.microsoft.com/office/drawing/2014/main" val="2589555156"/>
                    </a:ext>
                  </a:extLst>
                </a:gridCol>
              </a:tblGrid>
              <a:tr h="370840">
                <a:tc>
                  <a:txBody>
                    <a:bodyPr/>
                    <a:lstStyle/>
                    <a:p>
                      <a:pPr algn="ctr"/>
                      <a:r>
                        <a:rPr lang="en-US" dirty="0"/>
                        <a:t>Phase</a:t>
                      </a:r>
                      <a:endParaRPr lang="en-GY" dirty="0"/>
                    </a:p>
                  </a:txBody>
                  <a:tcPr/>
                </a:tc>
                <a:tc>
                  <a:txBody>
                    <a:bodyPr/>
                    <a:lstStyle/>
                    <a:p>
                      <a:pPr algn="ctr"/>
                      <a:r>
                        <a:rPr lang="en-US" dirty="0"/>
                        <a:t>Time (</a:t>
                      </a:r>
                      <a:r>
                        <a:rPr lang="en-US" dirty="0" err="1"/>
                        <a:t>hrs</a:t>
                      </a:r>
                      <a:r>
                        <a:rPr lang="en-US" dirty="0"/>
                        <a:t>)</a:t>
                      </a:r>
                      <a:endParaRPr lang="en-GY" dirty="0"/>
                    </a:p>
                  </a:txBody>
                  <a:tcPr/>
                </a:tc>
                <a:extLst>
                  <a:ext uri="{0D108BD9-81ED-4DB2-BD59-A6C34878D82A}">
                    <a16:rowId xmlns:a16="http://schemas.microsoft.com/office/drawing/2014/main" val="531430204"/>
                  </a:ext>
                </a:extLst>
              </a:tr>
              <a:tr h="370840">
                <a:tc>
                  <a:txBody>
                    <a:bodyPr/>
                    <a:lstStyle/>
                    <a:p>
                      <a:pPr marL="91440" marR="0" lvl="0" indent="-91440" algn="l" defTabSz="914400" rtl="0" eaLnBrk="1" fontAlgn="auto" latinLnBrk="0" hangingPunct="1">
                        <a:lnSpc>
                          <a:spcPct val="90000"/>
                        </a:lnSpc>
                        <a:spcBef>
                          <a:spcPts val="1200"/>
                        </a:spcBef>
                        <a:spcAft>
                          <a:spcPts val="200"/>
                        </a:spcAft>
                        <a:buClr>
                          <a:srgbClr val="E48312"/>
                        </a:buClr>
                        <a:buSzPct val="100000"/>
                        <a:buFont typeface="Calibri" panose="020F0502020204030204" pitchFamily="34" charset="0"/>
                        <a:buChar char=" "/>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Week 1: Setup &amp; diagnostics</a:t>
                      </a:r>
                    </a:p>
                  </a:txBody>
                  <a:tcPr/>
                </a:tc>
                <a:tc>
                  <a:txBody>
                    <a:bodyPr/>
                    <a:lstStyle/>
                    <a:p>
                      <a:pPr algn="ctr"/>
                      <a:r>
                        <a:rPr lang="en-US" dirty="0"/>
                        <a:t> 12</a:t>
                      </a:r>
                      <a:endParaRPr lang="en-GY" dirty="0"/>
                    </a:p>
                  </a:txBody>
                  <a:tcPr/>
                </a:tc>
                <a:extLst>
                  <a:ext uri="{0D108BD9-81ED-4DB2-BD59-A6C34878D82A}">
                    <a16:rowId xmlns:a16="http://schemas.microsoft.com/office/drawing/2014/main" val="3054966659"/>
                  </a:ext>
                </a:extLst>
              </a:tr>
              <a:tr h="370840">
                <a:tc>
                  <a:txBody>
                    <a:bodyPr/>
                    <a:lstStyle/>
                    <a:p>
                      <a:pPr marL="91440" marR="0" lvl="0" indent="-91440" algn="l" defTabSz="914400" rtl="0" eaLnBrk="1" fontAlgn="auto" latinLnBrk="0" hangingPunct="1">
                        <a:lnSpc>
                          <a:spcPct val="90000"/>
                        </a:lnSpc>
                        <a:spcBef>
                          <a:spcPts val="1200"/>
                        </a:spcBef>
                        <a:spcAft>
                          <a:spcPts val="200"/>
                        </a:spcAft>
                        <a:buClr>
                          <a:srgbClr val="E48312"/>
                        </a:buClr>
                        <a:buSzPct val="100000"/>
                        <a:buFont typeface="Calibri" panose="020F0502020204030204" pitchFamily="34" charset="0"/>
                        <a:buChar char=" "/>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 Week 2: Cleaning pipeline</a:t>
                      </a:r>
                    </a:p>
                  </a:txBody>
                  <a:tcPr/>
                </a:tc>
                <a:tc>
                  <a:txBody>
                    <a:bodyPr/>
                    <a:lstStyle/>
                    <a:p>
                      <a:pPr algn="ctr"/>
                      <a:r>
                        <a:rPr lang="en-US" dirty="0"/>
                        <a:t>14</a:t>
                      </a:r>
                      <a:endParaRPr lang="en-GY" dirty="0"/>
                    </a:p>
                  </a:txBody>
                  <a:tcPr/>
                </a:tc>
                <a:extLst>
                  <a:ext uri="{0D108BD9-81ED-4DB2-BD59-A6C34878D82A}">
                    <a16:rowId xmlns:a16="http://schemas.microsoft.com/office/drawing/2014/main" val="648701564"/>
                  </a:ext>
                </a:extLst>
              </a:tr>
              <a:tr h="370840">
                <a:tc>
                  <a:txBody>
                    <a:bodyPr/>
                    <a:lstStyle/>
                    <a:p>
                      <a:pPr marL="91440" marR="0" lvl="0" indent="-91440" algn="l" defTabSz="914400" rtl="0" eaLnBrk="1" fontAlgn="auto" latinLnBrk="0" hangingPunct="1">
                        <a:lnSpc>
                          <a:spcPct val="90000"/>
                        </a:lnSpc>
                        <a:spcBef>
                          <a:spcPts val="1200"/>
                        </a:spcBef>
                        <a:spcAft>
                          <a:spcPts val="200"/>
                        </a:spcAft>
                        <a:buClr>
                          <a:srgbClr val="E48312"/>
                        </a:buClr>
                        <a:buSzPct val="100000"/>
                        <a:buFont typeface="Calibri" panose="020F0502020204030204" pitchFamily="34" charset="0"/>
                        <a:buChar char=" "/>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 Week 3: Imputation, exports, reporting, presentation</a:t>
                      </a:r>
                    </a:p>
                  </a:txBody>
                  <a:tcPr/>
                </a:tc>
                <a:tc>
                  <a:txBody>
                    <a:bodyPr/>
                    <a:lstStyle/>
                    <a:p>
                      <a:pPr algn="ctr"/>
                      <a:r>
                        <a:rPr lang="en-US" dirty="0"/>
                        <a:t>10</a:t>
                      </a:r>
                      <a:endParaRPr lang="en-GY" dirty="0"/>
                    </a:p>
                  </a:txBody>
                  <a:tcPr/>
                </a:tc>
                <a:extLst>
                  <a:ext uri="{0D108BD9-81ED-4DB2-BD59-A6C34878D82A}">
                    <a16:rowId xmlns:a16="http://schemas.microsoft.com/office/drawing/2014/main" val="2048744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 Would Do With More Time</a:t>
            </a:r>
          </a:p>
        </p:txBody>
      </p:sp>
      <p:sp>
        <p:nvSpPr>
          <p:cNvPr id="3" name="Content Placeholder 2"/>
          <p:cNvSpPr>
            <a:spLocks noGrp="1"/>
          </p:cNvSpPr>
          <p:nvPr>
            <p:ph idx="1"/>
          </p:nvPr>
        </p:nvSpPr>
        <p:spPr>
          <a:xfrm>
            <a:off x="822960" y="1845734"/>
            <a:ext cx="7543800" cy="4023360"/>
          </a:xfrm>
        </p:spPr>
        <p:txBody>
          <a:bodyPr>
            <a:normAutofit/>
          </a:bodyPr>
          <a:lstStyle/>
          <a:p>
            <a:pPr>
              <a:buFont typeface="Arial" panose="020B0604020202020204" pitchFamily="34" charset="0"/>
              <a:buChar char="•"/>
            </a:pPr>
            <a:r>
              <a:rPr dirty="0"/>
              <a:t> </a:t>
            </a:r>
            <a:r>
              <a:rPr lang="en-US" dirty="0"/>
              <a:t>   </a:t>
            </a:r>
            <a:r>
              <a:rPr dirty="0"/>
              <a:t>Improve duplicate detection</a:t>
            </a:r>
          </a:p>
          <a:p>
            <a:pPr>
              <a:buFont typeface="Arial" panose="020B0604020202020204" pitchFamily="34" charset="0"/>
              <a:buChar char="•"/>
            </a:pPr>
            <a:r>
              <a:rPr dirty="0"/>
              <a:t> </a:t>
            </a:r>
            <a:r>
              <a:rPr lang="en-US" dirty="0"/>
              <a:t>   Implement additional imputation strategies</a:t>
            </a:r>
            <a:endParaRPr dirty="0"/>
          </a:p>
          <a:p>
            <a:pPr>
              <a:buFont typeface="Arial" panose="020B0604020202020204" pitchFamily="34" charset="0"/>
              <a:buChar char="•"/>
            </a:pPr>
            <a:r>
              <a:rPr lang="en-US" dirty="0"/>
              <a:t>    </a:t>
            </a:r>
            <a:r>
              <a:rPr dirty="0"/>
              <a:t>Add validation rules</a:t>
            </a:r>
          </a:p>
          <a:p>
            <a:pPr>
              <a:buFont typeface="Arial" panose="020B0604020202020204" pitchFamily="34" charset="0"/>
              <a:buChar char="•"/>
            </a:pPr>
            <a:r>
              <a:rPr dirty="0"/>
              <a:t> </a:t>
            </a:r>
            <a:r>
              <a:rPr lang="en-US" dirty="0"/>
              <a:t>   </a:t>
            </a:r>
            <a:r>
              <a:rPr dirty="0"/>
              <a:t>Expand analysis beyond cleaning</a:t>
            </a:r>
            <a:endParaRPr lang="en-US" dirty="0"/>
          </a:p>
          <a:p>
            <a:pPr>
              <a:buFont typeface="Arial" panose="020B0604020202020204" pitchFamily="34" charset="0"/>
              <a:buChar char="•"/>
            </a:pPr>
            <a:r>
              <a:rPr lang="en-US" dirty="0"/>
              <a:t>    Expand validation and outlier flagging</a:t>
            </a:r>
          </a:p>
          <a:p>
            <a:pPr>
              <a:buFont typeface="Arial" panose="020B0604020202020204" pitchFamily="34" charset="0"/>
              <a:buChar char="•"/>
            </a:pPr>
            <a:r>
              <a:rPr lang="en-US" dirty="0"/>
              <a:t>    Enhance logging and monitoring outputs</a:t>
            </a:r>
          </a:p>
          <a:p>
            <a:pPr>
              <a:buFont typeface="Arial" panose="020B0604020202020204" pitchFamily="34" charset="0"/>
              <a:buChar char="•"/>
            </a:pPr>
            <a:r>
              <a:rPr lang="en-US" dirty="0"/>
              <a:t>    Increase automated testing coverage</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288" y="2404580"/>
            <a:ext cx="8229600" cy="1719054"/>
          </a:xfrm>
        </p:spPr>
        <p:txBody>
          <a:bodyPr>
            <a:normAutofit/>
          </a:bodyPr>
          <a:lstStyle/>
          <a:p>
            <a:pPr algn="ctr"/>
            <a:r>
              <a:rPr lang="en-US" sz="6000" b="1" dirty="0"/>
              <a:t>Thank You</a:t>
            </a:r>
            <a:br>
              <a:rPr lang="en-US" sz="6000" dirty="0"/>
            </a:br>
            <a:endParaRPr sz="6000" dirty="0"/>
          </a:p>
        </p:txBody>
      </p:sp>
      <p:sp>
        <p:nvSpPr>
          <p:cNvPr id="3" name="Content Placeholder 2"/>
          <p:cNvSpPr>
            <a:spLocks noGrp="1"/>
          </p:cNvSpPr>
          <p:nvPr>
            <p:ph idx="1"/>
          </p:nvPr>
        </p:nvSpPr>
        <p:spPr>
          <a:xfrm>
            <a:off x="2458256" y="3424989"/>
            <a:ext cx="4459573" cy="694634"/>
          </a:xfrm>
        </p:spPr>
        <p:txBody>
          <a:bodyPr>
            <a:normAutofit/>
          </a:bodyPr>
          <a:lstStyle/>
          <a:p>
            <a:pPr marL="0" indent="0" algn="ctr">
              <a:buNone/>
            </a:pPr>
            <a:r>
              <a:rPr dirty="0"/>
              <a:t>Questions?</a:t>
            </a:r>
          </a:p>
          <a:p>
            <a:pPr marL="0" indent="0" algn="ctr">
              <a:buNone/>
            </a:pPr>
            <a:endParaRPr dirty="0"/>
          </a:p>
        </p:txBody>
      </p:sp>
      <p:sp>
        <p:nvSpPr>
          <p:cNvPr id="4" name="Content Placeholder 2">
            <a:extLst>
              <a:ext uri="{FF2B5EF4-FFF2-40B4-BE49-F238E27FC236}">
                <a16:creationId xmlns:a16="http://schemas.microsoft.com/office/drawing/2014/main" id="{B1EF6775-C445-7186-53C2-2EBA3E1A1D3E}"/>
              </a:ext>
            </a:extLst>
          </p:cNvPr>
          <p:cNvSpPr txBox="1">
            <a:spLocks/>
          </p:cNvSpPr>
          <p:nvPr/>
        </p:nvSpPr>
        <p:spPr>
          <a:xfrm>
            <a:off x="112427" y="5960529"/>
            <a:ext cx="8851691" cy="36837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400"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6052</TotalTime>
  <Words>1083</Words>
  <Application>Microsoft Office PowerPoint</Application>
  <PresentationFormat>On-screen Show (4:3)</PresentationFormat>
  <Paragraphs>191</Paragraphs>
  <Slides>14</Slides>
  <Notes>14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3</vt:i4>
      </vt:variant>
      <vt:variant>
        <vt:lpstr>Slide Titles</vt:lpstr>
      </vt:variant>
      <vt:variant>
        <vt:i4>14</vt:i4>
      </vt:variant>
    </vt:vector>
  </HeadingPairs>
  <TitlesOfParts>
    <vt:vector size="23" baseType="lpstr">
      <vt:lpstr>Aptos</vt:lpstr>
      <vt:lpstr>Arial</vt:lpstr>
      <vt:lpstr>Calibri</vt:lpstr>
      <vt:lpstr>Calibri Light</vt:lpstr>
      <vt:lpstr>Wingdings</vt:lpstr>
      <vt:lpstr>Retrospect</vt:lpstr>
      <vt:lpstr>Package</vt:lpstr>
      <vt:lpstr>Microsoft Excel Worksheet</vt:lpstr>
      <vt:lpstr>Microsoft Word Document</vt:lpstr>
      <vt:lpstr>Healthcare Data Cleaning Pipeline </vt:lpstr>
      <vt:lpstr>The Dataset</vt:lpstr>
      <vt:lpstr>Objective</vt:lpstr>
      <vt:lpstr>Pipeline Architecture</vt:lpstr>
      <vt:lpstr>Top Data Quality Issues</vt:lpstr>
      <vt:lpstr>How You Cleaned It</vt:lpstr>
      <vt:lpstr>Imputation</vt:lpstr>
      <vt:lpstr>Chart That Tells a Story</vt:lpstr>
      <vt:lpstr>Outputs</vt:lpstr>
      <vt:lpstr>What Went Well</vt:lpstr>
      <vt:lpstr>What Was Hard</vt:lpstr>
      <vt:lpstr>Time Breakdown</vt:lpstr>
      <vt:lpstr>What I Would Do With More Time</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Tynisha Niles</dc:creator>
  <cp:keywords/>
  <dc:description>generated using python-pptx</dc:description>
  <cp:lastModifiedBy>Tynisha  Niles</cp:lastModifiedBy>
  <cp:revision>26</cp:revision>
  <dcterms:created xsi:type="dcterms:W3CDTF">2013-01-27T09:14:16Z</dcterms:created>
  <dcterms:modified xsi:type="dcterms:W3CDTF">2026-05-19T16:07:40Z</dcterms:modified>
  <cp:category/>
</cp:coreProperties>
</file>